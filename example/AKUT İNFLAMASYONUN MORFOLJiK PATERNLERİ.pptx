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AKUT </a:t>
            </a:r>
            <a:r>
              <a:rPr lang="tr-TR" altLang="en-US" dirty="0"/>
              <a:t>İNFLAMASYONUN MO</a:t>
            </a:r>
            <a:r>
              <a:rPr lang="en-US" dirty="0"/>
              <a:t>RF</a:t>
            </a:r>
            <a:r>
              <a:rPr lang="tr-TR" altLang="en-US" dirty="0"/>
              <a:t>O</a:t>
            </a:r>
            <a:r>
              <a:rPr lang="en-US" dirty="0" smtClean="0"/>
              <a:t>L</a:t>
            </a:r>
            <a:r>
              <a:rPr lang="tr-TR" dirty="0" smtClean="0"/>
              <a:t>O</a:t>
            </a:r>
            <a:r>
              <a:rPr lang="en-US" dirty="0" err="1" smtClean="0"/>
              <a:t>JiK</a:t>
            </a:r>
            <a:r>
              <a:rPr lang="en-US" dirty="0" smtClean="0"/>
              <a:t> </a:t>
            </a:r>
            <a:r>
              <a:rPr lang="en-US" dirty="0"/>
              <a:t>PATERNLER</a:t>
            </a:r>
            <a:r>
              <a:rPr lang="tr-TR" altLang="en-US" dirty="0"/>
              <a:t>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altLang="en-US"/>
              <a:t>Prof. Dr Bülent Mızrak </a:t>
            </a:r>
          </a:p>
          <a:p>
            <a:r>
              <a:rPr lang="tr-TR" altLang="en-US"/>
              <a:t>Uşak Üniversitesi Tı Fakültesi Tıbbi Patoloji 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295275"/>
            <a:ext cx="10515600" cy="7620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5275"/>
            <a:ext cx="10515600" cy="588200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dirty="0" err="1"/>
              <a:t>Akut</a:t>
            </a:r>
            <a:r>
              <a:rPr lang="en-US" dirty="0"/>
              <a:t>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reaksiyonların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 smtClean="0"/>
              <a:t>,</a:t>
            </a:r>
            <a:r>
              <a:rPr lang="tr-TR" dirty="0" smtClean="0"/>
              <a:t> </a:t>
            </a:r>
            <a:r>
              <a:rPr lang="en-US" dirty="0" err="1" smtClean="0"/>
              <a:t>küçük</a:t>
            </a:r>
            <a:r>
              <a:rPr lang="en-US" dirty="0" smtClean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damarlarrnrn</a:t>
            </a:r>
            <a:r>
              <a:rPr lang="en-US" dirty="0"/>
              <a:t> </a:t>
            </a:r>
            <a:r>
              <a:rPr lang="en-US" dirty="0" err="1"/>
              <a:t>dilatasyonu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ekstravasküler</a:t>
            </a:r>
            <a:r>
              <a:rPr lang="en-US" dirty="0"/>
              <a:t> </a:t>
            </a:r>
            <a:r>
              <a:rPr lang="en-US" dirty="0" err="1"/>
              <a:t>dokuda</a:t>
            </a:r>
            <a:r>
              <a:rPr lang="en-US" dirty="0"/>
              <a:t> </a:t>
            </a:r>
            <a:r>
              <a:rPr lang="en-US" dirty="0" err="1"/>
              <a:t>lökosit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smtClean="0"/>
              <a:t>s</a:t>
            </a:r>
            <a:r>
              <a:rPr lang="tr-TR" dirty="0" smtClean="0"/>
              <a:t>ı</a:t>
            </a:r>
            <a:r>
              <a:rPr lang="en-US" dirty="0" err="1" smtClean="0"/>
              <a:t>vr</a:t>
            </a:r>
            <a:r>
              <a:rPr lang="en-US" dirty="0" smtClean="0"/>
              <a:t> </a:t>
            </a:r>
            <a:r>
              <a:rPr lang="en-US" dirty="0" err="1"/>
              <a:t>toplanmasıdır</a:t>
            </a:r>
            <a:r>
              <a:rPr lang="en-US" dirty="0"/>
              <a:t>.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işaret</a:t>
            </a:r>
            <a:r>
              <a:rPr lang="tr-TR" alt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semptomlarrndan</a:t>
            </a:r>
            <a:r>
              <a:rPr lang="en-US" dirty="0"/>
              <a:t> </a:t>
            </a:r>
            <a:r>
              <a:rPr lang="en-US" dirty="0" err="1"/>
              <a:t>vasküler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sellüler</a:t>
            </a:r>
            <a:r>
              <a:rPr lang="en-US" dirty="0"/>
              <a:t> </a:t>
            </a:r>
            <a:r>
              <a:rPr lang="en-US" dirty="0" err="1"/>
              <a:t>reaksiyonlar</a:t>
            </a:r>
            <a:r>
              <a:rPr lang="en-US" dirty="0"/>
              <a:t> </a:t>
            </a:r>
            <a:r>
              <a:rPr lang="en-US" dirty="0" err="1"/>
              <a:t>sorumludur</a:t>
            </a:r>
            <a:r>
              <a:rPr lang="en-US" dirty="0"/>
              <a:t>. </a:t>
            </a:r>
            <a:r>
              <a:rPr lang="en-US" dirty="0" err="1"/>
              <a:t>Hasarlı</a:t>
            </a:r>
            <a:r>
              <a:rPr lang="en-US" dirty="0"/>
              <a:t> </a:t>
            </a:r>
            <a:r>
              <a:rPr lang="en-US" dirty="0" err="1"/>
              <a:t>alana</a:t>
            </a:r>
            <a:r>
              <a:rPr lang="en-US" dirty="0"/>
              <a:t> </a:t>
            </a:r>
            <a:r>
              <a:rPr lang="en-US" dirty="0" err="1"/>
              <a:t>artmış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smtClean="0"/>
              <a:t>a</a:t>
            </a:r>
            <a:r>
              <a:rPr lang="tr-TR" dirty="0" err="1" smtClean="0"/>
              <a:t>kı</a:t>
            </a:r>
            <a:r>
              <a:rPr lang="en-US" dirty="0" err="1" smtClean="0"/>
              <a:t>mı</a:t>
            </a:r>
            <a:r>
              <a:rPr lang="en-US" dirty="0" smtClean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vasküier</a:t>
            </a:r>
            <a:r>
              <a:rPr lang="en-US" dirty="0"/>
              <a:t> </a:t>
            </a:r>
            <a:r>
              <a:rPr lang="en-US" dirty="0" err="1"/>
              <a:t>geçirgenlik</a:t>
            </a:r>
            <a:r>
              <a:rPr lang="en-US" dirty="0"/>
              <a:t> </a:t>
            </a:r>
            <a:r>
              <a:rPr lang="en-US" dirty="0" err="1"/>
              <a:t>artışı</a:t>
            </a:r>
            <a:r>
              <a:rPr lang="en-US" dirty="0"/>
              <a:t>, </a:t>
            </a:r>
            <a:r>
              <a:rPr lang="en-US" dirty="0" err="1"/>
              <a:t>plazma</a:t>
            </a:r>
            <a:r>
              <a:rPr lang="en-US" dirty="0"/>
              <a:t> </a:t>
            </a:r>
            <a:r>
              <a:rPr lang="en-US" dirty="0" err="1"/>
              <a:t>proteinlerinden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ekstravasküler</a:t>
            </a:r>
            <a:r>
              <a:rPr lang="tr-TR" altLang="en-US" dirty="0"/>
              <a:t> </a:t>
            </a:r>
            <a:r>
              <a:rPr lang="en-US" dirty="0" err="1"/>
              <a:t>sıvı</a:t>
            </a:r>
            <a:r>
              <a:rPr lang="en-US" dirty="0"/>
              <a:t> </a:t>
            </a:r>
            <a:r>
              <a:rPr lang="en-US" dirty="0" err="1"/>
              <a:t>birikimine</a:t>
            </a:r>
            <a:r>
              <a:rPr lang="en-US" dirty="0"/>
              <a:t> (</a:t>
            </a:r>
            <a:r>
              <a:rPr lang="en-US" dirty="0" err="1"/>
              <a:t>ödem</a:t>
            </a:r>
            <a:r>
              <a:rPr lang="en-US" dirty="0"/>
              <a:t>)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akut</a:t>
            </a:r>
            <a:r>
              <a:rPr lang="en-US" dirty="0"/>
              <a:t> </a:t>
            </a:r>
            <a:r>
              <a:rPr lang="en-US" dirty="0" err="1"/>
              <a:t>inflamasyona</a:t>
            </a:r>
            <a:r>
              <a:rPr lang="en-US" dirty="0"/>
              <a:t> </a:t>
            </a:r>
            <a:r>
              <a:rPr lang="en-US" dirty="0" err="1"/>
              <a:t>eşlik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klzarık</a:t>
            </a:r>
            <a:r>
              <a:rPr lang="en-US" dirty="0"/>
              <a:t>]</a:t>
            </a:r>
            <a:r>
              <a:rPr lang="en-US" dirty="0" err="1"/>
              <a:t>ık</a:t>
            </a:r>
            <a:r>
              <a:rPr lang="en-US" dirty="0"/>
              <a:t> (</a:t>
            </a:r>
            <a:r>
              <a:rPr lang="en-US" dirty="0" err="1"/>
              <a:t>rubor</a:t>
            </a:r>
            <a:r>
              <a:rPr lang="en-US" dirty="0"/>
              <a:t>), </a:t>
            </a:r>
            <a:r>
              <a:rPr lang="en-US" dirty="0" err="1"/>
              <a:t>ısı</a:t>
            </a:r>
            <a:r>
              <a:rPr lang="en-US" dirty="0"/>
              <a:t> </a:t>
            </a:r>
            <a:r>
              <a:rPr lang="en-US" dirty="0" err="1"/>
              <a:t>artlşl</a:t>
            </a:r>
            <a:r>
              <a:rPr lang="en-US" dirty="0"/>
              <a:t> (</a:t>
            </a:r>
            <a:r>
              <a:rPr lang="en-US" dirty="0" err="1"/>
              <a:t>calor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şişme</a:t>
            </a:r>
            <a:r>
              <a:rPr lang="en-US" dirty="0"/>
              <a:t> (</a:t>
            </a:r>
            <a:r>
              <a:rPr lang="en-US" dirty="0" err="1"/>
              <a:t>tu</a:t>
            </a:r>
            <a:r>
              <a:rPr lang="tr-TR" altLang="en-US" dirty="0"/>
              <a:t>m</a:t>
            </a:r>
            <a:r>
              <a:rPr lang="en-US" dirty="0"/>
              <a:t>or)</a:t>
            </a:r>
            <a:r>
              <a:rPr lang="tr-TR" alt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bulguların</a:t>
            </a:r>
            <a:r>
              <a:rPr lang="en-US" dirty="0"/>
              <a:t> </a:t>
            </a:r>
            <a:r>
              <a:rPr lang="en-US" dirty="0" err="1"/>
              <a:t>sebebidir</a:t>
            </a:r>
            <a:r>
              <a:rPr lang="en-US" dirty="0"/>
              <a:t>. </a:t>
            </a:r>
            <a:r>
              <a:rPr lang="en-US" dirty="0" err="1"/>
              <a:t>Toplanan</a:t>
            </a:r>
            <a:r>
              <a:rPr lang="en-US" dirty="0"/>
              <a:t> </a:t>
            </a:r>
            <a:r>
              <a:rPr lang="en-US" dirty="0" err="1"/>
              <a:t>lökositlerden</a:t>
            </a:r>
            <a:r>
              <a:rPr lang="en-US" dirty="0"/>
              <a:t>, </a:t>
            </a:r>
            <a:r>
              <a:rPr lang="en-US" dirty="0" err="1" smtClean="0"/>
              <a:t>zararlı</a:t>
            </a:r>
            <a:r>
              <a:rPr lang="en-US" dirty="0" smtClean="0"/>
              <a:t> </a:t>
            </a:r>
            <a:r>
              <a:rPr lang="en-US" dirty="0" err="1"/>
              <a:t>ajan</a:t>
            </a:r>
            <a:r>
              <a:rPr lang="tr-TR" alt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endojen</a:t>
            </a:r>
            <a:r>
              <a:rPr lang="en-US" dirty="0"/>
              <a:t> </a:t>
            </a:r>
            <a:r>
              <a:rPr lang="en-US" dirty="0" err="1"/>
              <a:t>medyatörlerle</a:t>
            </a:r>
            <a:r>
              <a:rPr lang="en-US" dirty="0"/>
              <a:t> </a:t>
            </a:r>
            <a:r>
              <a:rPr lang="en-US" dirty="0" err="1"/>
              <a:t>aktivasyon</a:t>
            </a:r>
            <a:r>
              <a:rPr lang="en-US" dirty="0"/>
              <a:t> </a:t>
            </a:r>
            <a:r>
              <a:rPr lang="en-US" dirty="0" err="1"/>
              <a:t>sonrasl</a:t>
            </a:r>
            <a:r>
              <a:rPr lang="en-US" dirty="0"/>
              <a:t>, </a:t>
            </a:r>
            <a:r>
              <a:rPr lang="en-US" dirty="0" err="1"/>
              <a:t>toksik</a:t>
            </a:r>
            <a:r>
              <a:rPr lang="en-US" dirty="0"/>
              <a:t> </a:t>
            </a:r>
            <a:r>
              <a:rPr lang="en-US" dirty="0" err="1"/>
              <a:t>metabolitler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proteazlarrn</a:t>
            </a:r>
            <a:r>
              <a:rPr lang="en-US" dirty="0"/>
              <a:t> </a:t>
            </a:r>
            <a:r>
              <a:rPr lang="en-US" dirty="0" err="1"/>
              <a:t>ekstrasellüler</a:t>
            </a:r>
            <a:r>
              <a:rPr lang="en-US" dirty="0"/>
              <a:t> </a:t>
            </a:r>
            <a:r>
              <a:rPr lang="en-US" dirty="0" err="1"/>
              <a:t>salınımı</a:t>
            </a:r>
            <a:r>
              <a:rPr lang="en-US" dirty="0"/>
              <a:t> </a:t>
            </a:r>
            <a:r>
              <a:rPr lang="en-US" dirty="0" err="1"/>
              <a:t>doku</a:t>
            </a:r>
            <a:r>
              <a:rPr lang="en-US" dirty="0"/>
              <a:t> </a:t>
            </a:r>
            <a:r>
              <a:rPr lang="en-US" dirty="0" err="1"/>
              <a:t>hasarı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altLang="en-US" dirty="0"/>
              <a:t> </a:t>
            </a:r>
            <a:r>
              <a:rPr lang="en-US" dirty="0" err="1"/>
              <a:t>fonksiyon</a:t>
            </a:r>
            <a:r>
              <a:rPr lang="en-US" dirty="0"/>
              <a:t> </a:t>
            </a:r>
            <a:r>
              <a:rPr lang="en-US" dirty="0" err="1"/>
              <a:t>kaybına</a:t>
            </a:r>
            <a:r>
              <a:rPr lang="en-US" dirty="0"/>
              <a:t> (</a:t>
            </a:r>
            <a:r>
              <a:rPr lang="en-US" dirty="0" err="1"/>
              <a:t>functio</a:t>
            </a:r>
            <a:r>
              <a:rPr lang="en-US" dirty="0"/>
              <a:t> </a:t>
            </a:r>
            <a:r>
              <a:rPr lang="en-US" dirty="0" err="1"/>
              <a:t>laesa</a:t>
            </a:r>
            <a:r>
              <a:rPr lang="en-US" dirty="0"/>
              <a:t>)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r>
              <a:rPr lang="en-US" dirty="0" err="1"/>
              <a:t>Hasar</a:t>
            </a:r>
            <a:r>
              <a:rPr lang="en-US" dirty="0"/>
              <a:t> </a:t>
            </a:r>
            <a:r>
              <a:rPr lang="en-US" dirty="0" err="1"/>
              <a:t>slraslnda</a:t>
            </a:r>
            <a:r>
              <a:rPr lang="en-US" dirty="0"/>
              <a:t>, </a:t>
            </a:r>
            <a:r>
              <a:rPr lang="en-US" dirty="0" err="1"/>
              <a:t>kısmen</a:t>
            </a:r>
            <a:r>
              <a:rPr lang="en-US" dirty="0"/>
              <a:t> de </a:t>
            </a:r>
            <a:r>
              <a:rPr lang="en-US" dirty="0" err="1"/>
              <a:t>prostaglandinler</a:t>
            </a:r>
            <a:r>
              <a:rPr lang="en-US" dirty="0"/>
              <a:t>, </a:t>
            </a:r>
            <a:r>
              <a:rPr lang="en-US" dirty="0" err="1"/>
              <a:t>nöropeptidler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sitokinlerin</a:t>
            </a:r>
            <a:r>
              <a:rPr lang="tr-TR" altLang="en-US" dirty="0"/>
              <a:t> </a:t>
            </a:r>
            <a:r>
              <a:rPr lang="en-US" dirty="0" err="1"/>
              <a:t>salrnımr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görülen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semptomlardan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de</a:t>
            </a:r>
            <a:r>
              <a:rPr lang="tr-TR" altLang="en-US" dirty="0"/>
              <a:t> </a:t>
            </a:r>
            <a:r>
              <a:rPr lang="en-US" dirty="0" err="1"/>
              <a:t>ağrıdır</a:t>
            </a:r>
            <a:r>
              <a:rPr lang="en-US" dirty="0"/>
              <a:t> (dolor).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akut</a:t>
            </a:r>
            <a:r>
              <a:rPr lang="en-US" dirty="0"/>
              <a:t>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reaksiyonların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 </a:t>
            </a:r>
            <a:r>
              <a:rPr lang="en-US" dirty="0" err="1"/>
              <a:t>reaksiyonun</a:t>
            </a:r>
            <a:r>
              <a:rPr lang="en-US" dirty="0"/>
              <a:t> </a:t>
            </a:r>
            <a:r>
              <a:rPr lang="en-US" dirty="0" err="1"/>
              <a:t>şiddetine</a:t>
            </a:r>
            <a:r>
              <a:rPr lang="en-US" dirty="0"/>
              <a:t>,</a:t>
            </a:r>
            <a:r>
              <a:rPr lang="tr-TR" altLang="en-US" dirty="0"/>
              <a:t> </a:t>
            </a:r>
            <a:r>
              <a:rPr lang="en-US" dirty="0" err="1"/>
              <a:t>spesifik</a:t>
            </a:r>
            <a:r>
              <a:rPr lang="en-US" dirty="0"/>
              <a:t> </a:t>
            </a:r>
            <a:r>
              <a:rPr lang="en-US" dirty="0" err="1"/>
              <a:t>nedene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belli </a:t>
            </a:r>
            <a:r>
              <a:rPr lang="en-US" dirty="0" err="1"/>
              <a:t>dokulara</a:t>
            </a:r>
            <a:r>
              <a:rPr lang="en-US" dirty="0"/>
              <a:t> </a:t>
            </a:r>
            <a:r>
              <a:rPr lang="en-US" dirty="0" err="1"/>
              <a:t>özgijı</a:t>
            </a:r>
            <a:r>
              <a:rPr lang="en-US" dirty="0"/>
              <a:t> </a:t>
            </a:r>
            <a:r>
              <a:rPr lang="en-US" dirty="0" err="1"/>
              <a:t>özeiı</a:t>
            </a:r>
            <a:r>
              <a:rPr lang="en-US" dirty="0"/>
              <a:t> </a:t>
            </a:r>
            <a:r>
              <a:rPr lang="en-US" dirty="0" err="1"/>
              <a:t>morfolojik</a:t>
            </a:r>
            <a:r>
              <a:rPr lang="en-US" dirty="0"/>
              <a:t> </a:t>
            </a:r>
            <a:r>
              <a:rPr lang="en-US" dirty="0" err="1"/>
              <a:t>paternler</a:t>
            </a:r>
            <a:r>
              <a:rPr lang="en-US" dirty="0"/>
              <a:t> </a:t>
            </a:r>
            <a:r>
              <a:rPr lang="en-US" dirty="0" err="1"/>
              <a:t>sıklıkla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eklenir</a:t>
            </a:r>
            <a:r>
              <a:rPr lang="en-US" dirty="0"/>
              <a:t>. Bu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makroskopik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mikroskobik</a:t>
            </a:r>
            <a:r>
              <a:rPr lang="en-US" dirty="0"/>
              <a:t> </a:t>
            </a:r>
            <a:r>
              <a:rPr lang="en-US" dirty="0" err="1"/>
              <a:t>paternlerin</a:t>
            </a:r>
            <a:r>
              <a:rPr lang="en-US" dirty="0"/>
              <a:t> </a:t>
            </a:r>
            <a:r>
              <a:rPr lang="en-US" dirty="0" err="1"/>
              <a:t>tanınmasr</a:t>
            </a:r>
            <a:r>
              <a:rPr lang="en-US" dirty="0"/>
              <a:t>; </a:t>
            </a:r>
            <a:r>
              <a:rPr lang="en-US" dirty="0" err="1"/>
              <a:t>altta</a:t>
            </a:r>
            <a:r>
              <a:rPr lang="en-US" dirty="0"/>
              <a:t> </a:t>
            </a:r>
            <a:r>
              <a:rPr lang="en-US" dirty="0" err="1"/>
              <a:t>yatan</a:t>
            </a:r>
            <a:r>
              <a:rPr lang="en-US" dirty="0"/>
              <a:t> </a:t>
            </a:r>
            <a:r>
              <a:rPr lang="en-US" dirty="0" err="1"/>
              <a:t>nedene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tr-TR" alt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uçları</a:t>
            </a:r>
            <a:r>
              <a:rPr lang="en-US" dirty="0"/>
              <a:t> </a:t>
            </a:r>
            <a:r>
              <a:rPr lang="en-US" dirty="0" err="1"/>
              <a:t>vermesi</a:t>
            </a:r>
            <a:r>
              <a:rPr lang="en-US" dirty="0"/>
              <a:t> </a:t>
            </a:r>
            <a:r>
              <a:rPr lang="en-US" dirty="0" err="1" smtClean="0"/>
              <a:t>ba</a:t>
            </a:r>
            <a:r>
              <a:rPr lang="tr-TR" dirty="0" err="1" smtClean="0"/>
              <a:t>kı</a:t>
            </a:r>
            <a:r>
              <a:rPr lang="en-US" dirty="0" err="1" smtClean="0"/>
              <a:t>mından</a:t>
            </a:r>
            <a:r>
              <a:rPr lang="en-US" dirty="0" smtClean="0"/>
              <a:t> </a:t>
            </a:r>
            <a:r>
              <a:rPr lang="en-US" dirty="0" err="1"/>
              <a:t>önemlidir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215265"/>
            <a:ext cx="10515600" cy="14986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0555"/>
            <a:ext cx="10515600" cy="554672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u="sng" dirty="0" err="1"/>
              <a:t>Seröz</a:t>
            </a:r>
            <a:r>
              <a:rPr lang="en-US" u="sng" dirty="0"/>
              <a:t> </a:t>
            </a:r>
            <a:r>
              <a:rPr lang="en-US" u="sng" dirty="0" err="1"/>
              <a:t>inflamasyon</a:t>
            </a:r>
            <a:endParaRPr lang="en-US" u="sng" dirty="0"/>
          </a:p>
          <a:p>
            <a:pPr marL="0" indent="0">
              <a:buNone/>
            </a:pPr>
            <a:r>
              <a:rPr lang="en-US" dirty="0" err="1"/>
              <a:t>Seröz</a:t>
            </a:r>
            <a:r>
              <a:rPr lang="en-US" dirty="0"/>
              <a:t> </a:t>
            </a:r>
            <a:r>
              <a:rPr lang="en-US" dirty="0" err="1"/>
              <a:t>inflamasyon</a:t>
            </a:r>
            <a:r>
              <a:rPr lang="en-US" dirty="0"/>
              <a:t>, </a:t>
            </a:r>
            <a:r>
              <a:rPr lang="en-US" dirty="0" err="1"/>
              <a:t>yüzey</a:t>
            </a:r>
            <a:r>
              <a:rPr lang="en-US" dirty="0"/>
              <a:t> </a:t>
            </a:r>
            <a:r>
              <a:rPr lang="en-US" dirty="0" err="1"/>
              <a:t>epitelinin</a:t>
            </a:r>
            <a:r>
              <a:rPr lang="en-US" dirty="0"/>
              <a:t> </a:t>
            </a:r>
            <a:r>
              <a:rPr lang="en-US" dirty="0" err="1"/>
              <a:t>yaralanmasr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tr-TR" alt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boşluklara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periton</a:t>
            </a:r>
            <a:r>
              <a:rPr lang="en-US" dirty="0"/>
              <a:t>, </a:t>
            </a:r>
            <a:r>
              <a:rPr lang="en-US" dirty="0" err="1"/>
              <a:t>plevra</a:t>
            </a:r>
            <a:r>
              <a:rPr lang="en-US" dirty="0"/>
              <a:t>, </a:t>
            </a:r>
            <a:r>
              <a:rPr lang="en-US" dirty="0" err="1"/>
              <a:t>perikard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 smtClean="0"/>
              <a:t>döşeli</a:t>
            </a:r>
            <a:r>
              <a:rPr lang="en-US" dirty="0" smtClean="0"/>
              <a:t> </a:t>
            </a:r>
            <a:r>
              <a:rPr lang="en-US" dirty="0" err="1"/>
              <a:t>vücut</a:t>
            </a:r>
            <a:r>
              <a:rPr lang="en-US" dirty="0"/>
              <a:t> </a:t>
            </a:r>
            <a:r>
              <a:rPr lang="en-US" dirty="0" err="1"/>
              <a:t>boşluk</a:t>
            </a:r>
            <a:r>
              <a:rPr lang="en-US" dirty="0"/>
              <a:t>]</a:t>
            </a:r>
            <a:r>
              <a:rPr lang="en-US" dirty="0" err="1"/>
              <a:t>arına</a:t>
            </a:r>
            <a:r>
              <a:rPr lang="en-US" dirty="0"/>
              <a:t>, </a:t>
            </a:r>
            <a:r>
              <a:rPr lang="en-US" dirty="0" err="1"/>
              <a:t>hücreden</a:t>
            </a:r>
            <a:r>
              <a:rPr lang="en-US" dirty="0"/>
              <a:t> fakir </a:t>
            </a:r>
            <a:r>
              <a:rPr lang="en-US" dirty="0" err="1" smtClean="0"/>
              <a:t>srv</a:t>
            </a:r>
            <a:r>
              <a:rPr lang="tr-TR" dirty="0" smtClean="0"/>
              <a:t>ı</a:t>
            </a:r>
            <a:r>
              <a:rPr lang="en-US" dirty="0" smtClean="0"/>
              <a:t> </a:t>
            </a:r>
            <a:r>
              <a:rPr lang="en-US" dirty="0" err="1"/>
              <a:t>eksudasyonu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tr-TR" altLang="en-US" dirty="0"/>
              <a:t> karakterlidir. Tipik olarak </a:t>
            </a:r>
            <a:r>
              <a:rPr lang="tr-TR" altLang="en-US" dirty="0" err="1"/>
              <a:t>seröz</a:t>
            </a:r>
            <a:r>
              <a:rPr lang="tr-TR" altLang="en-US" dirty="0"/>
              <a:t> </a:t>
            </a:r>
            <a:r>
              <a:rPr lang="tr-TR" altLang="en-US" dirty="0" err="1"/>
              <a:t>inflamasyonda</a:t>
            </a:r>
            <a:r>
              <a:rPr lang="tr-TR" altLang="en-US" dirty="0"/>
              <a:t> </a:t>
            </a:r>
            <a:r>
              <a:rPr lang="tr-TR" altLang="en-US" dirty="0" err="1"/>
              <a:t>srvı</a:t>
            </a:r>
            <a:r>
              <a:rPr lang="tr-TR" altLang="en-US" dirty="0"/>
              <a:t> </a:t>
            </a:r>
            <a:r>
              <a:rPr lang="tr-TR" altLang="en-US" dirty="0" err="1"/>
              <a:t>destrüktif</a:t>
            </a:r>
            <a:r>
              <a:rPr lang="tr-TR" altLang="en-US" dirty="0"/>
              <a:t> organizmalar ile </a:t>
            </a:r>
            <a:r>
              <a:rPr lang="tr-TR" altLang="en-US" dirty="0" err="1"/>
              <a:t>enfekte</a:t>
            </a:r>
            <a:r>
              <a:rPr lang="tr-TR" altLang="en-US" dirty="0"/>
              <a:t> değildir ve büyük </a:t>
            </a:r>
            <a:r>
              <a:rPr lang="tr-TR" altLang="en-US" dirty="0" err="1" smtClean="0"/>
              <a:t>sayıIarda</a:t>
            </a:r>
            <a:r>
              <a:rPr lang="tr-TR" altLang="en-US" dirty="0" smtClean="0"/>
              <a:t> </a:t>
            </a:r>
            <a:r>
              <a:rPr lang="tr-TR" altLang="en-US" dirty="0"/>
              <a:t>lökosit (daha sonra anlatılacak </a:t>
            </a:r>
            <a:r>
              <a:rPr lang="tr-TR" altLang="en-US" dirty="0" err="1"/>
              <a:t>pürülan</a:t>
            </a:r>
            <a:r>
              <a:rPr lang="tr-TR" altLang="en-US" dirty="0"/>
              <a:t> </a:t>
            </a:r>
            <a:r>
              <a:rPr lang="tr-TR" altLang="en-US" dirty="0" err="1"/>
              <a:t>inflamasyonda</a:t>
            </a:r>
            <a:r>
              <a:rPr lang="tr-TR" altLang="en-US" dirty="0"/>
              <a:t> olduğu gibi) içermez. Vücut </a:t>
            </a:r>
            <a:r>
              <a:rPr lang="tr-TR" altLang="en-US" dirty="0" err="1"/>
              <a:t>kavitelerinde</a:t>
            </a:r>
            <a:r>
              <a:rPr lang="tr-TR" altLang="en-US" dirty="0"/>
              <a:t> biriken </a:t>
            </a:r>
            <a:r>
              <a:rPr lang="tr-TR" altLang="en-US" dirty="0" smtClean="0"/>
              <a:t>sıvı, </a:t>
            </a:r>
            <a:r>
              <a:rPr lang="tr-TR" altLang="en-US" dirty="0"/>
              <a:t>plazma kaynaklı olabilir (</a:t>
            </a:r>
            <a:r>
              <a:rPr lang="tr-TR" altLang="en-US" dirty="0" err="1"/>
              <a:t>vasküler</a:t>
            </a:r>
            <a:r>
              <a:rPr lang="tr-TR" altLang="en-US" dirty="0"/>
              <a:t> geçirgenlik artışı sonucu) veya </a:t>
            </a:r>
            <a:r>
              <a:rPr lang="tr-TR" altLang="en-US" dirty="0" err="1"/>
              <a:t>mezotelyal</a:t>
            </a:r>
            <a:r>
              <a:rPr lang="tr-TR" altLang="en-US" dirty="0"/>
              <a:t> hücrelerden salgılanıyor (lokal </a:t>
            </a:r>
            <a:r>
              <a:rPr lang="tr-TR" altLang="en-US" dirty="0" err="1"/>
              <a:t>irritasyon</a:t>
            </a:r>
            <a:r>
              <a:rPr lang="tr-TR" altLang="en-US" dirty="0"/>
              <a:t> sonucu) olabilir; bu </a:t>
            </a:r>
            <a:r>
              <a:rPr lang="tr-TR" altLang="en-US" dirty="0" err="1"/>
              <a:t>kavitelerde</a:t>
            </a:r>
            <a:r>
              <a:rPr lang="tr-TR" altLang="en-US" dirty="0"/>
              <a:t> sıvı birikimi </a:t>
            </a:r>
            <a:r>
              <a:rPr lang="tr-TR" altLang="en-US" dirty="0" err="1"/>
              <a:t>efüzyon</a:t>
            </a:r>
            <a:r>
              <a:rPr lang="tr-TR" altLang="en-US" dirty="0"/>
              <a:t> olarak adlandırılır.</a:t>
            </a:r>
          </a:p>
          <a:p>
            <a:pPr marL="0" indent="0">
              <a:buNone/>
            </a:pPr>
            <a:r>
              <a:rPr lang="tr-TR" altLang="en-US" dirty="0"/>
              <a:t>(</a:t>
            </a:r>
            <a:r>
              <a:rPr lang="tr-TR" altLang="en-US" dirty="0" err="1"/>
              <a:t>Transudadan</a:t>
            </a:r>
            <a:r>
              <a:rPr lang="tr-TR" altLang="en-US" dirty="0"/>
              <a:t> oluşan </a:t>
            </a:r>
            <a:r>
              <a:rPr lang="tr-TR" altLang="en-US" dirty="0" err="1"/>
              <a:t>efüzyonlar</a:t>
            </a:r>
            <a:r>
              <a:rPr lang="tr-TR" altLang="en-US" dirty="0"/>
              <a:t>; kalp yetmezliğinde azalmış </a:t>
            </a:r>
            <a:r>
              <a:rPr lang="tr-TR" altLang="en-US" dirty="0" err="1"/>
              <a:t>kardiak</a:t>
            </a:r>
            <a:r>
              <a:rPr lang="tr-TR" altLang="en-US" dirty="0"/>
              <a:t> çıkış ya </a:t>
            </a:r>
            <a:r>
              <a:rPr lang="tr-TR" altLang="en-US" dirty="0" smtClean="0"/>
              <a:t>da bazı </a:t>
            </a:r>
            <a:r>
              <a:rPr lang="tr-TR" altLang="en-US" dirty="0"/>
              <a:t>böbrek ve karaciğer hastalıklarında </a:t>
            </a:r>
            <a:r>
              <a:rPr lang="tr-TR" altLang="en-US" dirty="0" smtClean="0"/>
              <a:t>azalmış plazma </a:t>
            </a:r>
            <a:r>
              <a:rPr lang="tr-TR" altLang="en-US" dirty="0"/>
              <a:t>protein seviyeleri gibi </a:t>
            </a:r>
            <a:r>
              <a:rPr lang="tr-TR" altLang="en-US" dirty="0" err="1"/>
              <a:t>noninflamatuar</a:t>
            </a:r>
            <a:r>
              <a:rPr lang="tr-TR" altLang="en-US" dirty="0"/>
              <a:t> durumlarda görülebilir). Yanık veya </a:t>
            </a:r>
            <a:r>
              <a:rPr lang="tr-TR" altLang="en-US" dirty="0" err="1"/>
              <a:t>viral</a:t>
            </a:r>
            <a:r>
              <a:rPr lang="tr-TR" altLang="en-US" dirty="0"/>
              <a:t> enfeksiyonlar sonucu deride oluşan kabarcık, cildin hasarlanmış </a:t>
            </a:r>
            <a:r>
              <a:rPr lang="tr-TR" altLang="en-US" dirty="0" err="1"/>
              <a:t>epidermis</a:t>
            </a:r>
            <a:r>
              <a:rPr lang="tr-TR" altLang="en-US" dirty="0"/>
              <a:t> tabakası içinde veya hemen altında </a:t>
            </a:r>
            <a:r>
              <a:rPr lang="tr-TR" altLang="en-US" dirty="0" err="1"/>
              <a:t>seröz</a:t>
            </a:r>
            <a:r>
              <a:rPr lang="tr-TR" altLang="en-US" dirty="0"/>
              <a:t> sıvı birikimini temsil eder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Seröz inflamasyon. Seröz efüzyonun fokal birikimi ile, epidermisin dermisten ayrılma gösterdiği deri kabarclğının, enine kesitinin küçük büyütmedeki görüntüsü.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655" y="1826260"/>
            <a:ext cx="7311390" cy="40582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64770"/>
            <a:ext cx="10515600" cy="30035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4490"/>
            <a:ext cx="10515600" cy="5812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Fibrinli</a:t>
            </a:r>
            <a:r>
              <a:rPr lang="en-US" u="sng" dirty="0"/>
              <a:t> </a:t>
            </a:r>
            <a:r>
              <a:rPr lang="en-US" u="sng" dirty="0" err="1"/>
              <a:t>inflamasyon</a:t>
            </a:r>
            <a:endParaRPr lang="en-US" u="sng" dirty="0"/>
          </a:p>
          <a:p>
            <a:pPr marL="0" indent="0">
              <a:buNone/>
            </a:pPr>
            <a:r>
              <a:rPr lang="en-US" dirty="0" err="1"/>
              <a:t>Fibrinli</a:t>
            </a:r>
            <a:r>
              <a:rPr lang="en-US" dirty="0"/>
              <a:t> </a:t>
            </a:r>
            <a:r>
              <a:rPr lang="en-US" dirty="0" err="1"/>
              <a:t>eksuda</a:t>
            </a:r>
            <a:r>
              <a:rPr lang="en-US" dirty="0"/>
              <a:t>, </a:t>
            </a:r>
            <a:r>
              <a:rPr lang="en-US" dirty="0" err="1"/>
              <a:t>vasküler</a:t>
            </a:r>
            <a:r>
              <a:rPr lang="en-US" dirty="0"/>
              <a:t> </a:t>
            </a:r>
            <a:r>
              <a:rPr lang="en-US" dirty="0" smtClean="0"/>
              <a:t>s</a:t>
            </a:r>
            <a:r>
              <a:rPr lang="tr-TR" dirty="0" smtClean="0"/>
              <a:t>ı</a:t>
            </a:r>
            <a:r>
              <a:rPr lang="en-US" dirty="0" err="1" smtClean="0"/>
              <a:t>zıntrlar</a:t>
            </a:r>
            <a:r>
              <a:rPr lang="en-US" dirty="0" smtClean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olduğunda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tr-TR" alt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prokoagülan</a:t>
            </a:r>
            <a:r>
              <a:rPr lang="en-US" dirty="0"/>
              <a:t> </a:t>
            </a:r>
            <a:r>
              <a:rPr lang="en-US" dirty="0" err="1"/>
              <a:t>uyarı</a:t>
            </a:r>
            <a:r>
              <a:rPr lang="en-US" dirty="0"/>
              <a:t> </a:t>
            </a:r>
            <a:r>
              <a:rPr lang="en-US" dirty="0" err="1"/>
              <a:t>olduğunda</a:t>
            </a:r>
            <a:r>
              <a:rPr lang="en-US" dirty="0"/>
              <a:t> </a:t>
            </a:r>
            <a:r>
              <a:rPr lang="en-US" dirty="0" err="1"/>
              <a:t>gelişir</a:t>
            </a:r>
            <a:r>
              <a:rPr lang="en-US" dirty="0"/>
              <a:t>. </a:t>
            </a:r>
            <a:r>
              <a:rPr lang="en-US" dirty="0" err="1"/>
              <a:t>Vasküler</a:t>
            </a:r>
            <a:r>
              <a:rPr lang="tr-TR" altLang="en-US" dirty="0"/>
              <a:t> </a:t>
            </a:r>
            <a:r>
              <a:rPr lang="en-US" dirty="0" err="1"/>
              <a:t>geçirgenlikte</a:t>
            </a:r>
            <a:r>
              <a:rPr lang="en-US" dirty="0"/>
              <a:t> </a:t>
            </a:r>
            <a:r>
              <a:rPr lang="en-US" dirty="0" err="1" smtClean="0"/>
              <a:t>büy</a:t>
            </a:r>
            <a:r>
              <a:rPr lang="tr-TR" dirty="0" smtClean="0"/>
              <a:t>ü</a:t>
            </a:r>
            <a:r>
              <a:rPr lang="en-US" dirty="0" smtClean="0"/>
              <a:t>k </a:t>
            </a:r>
            <a:r>
              <a:rPr lang="en-US" dirty="0" err="1" smtClean="0"/>
              <a:t>ar</a:t>
            </a:r>
            <a:r>
              <a:rPr lang="tr-TR" dirty="0" err="1" smtClean="0"/>
              <a:t>tı</a:t>
            </a:r>
            <a:r>
              <a:rPr lang="en-US" dirty="0" smtClean="0"/>
              <a:t>ş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fibrinojen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molekül</a:t>
            </a:r>
            <a:r>
              <a:rPr lang="tr-TR" altLang="en-US" dirty="0"/>
              <a:t> </a:t>
            </a:r>
            <a:r>
              <a:rPr lang="en-US" dirty="0" err="1"/>
              <a:t>ağırlıklı</a:t>
            </a:r>
            <a:r>
              <a:rPr lang="en-US" dirty="0"/>
              <a:t> </a:t>
            </a:r>
            <a:r>
              <a:rPr lang="en-US" dirty="0" err="1"/>
              <a:t>proteinler</a:t>
            </a:r>
            <a:r>
              <a:rPr lang="en-US" dirty="0"/>
              <a:t> </a:t>
            </a:r>
            <a:r>
              <a:rPr lang="en-US" dirty="0" err="1"/>
              <a:t>kanın</a:t>
            </a:r>
            <a:r>
              <a:rPr lang="en-US" dirty="0"/>
              <a:t> </a:t>
            </a:r>
            <a:r>
              <a:rPr lang="en-US" dirty="0" err="1"/>
              <a:t>dışına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, fibrin </a:t>
            </a:r>
            <a:r>
              <a:rPr lang="en-US" dirty="0" err="1"/>
              <a:t>oluşturulur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altLang="en-US" dirty="0"/>
              <a:t> </a:t>
            </a:r>
            <a:r>
              <a:rPr lang="en-US" dirty="0" err="1"/>
              <a:t>ekstrasellüler</a:t>
            </a:r>
            <a:r>
              <a:rPr lang="en-US" dirty="0"/>
              <a:t> </a:t>
            </a:r>
            <a:r>
              <a:rPr lang="en-US" dirty="0" err="1"/>
              <a:t>boşlukta</a:t>
            </a:r>
            <a:r>
              <a:rPr lang="en-US" dirty="0"/>
              <a:t> </a:t>
            </a:r>
            <a:r>
              <a:rPr lang="en-US" dirty="0" err="1"/>
              <a:t>birikir</a:t>
            </a:r>
            <a:r>
              <a:rPr lang="en-US" dirty="0"/>
              <a:t>. </a:t>
            </a:r>
            <a:r>
              <a:rPr lang="en-US" dirty="0" err="1"/>
              <a:t>Fibrinli</a:t>
            </a:r>
            <a:r>
              <a:rPr lang="en-US" dirty="0"/>
              <a:t> </a:t>
            </a:r>
            <a:r>
              <a:rPr lang="en-US" dirty="0" err="1"/>
              <a:t>eksuda</a:t>
            </a:r>
            <a:r>
              <a:rPr lang="en-US" dirty="0"/>
              <a:t>; </a:t>
            </a:r>
            <a:r>
              <a:rPr lang="en-US" dirty="0" err="1"/>
              <a:t>meninks</a:t>
            </a:r>
            <a:r>
              <a:rPr lang="en-US" dirty="0"/>
              <a:t>, </a:t>
            </a:r>
            <a:r>
              <a:rPr lang="en-US" dirty="0" err="1"/>
              <a:t>perikard</a:t>
            </a:r>
            <a:r>
              <a:rPr lang="en-US" dirty="0"/>
              <a:t> , </a:t>
            </a:r>
            <a:r>
              <a:rPr lang="en-US" dirty="0" err="1"/>
              <a:t>plevra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vücut</a:t>
            </a:r>
            <a:r>
              <a:rPr lang="en-US" dirty="0"/>
              <a:t> </a:t>
            </a:r>
            <a:r>
              <a:rPr lang="en-US" dirty="0" err="1"/>
              <a:t>kavitelerini</a:t>
            </a:r>
            <a:r>
              <a:rPr lang="en-US" dirty="0"/>
              <a:t> </a:t>
            </a:r>
            <a:r>
              <a:rPr lang="en-US" dirty="0" err="1"/>
              <a:t>döşeyen</a:t>
            </a:r>
            <a:r>
              <a:rPr lang="tr-TR" altLang="en-US" dirty="0"/>
              <a:t> </a:t>
            </a:r>
            <a:r>
              <a:rPr lang="en-US" dirty="0" err="1"/>
              <a:t>zarların</a:t>
            </a:r>
            <a:r>
              <a:rPr lang="en-US" dirty="0"/>
              <a:t> </a:t>
            </a:r>
            <a:r>
              <a:rPr lang="en-US" dirty="0" err="1" smtClean="0"/>
              <a:t>inflmasyonunun</a:t>
            </a:r>
            <a:r>
              <a:rPr lang="en-US" dirty="0" smtClean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özelliğidir</a:t>
            </a:r>
            <a:r>
              <a:rPr lang="en-US" dirty="0"/>
              <a:t>. </a:t>
            </a:r>
            <a:r>
              <a:rPr lang="en-US" dirty="0" err="1"/>
              <a:t>Histolojik</a:t>
            </a:r>
            <a:r>
              <a:rPr lang="tr-TR" altLang="en-US" dirty="0"/>
              <a:t> </a:t>
            </a:r>
            <a:r>
              <a:rPr lang="en-US" dirty="0" err="1"/>
              <a:t>olarak</a:t>
            </a:r>
            <a:r>
              <a:rPr lang="en-US" dirty="0"/>
              <a:t> fibrin, </a:t>
            </a:r>
            <a:r>
              <a:rPr lang="en-US" dirty="0" err="1"/>
              <a:t>eozinofilik</a:t>
            </a:r>
            <a:r>
              <a:rPr lang="en-US" dirty="0"/>
              <a:t> </a:t>
            </a:r>
            <a:r>
              <a:rPr lang="en-US" dirty="0" err="1"/>
              <a:t>iplik</a:t>
            </a:r>
            <a:r>
              <a:rPr lang="en-US" dirty="0"/>
              <a:t> </a:t>
            </a:r>
            <a:r>
              <a:rPr lang="en-US" dirty="0" err="1"/>
              <a:t>ağı</a:t>
            </a:r>
            <a:r>
              <a:rPr lang="en-US" dirty="0"/>
              <a:t> </a:t>
            </a:r>
            <a:r>
              <a:rPr lang="en-US" dirty="0" err="1" smtClean="0"/>
              <a:t>veya</a:t>
            </a:r>
            <a:r>
              <a:rPr lang="tr-TR" dirty="0" smtClean="0"/>
              <a:t> </a:t>
            </a:r>
            <a:r>
              <a:rPr lang="en-US" dirty="0" err="1" smtClean="0"/>
              <a:t>bazen</a:t>
            </a:r>
            <a:r>
              <a:rPr lang="en-US" dirty="0" smtClean="0"/>
              <a:t> </a:t>
            </a:r>
            <a:r>
              <a:rPr lang="en-US" dirty="0" err="1"/>
              <a:t>amorf</a:t>
            </a:r>
            <a:r>
              <a:rPr lang="en-US" dirty="0"/>
              <a:t> </a:t>
            </a:r>
            <a:r>
              <a:rPr lang="en-US" dirty="0" err="1"/>
              <a:t>koagulum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 </a:t>
            </a:r>
            <a:r>
              <a:rPr lang="en-US" dirty="0" err="1"/>
              <a:t>Fibrinöz</a:t>
            </a:r>
            <a:r>
              <a:rPr lang="en-US" dirty="0"/>
              <a:t> </a:t>
            </a:r>
            <a:r>
              <a:rPr lang="en-US" dirty="0" err="1"/>
              <a:t>eksuda</a:t>
            </a:r>
            <a:r>
              <a:rPr lang="en-US" dirty="0"/>
              <a:t>, </a:t>
            </a:r>
            <a:r>
              <a:rPr lang="en-US" dirty="0" err="1"/>
              <a:t>fibrinoliz</a:t>
            </a:r>
            <a:r>
              <a:rPr lang="tr-TR" alt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çözünebilir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makrofajlarla</a:t>
            </a:r>
            <a:r>
              <a:rPr lang="en-US" dirty="0"/>
              <a:t> </a:t>
            </a:r>
            <a:r>
              <a:rPr lang="en-US" dirty="0" err="1"/>
              <a:t>temizlenir</a:t>
            </a:r>
            <a:r>
              <a:rPr lang="en-US" dirty="0"/>
              <a:t>. Fibrin </a:t>
            </a:r>
            <a:r>
              <a:rPr lang="en-US" dirty="0" err="1"/>
              <a:t>uzaklaştırılmazsa</a:t>
            </a:r>
            <a:r>
              <a:rPr lang="en-US" dirty="0"/>
              <a:t>, </a:t>
            </a:r>
            <a:r>
              <a:rPr lang="en-US" dirty="0" smtClean="0"/>
              <a:t>zaman</a:t>
            </a:r>
            <a:r>
              <a:rPr lang="tr-TR" dirty="0" smtClean="0"/>
              <a:t>l</a:t>
            </a:r>
            <a:r>
              <a:rPr lang="en-US" dirty="0" smtClean="0"/>
              <a:t>a</a:t>
            </a:r>
            <a:r>
              <a:rPr lang="en-US" dirty="0"/>
              <a:t>, fibroblast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damarlarının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büyümesini</a:t>
            </a:r>
            <a:r>
              <a:rPr lang="en-US" dirty="0"/>
              <a:t> </a:t>
            </a:r>
            <a:r>
              <a:rPr lang="en-US" dirty="0" err="1"/>
              <a:t>uyarır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nedbeleşmeye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</a:t>
            </a:r>
            <a:r>
              <a:rPr lang="tr-TR" altLang="en-US" dirty="0"/>
              <a:t> </a:t>
            </a:r>
            <a:r>
              <a:rPr lang="en-US" dirty="0" err="1"/>
              <a:t>Perikardial</a:t>
            </a:r>
            <a:r>
              <a:rPr lang="en-US" dirty="0"/>
              <a:t> </a:t>
            </a:r>
            <a:r>
              <a:rPr lang="en-US" dirty="0" err="1"/>
              <a:t>kese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fibrinli</a:t>
            </a:r>
            <a:r>
              <a:rPr lang="en-US" dirty="0"/>
              <a:t> </a:t>
            </a:r>
            <a:r>
              <a:rPr lang="en-US" dirty="0" err="1"/>
              <a:t>eksudanın</a:t>
            </a:r>
            <a:r>
              <a:rPr lang="en-US" dirty="0"/>
              <a:t> </a:t>
            </a:r>
            <a:r>
              <a:rPr lang="en-US" dirty="0" err="1"/>
              <a:t>skar</a:t>
            </a:r>
            <a:r>
              <a:rPr lang="en-US" dirty="0"/>
              <a:t> </a:t>
            </a:r>
            <a:r>
              <a:rPr lang="en-US" dirty="0" err="1"/>
              <a:t>dokusuna</a:t>
            </a:r>
            <a:r>
              <a:rPr lang="en-US" dirty="0"/>
              <a:t> </a:t>
            </a:r>
            <a:r>
              <a:rPr lang="en-US" dirty="0" err="1"/>
              <a:t>dönüşmesi</a:t>
            </a:r>
            <a:r>
              <a:rPr lang="en-US" dirty="0"/>
              <a:t> (</a:t>
            </a:r>
            <a:r>
              <a:rPr lang="en-US" dirty="0" err="1"/>
              <a:t>organizasyon</a:t>
            </a:r>
            <a:r>
              <a:rPr lang="en-US" dirty="0"/>
              <a:t>)' </a:t>
            </a:r>
            <a:r>
              <a:rPr lang="en-US" dirty="0" err="1"/>
              <a:t>eksudasyon</a:t>
            </a:r>
            <a:r>
              <a:rPr lang="en-US" dirty="0"/>
              <a:t> 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perikardium</a:t>
            </a:r>
            <a:r>
              <a:rPr lang="tr-TR" alt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epikardiumun</a:t>
            </a:r>
            <a:r>
              <a:rPr lang="en-US" dirty="0"/>
              <a:t> </a:t>
            </a:r>
            <a:r>
              <a:rPr lang="en-US" dirty="0" err="1"/>
              <a:t>opak</a:t>
            </a:r>
            <a:r>
              <a:rPr lang="en-US" dirty="0"/>
              <a:t> </a:t>
            </a:r>
            <a:r>
              <a:rPr lang="en-US" dirty="0" err="1"/>
              <a:t>fibröz</a:t>
            </a:r>
            <a:r>
              <a:rPr lang="en-US" dirty="0"/>
              <a:t> </a:t>
            </a:r>
            <a:r>
              <a:rPr lang="en-US" dirty="0" err="1"/>
              <a:t>kalınlaşması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sonuçlanır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Fibrinli perikardit. (A) Perikard üzerinde fibrin birikimleri. (B) Fibrin eksudasının (o pembe ağı perikardial yüzeyi (P) örtüyor,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355" y="2435225"/>
            <a:ext cx="9304020" cy="3131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241300"/>
            <a:ext cx="10515600" cy="12382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65"/>
            <a:ext cx="10515600" cy="593661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dirty="0" err="1"/>
              <a:t>P</a:t>
            </a:r>
            <a:r>
              <a:rPr lang="en-US" u="sng" dirty="0" err="1"/>
              <a:t>ürülan</a:t>
            </a:r>
            <a:r>
              <a:rPr lang="en-US" u="sng" dirty="0"/>
              <a:t> (</a:t>
            </a:r>
            <a:r>
              <a:rPr lang="en-US" u="sng" dirty="0" err="1"/>
              <a:t>Süpüratif</a:t>
            </a:r>
            <a:r>
              <a:rPr lang="en-US" u="sng" dirty="0"/>
              <a:t>) </a:t>
            </a:r>
            <a:r>
              <a:rPr lang="en-US" u="sng" dirty="0" err="1"/>
              <a:t>inflamasyon</a:t>
            </a:r>
            <a:r>
              <a:rPr lang="en-US" u="sng" dirty="0"/>
              <a:t>, Apse</a:t>
            </a:r>
          </a:p>
          <a:p>
            <a:pPr marL="0" indent="0">
              <a:buNone/>
            </a:pPr>
            <a:r>
              <a:rPr lang="tr-TR" altLang="en-US" dirty="0" err="1"/>
              <a:t>Pürülan</a:t>
            </a:r>
            <a:r>
              <a:rPr lang="tr-TR" altLang="en-US" dirty="0"/>
              <a:t> </a:t>
            </a:r>
            <a:r>
              <a:rPr lang="tr-TR" altLang="en-US" dirty="0" err="1" smtClean="0"/>
              <a:t>inflamasyon</a:t>
            </a:r>
            <a:r>
              <a:rPr lang="tr-TR" altLang="en-US" dirty="0" smtClean="0"/>
              <a:t>, </a:t>
            </a:r>
            <a:r>
              <a:rPr lang="tr-TR" altLang="en-US" dirty="0" err="1"/>
              <a:t>pü</a:t>
            </a:r>
            <a:r>
              <a:rPr lang="tr-TR" altLang="en-US" dirty="0"/>
              <a:t> üretimi ile karakterizedir. </a:t>
            </a:r>
            <a:r>
              <a:rPr lang="tr-TR" altLang="en-US" dirty="0" err="1"/>
              <a:t>Pü</a:t>
            </a:r>
            <a:r>
              <a:rPr lang="tr-TR" altLang="en-US" dirty="0"/>
              <a:t>, </a:t>
            </a:r>
            <a:r>
              <a:rPr lang="tr-TR" altLang="en-US" dirty="0" err="1"/>
              <a:t>nötrofiller</a:t>
            </a:r>
            <a:r>
              <a:rPr lang="tr-TR" altLang="en-US" dirty="0"/>
              <a:t>, erimiş (</a:t>
            </a:r>
            <a:r>
              <a:rPr lang="tr-TR" altLang="en-US" dirty="0" err="1"/>
              <a:t>likeifiye</a:t>
            </a:r>
            <a:r>
              <a:rPr lang="tr-TR" altLang="en-US" dirty="0"/>
              <a:t>) </a:t>
            </a:r>
            <a:r>
              <a:rPr lang="tr-TR" altLang="en-US" dirty="0" smtClean="0"/>
              <a:t>nekrotik </a:t>
            </a:r>
            <a:r>
              <a:rPr lang="tr-TR" altLang="en-US" dirty="0"/>
              <a:t>hücre artıkları ve ödem </a:t>
            </a:r>
            <a:r>
              <a:rPr lang="tr-TR" altLang="en-US" dirty="0" err="1" smtClean="0"/>
              <a:t>sıvrsrndan</a:t>
            </a:r>
            <a:r>
              <a:rPr lang="tr-TR" altLang="en-US" dirty="0" smtClean="0"/>
              <a:t> </a:t>
            </a:r>
            <a:r>
              <a:rPr lang="tr-TR" altLang="en-US" dirty="0"/>
              <a:t>oluşan </a:t>
            </a:r>
            <a:r>
              <a:rPr lang="tr-TR" altLang="en-US" dirty="0" err="1"/>
              <a:t>eksüdadır</a:t>
            </a:r>
            <a:r>
              <a:rPr lang="tr-TR" altLang="en-US" dirty="0"/>
              <a:t>. </a:t>
            </a:r>
            <a:r>
              <a:rPr lang="tr-TR" altLang="en-US" dirty="0" err="1"/>
              <a:t>Pürülan</a:t>
            </a:r>
            <a:r>
              <a:rPr lang="tr-TR" altLang="en-US" dirty="0"/>
              <a:t> (</a:t>
            </a:r>
            <a:r>
              <a:rPr lang="tr-TR" altLang="en-US" dirty="0" err="1"/>
              <a:t>süpüratif</a:t>
            </a:r>
            <a:r>
              <a:rPr lang="tr-TR" altLang="en-US" dirty="0"/>
              <a:t> olarak da </a:t>
            </a:r>
            <a:r>
              <a:rPr lang="tr-TR" altLang="en-US" dirty="0" err="1"/>
              <a:t>adlandrılır</a:t>
            </a:r>
            <a:r>
              <a:rPr lang="tr-TR" altLang="en-US" dirty="0"/>
              <a:t>) </a:t>
            </a:r>
            <a:r>
              <a:rPr lang="tr-TR" altLang="en-US" dirty="0" err="1"/>
              <a:t>inflamasyonun</a:t>
            </a:r>
            <a:r>
              <a:rPr lang="tr-TR" altLang="en-US" dirty="0"/>
              <a:t> en </a:t>
            </a:r>
            <a:r>
              <a:rPr lang="tr-TR" altLang="en-US" dirty="0" err="1"/>
              <a:t>srk</a:t>
            </a:r>
            <a:r>
              <a:rPr lang="tr-TR" altLang="en-US" dirty="0"/>
              <a:t> sebebi, </a:t>
            </a:r>
            <a:r>
              <a:rPr lang="tr-TR" altLang="en-US" dirty="0" smtClean="0"/>
              <a:t>sıvılaşan </a:t>
            </a:r>
            <a:r>
              <a:rPr lang="tr-TR" altLang="en-US" dirty="0"/>
              <a:t>("</a:t>
            </a:r>
            <a:r>
              <a:rPr lang="tr-TR" altLang="en-US" dirty="0" err="1" smtClean="0"/>
              <a:t>liquefactived</a:t>
            </a:r>
            <a:r>
              <a:rPr lang="tr-TR" altLang="en-US" dirty="0"/>
              <a:t>') doku nekrozuna yol açan stafilokok gibi bakterilerle olan enfeksiyonlardır. Bu patojenler, </a:t>
            </a:r>
            <a:r>
              <a:rPr lang="tr-TR" altLang="en-US" dirty="0" err="1"/>
              <a:t>pyojenik</a:t>
            </a:r>
            <a:r>
              <a:rPr lang="tr-TR" altLang="en-US" dirty="0"/>
              <a:t> (</a:t>
            </a:r>
            <a:r>
              <a:rPr lang="tr-TR" altLang="en-US" dirty="0" err="1"/>
              <a:t>pü</a:t>
            </a:r>
            <a:r>
              <a:rPr lang="tr-TR" altLang="en-US" dirty="0"/>
              <a:t> üreten) bakteriler olarak adlandırılır. Akut </a:t>
            </a:r>
            <a:r>
              <a:rPr lang="tr-TR" altLang="en-US" dirty="0" err="1"/>
              <a:t>süpüratif</a:t>
            </a:r>
            <a:r>
              <a:rPr lang="tr-TR" altLang="en-US" dirty="0"/>
              <a:t> </a:t>
            </a:r>
            <a:r>
              <a:rPr lang="tr-TR" altLang="en-US" dirty="0" err="1"/>
              <a:t>inflamasyonun</a:t>
            </a:r>
            <a:r>
              <a:rPr lang="tr-TR" altLang="en-US" dirty="0"/>
              <a:t> en yaygın örneği akut apandisittir. Apse</a:t>
            </a:r>
            <a:r>
              <a:rPr lang="tr-TR" altLang="en-US" dirty="0" smtClean="0"/>
              <a:t>, bir </a:t>
            </a:r>
            <a:r>
              <a:rPr lang="tr-TR" altLang="en-US" dirty="0"/>
              <a:t>doku, organ veya </a:t>
            </a:r>
            <a:r>
              <a:rPr lang="tr-TR" altLang="en-US" dirty="0" err="1" smtClean="0"/>
              <a:t>sınırlr</a:t>
            </a:r>
            <a:r>
              <a:rPr lang="tr-TR" altLang="en-US" dirty="0" smtClean="0"/>
              <a:t> </a:t>
            </a:r>
            <a:r>
              <a:rPr lang="tr-TR" altLang="en-US" dirty="0"/>
              <a:t>bir boşluktaki lokalize </a:t>
            </a:r>
            <a:r>
              <a:rPr lang="tr-TR" altLang="en-US" dirty="0" err="1"/>
              <a:t>pü</a:t>
            </a:r>
            <a:r>
              <a:rPr lang="tr-TR" altLang="en-US" dirty="0"/>
              <a:t> birikimidir. </a:t>
            </a:r>
            <a:r>
              <a:rPr lang="tr-TR" altLang="en-US" dirty="0" err="1"/>
              <a:t>Pyojenik</a:t>
            </a:r>
            <a:r>
              <a:rPr lang="tr-TR" altLang="en-US" dirty="0"/>
              <a:t> bakterinin bir dokuya yerleşmesi ile üretilir. Apse; nekrotik lökosit ve doku hücreleri kitlesinin bulunduğu santral bir bölge içerir. Genellikle bu nekrotik odak etrafında korunmuş </a:t>
            </a:r>
            <a:r>
              <a:rPr lang="tr-TR" altLang="en-US" dirty="0" err="1"/>
              <a:t>nötrofil</a:t>
            </a:r>
            <a:r>
              <a:rPr lang="tr-TR" altLang="en-US" dirty="0"/>
              <a:t> </a:t>
            </a:r>
            <a:r>
              <a:rPr lang="tr-TR" altLang="en-US" dirty="0" err="1"/>
              <a:t>zonu</a:t>
            </a:r>
            <a:r>
              <a:rPr lang="tr-TR" altLang="en-US" dirty="0"/>
              <a:t> yer alır ve bu bölgenin dışında kronik </a:t>
            </a:r>
            <a:r>
              <a:rPr lang="tr-TR" altLang="en-US" dirty="0" err="1"/>
              <a:t>inflamasyon</a:t>
            </a:r>
            <a:r>
              <a:rPr lang="tr-TR" altLang="en-US" dirty="0"/>
              <a:t> </a:t>
            </a:r>
            <a:r>
              <a:rPr lang="tr-TR" altLang="en-US" dirty="0" smtClean="0"/>
              <a:t>ve </a:t>
            </a:r>
            <a:r>
              <a:rPr lang="tr-TR" altLang="en-US" dirty="0" err="1"/>
              <a:t>onarlm</a:t>
            </a:r>
            <a:r>
              <a:rPr lang="tr-TR" altLang="en-US" dirty="0"/>
              <a:t> göstergesi olarak </a:t>
            </a:r>
            <a:r>
              <a:rPr lang="tr-TR" altLang="en-US" dirty="0" err="1"/>
              <a:t>vasküler</a:t>
            </a:r>
            <a:r>
              <a:rPr lang="tr-TR" altLang="en-US" dirty="0"/>
              <a:t> </a:t>
            </a:r>
            <a:r>
              <a:rPr lang="tr-TR" altLang="en-US" dirty="0" err="1"/>
              <a:t>dilatasyon</a:t>
            </a:r>
            <a:r>
              <a:rPr lang="tr-TR" altLang="en-US" dirty="0"/>
              <a:t>, </a:t>
            </a:r>
            <a:r>
              <a:rPr lang="tr-TR" altLang="en-US" dirty="0" err="1"/>
              <a:t>parenkimal</a:t>
            </a:r>
            <a:r>
              <a:rPr lang="tr-TR" altLang="en-US" dirty="0"/>
              <a:t> ve </a:t>
            </a:r>
            <a:r>
              <a:rPr lang="tr-TR" altLang="en-US" dirty="0" err="1"/>
              <a:t>fibroblastik</a:t>
            </a:r>
            <a:r>
              <a:rPr lang="tr-TR" altLang="en-US" dirty="0"/>
              <a:t> </a:t>
            </a:r>
            <a:r>
              <a:rPr lang="tr-TR" altLang="en-US" dirty="0" err="1"/>
              <a:t>proliferasyon</a:t>
            </a:r>
            <a:r>
              <a:rPr lang="tr-TR" altLang="en-US" dirty="0"/>
              <a:t> bulunabilir. Zaman içerisinde apse duvarla çevrelenebilir ve sonuçta yerini bağ dokusu </a:t>
            </a:r>
            <a:r>
              <a:rPr lang="tr-TR" altLang="en-US" dirty="0" err="1"/>
              <a:t>alrr</a:t>
            </a:r>
            <a:r>
              <a:rPr lang="tr-TR" altLang="en-US" dirty="0"/>
              <a:t>. </a:t>
            </a:r>
            <a:r>
              <a:rPr lang="tr-TR" altLang="en-US" dirty="0" smtClean="0"/>
              <a:t>Israrcı </a:t>
            </a:r>
            <a:r>
              <a:rPr lang="tr-TR" altLang="en-US" dirty="0"/>
              <a:t>olduğunda ya da kritik lokalizasyonlarda (</a:t>
            </a:r>
            <a:r>
              <a:rPr lang="tr-TR" altLang="en-US" dirty="0" err="1"/>
              <a:t>örn</a:t>
            </a:r>
            <a:r>
              <a:rPr lang="tr-TR" altLang="en-US" dirty="0"/>
              <a:t>. beyin) yer aldığında, apsenin cerrahi olarak boşaltılması gerekli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err="1"/>
              <a:t>Pürülan</a:t>
            </a:r>
            <a:r>
              <a:rPr lang="en-US" sz="2000" dirty="0"/>
              <a:t> </a:t>
            </a:r>
            <a:r>
              <a:rPr lang="en-US" sz="2000" dirty="0" err="1"/>
              <a:t>inflamasyon</a:t>
            </a:r>
            <a:r>
              <a:rPr lang="en-US" sz="2000" dirty="0"/>
              <a:t>. (A)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bronkopnömoni</a:t>
            </a:r>
            <a:r>
              <a:rPr lang="en-US" sz="2000" dirty="0"/>
              <a:t> </a:t>
            </a:r>
            <a:r>
              <a:rPr lang="en-US" sz="2000" dirty="0" err="1" smtClean="0"/>
              <a:t>vakas</a:t>
            </a:r>
            <a:r>
              <a:rPr lang="tr-TR" sz="2000" dirty="0" smtClean="0"/>
              <a:t>ı</a:t>
            </a:r>
            <a:r>
              <a:rPr lang="en-US" sz="2000" dirty="0" err="1" smtClean="0"/>
              <a:t>nda</a:t>
            </a:r>
            <a:r>
              <a:rPr lang="en-US" sz="2000" dirty="0"/>
              <a:t>, </a:t>
            </a:r>
            <a:r>
              <a:rPr lang="en-US" sz="2000" dirty="0" err="1"/>
              <a:t>akciğerdeki</a:t>
            </a:r>
            <a:r>
              <a:rPr lang="en-US" sz="2000" dirty="0"/>
              <a:t> </a:t>
            </a:r>
            <a:r>
              <a:rPr lang="en-US" sz="2000" dirty="0" err="1"/>
              <a:t>multipl</a:t>
            </a:r>
            <a:r>
              <a:rPr lang="en-US" sz="2000" dirty="0"/>
              <a:t> </a:t>
            </a:r>
            <a:r>
              <a:rPr lang="en-US" sz="2000" dirty="0" err="1"/>
              <a:t>bakteriyel</a:t>
            </a:r>
            <a:r>
              <a:rPr lang="en-US" sz="2000" dirty="0"/>
              <a:t> </a:t>
            </a:r>
            <a:r>
              <a:rPr lang="en-US" sz="2000" dirty="0" err="1"/>
              <a:t>apseler</a:t>
            </a:r>
            <a:r>
              <a:rPr lang="en-US" sz="2000" dirty="0"/>
              <a:t> (</a:t>
            </a:r>
            <a:r>
              <a:rPr lang="en-US" sz="2000" dirty="0" err="1" smtClean="0"/>
              <a:t>okl</a:t>
            </a:r>
            <a:r>
              <a:rPr lang="tr-TR" sz="2000" dirty="0" smtClean="0"/>
              <a:t>a</a:t>
            </a:r>
            <a:r>
              <a:rPr lang="en-US" sz="2000" dirty="0" smtClean="0"/>
              <a:t>r</a:t>
            </a:r>
            <a:r>
              <a:rPr lang="en-US" sz="2000" dirty="0"/>
              <a:t>). (B) Apse </a:t>
            </a:r>
            <a:r>
              <a:rPr lang="en-US" sz="2000" dirty="0" err="1"/>
              <a:t>nötrofiller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hücresel</a:t>
            </a:r>
            <a:r>
              <a:rPr lang="en-US" sz="2000" dirty="0"/>
              <a:t> </a:t>
            </a:r>
            <a:r>
              <a:rPr lang="en-US" sz="2000" dirty="0" err="1"/>
              <a:t>debrileri</a:t>
            </a:r>
            <a:r>
              <a:rPr lang="en-US" sz="2000" dirty="0"/>
              <a:t> </a:t>
            </a:r>
            <a:r>
              <a:rPr lang="en-US" sz="2000" dirty="0" err="1"/>
              <a:t>içerir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konjesyone</a:t>
            </a:r>
            <a:r>
              <a:rPr lang="en-US" sz="2000" dirty="0"/>
              <a:t> </a:t>
            </a:r>
            <a:r>
              <a:rPr lang="en-US" sz="2000" dirty="0" err="1"/>
              <a:t>vasküler</a:t>
            </a:r>
            <a:r>
              <a:rPr lang="en-US" sz="2000" dirty="0"/>
              <a:t> </a:t>
            </a:r>
            <a:r>
              <a:rPr lang="en-US" sz="2000" dirty="0" err="1"/>
              <a:t>yapılar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çevrelenir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015" y="2149475"/>
            <a:ext cx="94107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271145"/>
            <a:ext cx="10515600" cy="9398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1145"/>
            <a:ext cx="10515600" cy="5906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altLang="en-US" u="sng" dirty="0"/>
              <a:t>Ülserler</a:t>
            </a:r>
          </a:p>
          <a:p>
            <a:pPr marL="0" indent="0">
              <a:buNone/>
            </a:pPr>
            <a:r>
              <a:rPr lang="tr-TR" altLang="en-US" dirty="0" smtClean="0"/>
              <a:t>Ülser </a:t>
            </a:r>
            <a:r>
              <a:rPr lang="tr-TR" altLang="en-US" dirty="0"/>
              <a:t>bir organ veya dokunun yüzeyinde, </a:t>
            </a:r>
            <a:r>
              <a:rPr lang="tr-TR" altLang="en-US" dirty="0" err="1"/>
              <a:t>inflame</a:t>
            </a:r>
            <a:r>
              <a:rPr lang="tr-TR" altLang="en-US" dirty="0"/>
              <a:t> nekrotik dokunun dökülmesi ile oluşan lokal </a:t>
            </a:r>
            <a:r>
              <a:rPr lang="tr-TR" altLang="en-US" dirty="0" err="1"/>
              <a:t>defekt</a:t>
            </a:r>
            <a:r>
              <a:rPr lang="tr-TR" altLang="en-US" dirty="0"/>
              <a:t> veya çukurdur. </a:t>
            </a:r>
            <a:r>
              <a:rPr lang="tr-TR" altLang="en-US" dirty="0" err="1"/>
              <a:t>Ülserasyon</a:t>
            </a:r>
            <a:r>
              <a:rPr lang="tr-TR" altLang="en-US" dirty="0"/>
              <a:t> sadece doku nekrozu ve sonuçta ortaya çıkan </a:t>
            </a:r>
            <a:r>
              <a:rPr lang="tr-TR" altLang="en-US" dirty="0" err="1"/>
              <a:t>inflamasyon</a:t>
            </a:r>
            <a:r>
              <a:rPr lang="tr-TR" altLang="en-US" dirty="0"/>
              <a:t>, </a:t>
            </a:r>
            <a:r>
              <a:rPr lang="tr-TR" altLang="en-US" dirty="0" smtClean="0"/>
              <a:t>yüzeyde </a:t>
            </a:r>
            <a:r>
              <a:rPr lang="tr-TR" altLang="en-US" dirty="0"/>
              <a:t>veya yüzeye yakın bölgede olduğunda gelişebilir. En yaygın olarak, (1) ağız, mide, </a:t>
            </a:r>
            <a:r>
              <a:rPr lang="tr-TR" altLang="en-US" dirty="0" err="1"/>
              <a:t>barsaklar</a:t>
            </a:r>
            <a:r>
              <a:rPr lang="tr-TR" altLang="en-US" dirty="0"/>
              <a:t> veya </a:t>
            </a:r>
            <a:r>
              <a:rPr lang="tr-TR" altLang="en-US" dirty="0" err="1"/>
              <a:t>genitoüriner</a:t>
            </a:r>
            <a:r>
              <a:rPr lang="tr-TR" altLang="en-US" dirty="0"/>
              <a:t> kanal </a:t>
            </a:r>
            <a:r>
              <a:rPr lang="tr-TR" altLang="en-US" dirty="0" smtClean="0"/>
              <a:t>mukozası </a:t>
            </a:r>
            <a:r>
              <a:rPr lang="tr-TR" altLang="en-US" dirty="0"/>
              <a:t>ve (2) dolaşım bozukluğu nedeniyle yaygın </a:t>
            </a:r>
            <a:r>
              <a:rPr lang="tr-TR" altLang="en-US" dirty="0" err="1"/>
              <a:t>iskemik</a:t>
            </a:r>
            <a:r>
              <a:rPr lang="tr-TR" altLang="en-US" dirty="0"/>
              <a:t> nekroz eğilimi olan </a:t>
            </a:r>
            <a:r>
              <a:rPr lang="tr-TR" altLang="en-US" dirty="0" smtClean="0"/>
              <a:t>yaşlı </a:t>
            </a:r>
            <a:r>
              <a:rPr lang="tr-TR" altLang="en-US" dirty="0"/>
              <a:t>bireylerin alt </a:t>
            </a:r>
            <a:r>
              <a:rPr lang="tr-TR" altLang="en-US" dirty="0" err="1"/>
              <a:t>ekstremitelerinde</a:t>
            </a:r>
            <a:r>
              <a:rPr lang="tr-TR" altLang="en-US" dirty="0"/>
              <a:t> cilt, cilt altı dokuda görülür. Mide veya </a:t>
            </a:r>
            <a:r>
              <a:rPr lang="tr-TR" altLang="en-US" dirty="0" err="1"/>
              <a:t>duodenum</a:t>
            </a:r>
            <a:r>
              <a:rPr lang="tr-TR" altLang="en-US" dirty="0"/>
              <a:t> </a:t>
            </a:r>
            <a:r>
              <a:rPr lang="tr-TR" altLang="en-US" dirty="0" err="1"/>
              <a:t>peptik</a:t>
            </a:r>
            <a:r>
              <a:rPr lang="tr-TR" altLang="en-US" dirty="0"/>
              <a:t> ülserleri, diyabetik bacak ülserleri gibi, ülserlerde </a:t>
            </a:r>
            <a:r>
              <a:rPr lang="tr-TR" altLang="en-US" dirty="0" smtClean="0"/>
              <a:t>sıklıkla </a:t>
            </a:r>
            <a:r>
              <a:rPr lang="tr-TR" altLang="en-US" dirty="0"/>
              <a:t>akut ve kronik </a:t>
            </a:r>
            <a:r>
              <a:rPr lang="tr-TR" altLang="en-US" dirty="0" err="1"/>
              <a:t>inflamasyon</a:t>
            </a:r>
            <a:r>
              <a:rPr lang="tr-TR" altLang="en-US" dirty="0"/>
              <a:t> </a:t>
            </a:r>
            <a:r>
              <a:rPr lang="tr-TR" altLang="en-US" dirty="0" err="1"/>
              <a:t>birarada</a:t>
            </a:r>
            <a:r>
              <a:rPr lang="tr-TR" altLang="en-US" dirty="0"/>
              <a:t> bulunur. Akut evre süresince, </a:t>
            </a:r>
            <a:r>
              <a:rPr lang="tr-TR" altLang="en-US" dirty="0" err="1"/>
              <a:t>defekt</a:t>
            </a:r>
            <a:r>
              <a:rPr lang="tr-TR" altLang="en-US" dirty="0"/>
              <a:t> sınırlarında yoğun </a:t>
            </a:r>
            <a:r>
              <a:rPr lang="tr-TR" altLang="en-US" dirty="0" err="1"/>
              <a:t>polimorfonükleer</a:t>
            </a:r>
            <a:r>
              <a:rPr lang="tr-TR" altLang="en-US" dirty="0"/>
              <a:t> </a:t>
            </a:r>
            <a:r>
              <a:rPr lang="tr-TR" altLang="en-US" dirty="0" err="1"/>
              <a:t>infiltrasyon</a:t>
            </a:r>
            <a:r>
              <a:rPr lang="tr-TR" altLang="en-US" dirty="0"/>
              <a:t> ve </a:t>
            </a:r>
            <a:r>
              <a:rPr lang="tr-TR" altLang="en-US" dirty="0" err="1"/>
              <a:t>vasküler</a:t>
            </a:r>
            <a:r>
              <a:rPr lang="tr-TR" altLang="en-US" dirty="0"/>
              <a:t> </a:t>
            </a:r>
            <a:r>
              <a:rPr lang="tr-TR" altLang="en-US" dirty="0" err="1"/>
              <a:t>dilatasyon</a:t>
            </a:r>
            <a:r>
              <a:rPr lang="tr-TR" altLang="en-US" dirty="0"/>
              <a:t> </a:t>
            </a:r>
            <a:r>
              <a:rPr lang="tr-TR" altLang="en-US" dirty="0" smtClean="0"/>
              <a:t>görülür</a:t>
            </a:r>
            <a:r>
              <a:rPr lang="tr-TR" altLang="en-US" dirty="0"/>
              <a:t>. Kronikleşince ülserin </a:t>
            </a:r>
            <a:r>
              <a:rPr lang="tr-TR" altLang="en-US" dirty="0" smtClean="0"/>
              <a:t>sınırları </a:t>
            </a:r>
            <a:r>
              <a:rPr lang="tr-TR" altLang="en-US" dirty="0"/>
              <a:t>ve tabanında </a:t>
            </a:r>
            <a:r>
              <a:rPr lang="tr-TR" altLang="en-US" dirty="0" err="1"/>
              <a:t>fibroblast</a:t>
            </a:r>
            <a:r>
              <a:rPr lang="tr-TR" altLang="en-US" dirty="0"/>
              <a:t> </a:t>
            </a:r>
            <a:r>
              <a:rPr lang="tr-TR" altLang="en-US" dirty="0" err="1"/>
              <a:t>proliferasyonu</a:t>
            </a:r>
            <a:r>
              <a:rPr lang="tr-TR" altLang="en-US" dirty="0"/>
              <a:t>, </a:t>
            </a:r>
            <a:r>
              <a:rPr lang="tr-TR" altLang="en-US" dirty="0" err="1"/>
              <a:t>nedbeleşme</a:t>
            </a:r>
            <a:r>
              <a:rPr lang="tr-TR" altLang="en-US" dirty="0"/>
              <a:t> ve lenfositler, </a:t>
            </a:r>
            <a:r>
              <a:rPr lang="tr-TR" altLang="en-US" dirty="0" err="1"/>
              <a:t>makrofajlar</a:t>
            </a:r>
            <a:r>
              <a:rPr lang="tr-TR" altLang="en-US" dirty="0"/>
              <a:t> ve </a:t>
            </a:r>
            <a:r>
              <a:rPr lang="tr-TR" altLang="en-US" dirty="0" smtClean="0"/>
              <a:t>plazma </a:t>
            </a:r>
            <a:r>
              <a:rPr lang="tr-TR" altLang="en-US" dirty="0"/>
              <a:t>hücrelerinin birikimi görülür.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Bir ülserin morfolojisi. (A) Kronik duodenal ülser. (B) Tabanda akut inflamatuar eksudası olan duodenal ülser kraterine ait kesit yü-zünün küçük büyütmedeki görüntüsü.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5255" y="2572385"/>
            <a:ext cx="938022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</a:t>
            </a:r>
            <a:r>
              <a:rPr lang="tr-TR" dirty="0" smtClean="0"/>
              <a:t>kut</a:t>
            </a:r>
            <a:r>
              <a:rPr lang="en-US" dirty="0" smtClean="0"/>
              <a:t> </a:t>
            </a:r>
            <a:r>
              <a:rPr lang="tr-TR" altLang="en-US" dirty="0" err="1"/>
              <a:t>inflamasyonun</a:t>
            </a:r>
            <a:r>
              <a:rPr lang="en-US" dirty="0"/>
              <a:t> so</a:t>
            </a:r>
            <a:r>
              <a:rPr lang="tr-TR" altLang="en-US" dirty="0" err="1"/>
              <a:t>nuçlar</a:t>
            </a:r>
            <a:r>
              <a:rPr lang="en-US" dirty="0" err="1"/>
              <a:t>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7450"/>
            <a:ext cx="10515600" cy="498983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Beklendiği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, </a:t>
            </a:r>
            <a:r>
              <a:rPr lang="en-US" dirty="0" err="1"/>
              <a:t>hasarın</a:t>
            </a:r>
            <a:r>
              <a:rPr lang="en-US" dirty="0"/>
              <a:t> </a:t>
            </a:r>
            <a:r>
              <a:rPr lang="en-US" dirty="0" err="1"/>
              <a:t>natürü</a:t>
            </a:r>
            <a:r>
              <a:rPr lang="en-US" dirty="0"/>
              <a:t>, </a:t>
            </a:r>
            <a:r>
              <a:rPr lang="en-US" dirty="0" err="1"/>
              <a:t>şiddeti</a:t>
            </a:r>
            <a:r>
              <a:rPr lang="en-US" dirty="0"/>
              <a:t>, </a:t>
            </a:r>
            <a:r>
              <a:rPr lang="en-US" dirty="0" err="1"/>
              <a:t>etkilenen</a:t>
            </a:r>
            <a:r>
              <a:rPr lang="en-US" dirty="0"/>
              <a:t> </a:t>
            </a:r>
            <a:r>
              <a:rPr lang="en-US" dirty="0" err="1"/>
              <a:t>bölge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altLang="en-US" dirty="0"/>
              <a:t> </a:t>
            </a:r>
            <a:r>
              <a:rPr lang="en-US" dirty="0" err="1"/>
              <a:t>doku</a:t>
            </a:r>
            <a:r>
              <a:rPr lang="en-US" dirty="0"/>
              <a:t>, </a:t>
            </a:r>
            <a:r>
              <a:rPr lang="en-US" dirty="0" err="1"/>
              <a:t>konağın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, </a:t>
            </a:r>
            <a:r>
              <a:rPr lang="en-US" dirty="0" err="1"/>
              <a:t>inflamasyon</a:t>
            </a:r>
            <a:r>
              <a:rPr lang="en-US" dirty="0"/>
              <a:t> </a:t>
            </a:r>
            <a:r>
              <a:rPr lang="en-US" dirty="0" err="1" smtClean="0"/>
              <a:t>sürecini</a:t>
            </a:r>
            <a:r>
              <a:rPr lang="en-US" dirty="0" smtClean="0"/>
              <a:t> </a:t>
            </a:r>
            <a:r>
              <a:rPr lang="en-US" dirty="0" err="1"/>
              <a:t>etkileyebilse</a:t>
            </a:r>
            <a:r>
              <a:rPr lang="en-US" dirty="0"/>
              <a:t> de </a:t>
            </a:r>
            <a:r>
              <a:rPr lang="en-US" dirty="0" err="1"/>
              <a:t>akut</a:t>
            </a:r>
            <a:r>
              <a:rPr lang="en-US" dirty="0"/>
              <a:t>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reaksiyonlar</a:t>
            </a:r>
            <a:r>
              <a:rPr lang="en-US" dirty="0"/>
              <a:t> </a:t>
            </a:r>
            <a:r>
              <a:rPr lang="en-US" dirty="0" err="1"/>
              <a:t>tipik</a:t>
            </a:r>
            <a:r>
              <a:rPr lang="tr-TR" alt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sonuçtan</a:t>
            </a:r>
            <a:r>
              <a:rPr lang="en-US" dirty="0"/>
              <a:t>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. Tam </a:t>
            </a:r>
            <a:r>
              <a:rPr lang="en-US" dirty="0" err="1"/>
              <a:t>iyileşme</a:t>
            </a:r>
            <a:r>
              <a:rPr lang="en-US" dirty="0"/>
              <a:t>. İdeal </a:t>
            </a:r>
            <a:r>
              <a:rPr lang="en-US" dirty="0" err="1"/>
              <a:t>durumda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reaksiyonlar</a:t>
            </a:r>
            <a:r>
              <a:rPr lang="en-US" dirty="0"/>
              <a:t>, </a:t>
            </a:r>
            <a:r>
              <a:rPr lang="en-US" dirty="0" err="1" smtClean="0"/>
              <a:t>zara</a:t>
            </a:r>
            <a:r>
              <a:rPr lang="tr-TR" dirty="0" smtClean="0"/>
              <a:t>r</a:t>
            </a:r>
            <a:r>
              <a:rPr lang="en-US" dirty="0" err="1" smtClean="0"/>
              <a:t>lı</a:t>
            </a:r>
            <a:r>
              <a:rPr lang="en-US" dirty="0" smtClean="0"/>
              <a:t> </a:t>
            </a:r>
            <a:r>
              <a:rPr lang="en-US" dirty="0" err="1"/>
              <a:t>ajanı</a:t>
            </a:r>
            <a:r>
              <a:rPr lang="en-US" dirty="0"/>
              <a:t> </a:t>
            </a:r>
            <a:r>
              <a:rPr lang="en-US" dirty="0" err="1"/>
              <a:t>ortadan</a:t>
            </a:r>
            <a:r>
              <a:rPr lang="en-US" dirty="0"/>
              <a:t> </a:t>
            </a:r>
            <a:r>
              <a:rPr lang="en-US" dirty="0" err="1"/>
              <a:t>kaldırmayı</a:t>
            </a:r>
            <a:r>
              <a:rPr lang="en-US" dirty="0"/>
              <a:t> </a:t>
            </a:r>
            <a:r>
              <a:rPr lang="en-US" dirty="0" err="1"/>
              <a:t>başardıktan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, </a:t>
            </a:r>
            <a:r>
              <a:rPr lang="en-US" dirty="0" err="1"/>
              <a:t>akut</a:t>
            </a:r>
            <a:r>
              <a:rPr lang="en-US" dirty="0"/>
              <a:t> </a:t>
            </a:r>
            <a:r>
              <a:rPr lang="en-US" dirty="0" err="1"/>
              <a:t>inflamasyon</a:t>
            </a:r>
            <a:r>
              <a:rPr lang="en-US" dirty="0"/>
              <a:t> </a:t>
            </a:r>
            <a:r>
              <a:rPr lang="en-US" dirty="0" err="1"/>
              <a:t>bölgesinin</a:t>
            </a:r>
            <a:r>
              <a:rPr lang="en-US" dirty="0"/>
              <a:t>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tr-TR" altLang="en-US" dirty="0"/>
              <a:t> </a:t>
            </a:r>
            <a:r>
              <a:rPr lang="en-US" dirty="0" err="1"/>
              <a:t>sonuçlanmalıdır</a:t>
            </a:r>
            <a:r>
              <a:rPr lang="en-US" dirty="0"/>
              <a:t>. Bu "</a:t>
            </a:r>
            <a:r>
              <a:rPr lang="en-US" dirty="0" err="1"/>
              <a:t>rezolüsyon</a:t>
            </a:r>
            <a:r>
              <a:rPr lang="en-US" dirty="0"/>
              <a:t>"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adlandrrrlrr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alt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slnırlı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süreliyse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doku</a:t>
            </a:r>
            <a:r>
              <a:rPr lang="en-US" dirty="0"/>
              <a:t> </a:t>
            </a:r>
            <a:r>
              <a:rPr lang="en-US" dirty="0" err="1"/>
              <a:t>yıkrmı</a:t>
            </a:r>
            <a:r>
              <a:rPr lang="en-US" dirty="0"/>
              <a:t> minimal </a:t>
            </a:r>
            <a:r>
              <a:rPr lang="en-US" dirty="0" err="1"/>
              <a:t>düzeyde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hasar</a:t>
            </a:r>
            <a:r>
              <a:rPr lang="en-US" dirty="0"/>
              <a:t> </a:t>
            </a:r>
            <a:r>
              <a:rPr lang="en-US" dirty="0" err="1"/>
              <a:t>gören</a:t>
            </a:r>
            <a:r>
              <a:rPr lang="en-US" dirty="0"/>
              <a:t> </a:t>
            </a:r>
            <a:r>
              <a:rPr lang="en-US" dirty="0" err="1"/>
              <a:t>parenkimal</a:t>
            </a:r>
            <a:r>
              <a:rPr lang="en-US" dirty="0"/>
              <a:t> </a:t>
            </a:r>
            <a:r>
              <a:rPr lang="en-US" dirty="0" err="1"/>
              <a:t>hücreler</a:t>
            </a:r>
            <a:r>
              <a:rPr lang="en-US" dirty="0"/>
              <a:t> </a:t>
            </a:r>
            <a:r>
              <a:rPr lang="en-US" dirty="0" err="1"/>
              <a:t>rejenere</a:t>
            </a:r>
            <a:r>
              <a:rPr lang="tr-TR" altLang="en-US" dirty="0"/>
              <a:t> olabiliyorsa, klasik gidiş </a:t>
            </a:r>
            <a:r>
              <a:rPr lang="tr-TR" altLang="en-US" dirty="0" err="1"/>
              <a:t>rezolüsyon</a:t>
            </a:r>
            <a:r>
              <a:rPr lang="tr-TR" altLang="en-US" dirty="0"/>
              <a:t> şeklindedir. </a:t>
            </a:r>
            <a:r>
              <a:rPr lang="tr-TR" altLang="en-US" dirty="0" err="1"/>
              <a:t>Rezolüsyon</a:t>
            </a:r>
            <a:r>
              <a:rPr lang="tr-TR" altLang="en-US" dirty="0"/>
              <a:t>, hücresel </a:t>
            </a:r>
            <a:r>
              <a:rPr lang="tr-TR" altLang="en-US" dirty="0" err="1"/>
              <a:t>artıklarln</a:t>
            </a:r>
            <a:r>
              <a:rPr lang="tr-TR" altLang="en-US" dirty="0"/>
              <a:t> Ve mikroorganizmaların </a:t>
            </a:r>
            <a:r>
              <a:rPr lang="tr-TR" altLang="en-US" dirty="0" err="1"/>
              <a:t>makrofajlar</a:t>
            </a:r>
            <a:r>
              <a:rPr lang="tr-TR" altLang="en-US" dirty="0"/>
              <a:t> </a:t>
            </a:r>
            <a:r>
              <a:rPr lang="tr-TR" altLang="en-US" dirty="0" err="1"/>
              <a:t>tarafindan</a:t>
            </a:r>
            <a:r>
              <a:rPr lang="tr-TR" altLang="en-US" dirty="0"/>
              <a:t> </a:t>
            </a:r>
            <a:r>
              <a:rPr lang="tr-TR" altLang="en-US" dirty="0" err="1" smtClean="0"/>
              <a:t>uzaklaştırllması</a:t>
            </a:r>
            <a:r>
              <a:rPr lang="tr-TR" altLang="en-US" dirty="0" smtClean="0"/>
              <a:t> </a:t>
            </a:r>
            <a:r>
              <a:rPr lang="tr-TR" altLang="en-US" dirty="0"/>
              <a:t>v</a:t>
            </a:r>
            <a:r>
              <a:rPr lang="tr-TR" altLang="en-US" dirty="0" smtClean="0"/>
              <a:t>e </a:t>
            </a:r>
            <a:r>
              <a:rPr lang="tr-TR" altLang="en-US" dirty="0"/>
              <a:t>ödem sıvısının lenfatikler aracılığıyla emilimini kapsar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8200" y="210185"/>
            <a:ext cx="10515600" cy="15494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215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dokusu</a:t>
            </a:r>
            <a:r>
              <a:rPr lang="en-US" dirty="0"/>
              <a:t> </a:t>
            </a:r>
            <a:r>
              <a:rPr lang="en-US" dirty="0" err="1"/>
              <a:t>replasmanı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(</a:t>
            </a:r>
            <a:r>
              <a:rPr lang="en-US" dirty="0" err="1"/>
              <a:t>nedbeleşme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fibrozis</a:t>
            </a:r>
            <a:r>
              <a:rPr lang="en-US" dirty="0"/>
              <a:t>)</a:t>
            </a:r>
            <a:r>
              <a:rPr lang="tr-TR" alt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iyileşme</a:t>
            </a:r>
            <a:r>
              <a:rPr lang="en-US" dirty="0"/>
              <a:t>.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doku</a:t>
            </a:r>
            <a:r>
              <a:rPr lang="en-US" dirty="0"/>
              <a:t> </a:t>
            </a:r>
            <a:r>
              <a:rPr lang="en-US" dirty="0" err="1"/>
              <a:t>yıklmından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çIkar</a:t>
            </a:r>
            <a:r>
              <a:rPr lang="en-US" dirty="0"/>
              <a:t>, </a:t>
            </a:r>
            <a:r>
              <a:rPr lang="en-US" dirty="0" err="1"/>
              <a:t>inflamatuar</a:t>
            </a:r>
            <a:r>
              <a:rPr lang="en-US" dirty="0"/>
              <a:t> </a:t>
            </a:r>
            <a:r>
              <a:rPr lang="en-US" dirty="0" err="1"/>
              <a:t>yaralanma</a:t>
            </a:r>
            <a:r>
              <a:rPr lang="en-US" dirty="0"/>
              <a:t> </a:t>
            </a:r>
            <a:r>
              <a:rPr lang="en-US" dirty="0" err="1"/>
              <a:t>rejenerasyon</a:t>
            </a:r>
            <a:r>
              <a:rPr lang="en-US" dirty="0"/>
              <a:t> </a:t>
            </a:r>
            <a:r>
              <a:rPr lang="en-US" dirty="0" err="1"/>
              <a:t>yeteneği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dokuda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doku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seröz</a:t>
            </a:r>
            <a:r>
              <a:rPr lang="en-US" dirty="0"/>
              <a:t> </a:t>
            </a:r>
            <a:r>
              <a:rPr lang="en-US" dirty="0" err="1"/>
              <a:t>kavitelerde</a:t>
            </a:r>
            <a:r>
              <a:rPr lang="en-US" dirty="0"/>
              <a:t> (</a:t>
            </a:r>
            <a:r>
              <a:rPr lang="en-US" dirty="0" err="1"/>
              <a:t>plevra</a:t>
            </a:r>
            <a:r>
              <a:rPr lang="en-US" dirty="0"/>
              <a:t>,</a:t>
            </a:r>
            <a:r>
              <a:rPr lang="tr-TR" altLang="en-US" dirty="0"/>
              <a:t> periton) yeterince temizlenemeyen yoğun fibrin birikimi olduğunda görülür. Bu durumların hepsinde bağ dokusu, hasar alanı veya </a:t>
            </a:r>
            <a:r>
              <a:rPr lang="tr-TR" altLang="en-US" dirty="0" err="1"/>
              <a:t>eksuda</a:t>
            </a:r>
            <a:r>
              <a:rPr lang="tr-TR" altLang="en-US" dirty="0"/>
              <a:t> içine doğru gelişir ve burayı </a:t>
            </a:r>
            <a:r>
              <a:rPr lang="tr-TR" altLang="en-US" dirty="0" err="1"/>
              <a:t>fibröz</a:t>
            </a:r>
            <a:r>
              <a:rPr lang="tr-TR" altLang="en-US" dirty="0"/>
              <a:t> doku kitlesine dönüştürür.</a:t>
            </a:r>
          </a:p>
          <a:p>
            <a:pPr marL="0" indent="0">
              <a:buNone/>
            </a:pPr>
            <a:r>
              <a:rPr lang="tr-TR" altLang="en-US" dirty="0"/>
              <a:t>-</a:t>
            </a:r>
            <a:r>
              <a:rPr lang="tr-TR" altLang="en-US" dirty="0" err="1"/>
              <a:t>Cevabln</a:t>
            </a:r>
            <a:r>
              <a:rPr lang="tr-TR" altLang="en-US" dirty="0"/>
              <a:t> kronik </a:t>
            </a:r>
            <a:r>
              <a:rPr lang="tr-TR" altLang="en-US" dirty="0" err="1"/>
              <a:t>inflamasyona</a:t>
            </a:r>
            <a:r>
              <a:rPr lang="tr-TR" altLang="en-US" dirty="0"/>
              <a:t> ilerlemesi. Zararlı ajanın </a:t>
            </a:r>
            <a:r>
              <a:rPr lang="tr-TR" altLang="en-US" dirty="0" err="1" smtClean="0"/>
              <a:t>persistansı</a:t>
            </a:r>
            <a:r>
              <a:rPr lang="tr-TR" altLang="en-US" dirty="0" smtClean="0"/>
              <a:t> </a:t>
            </a:r>
            <a:r>
              <a:rPr lang="tr-TR" altLang="en-US" dirty="0"/>
              <a:t>veya normal iyileşme sürecinde bir engel sonucu akut </a:t>
            </a:r>
            <a:r>
              <a:rPr lang="tr-TR" altLang="en-US" dirty="0" err="1"/>
              <a:t>inflamatuar</a:t>
            </a:r>
            <a:r>
              <a:rPr lang="tr-TR" altLang="en-US" dirty="0"/>
              <a:t> </a:t>
            </a:r>
            <a:r>
              <a:rPr lang="tr-TR" altLang="en-US" dirty="0" err="1"/>
              <a:t>yanltın</a:t>
            </a:r>
            <a:r>
              <a:rPr lang="tr-TR" altLang="en-US" dirty="0"/>
              <a:t> gerilememesi ile </a:t>
            </a:r>
            <a:r>
              <a:rPr lang="tr-TR" altLang="en-US" dirty="0" err="1"/>
              <a:t>inflamatuar</a:t>
            </a:r>
            <a:r>
              <a:rPr lang="tr-TR" altLang="en-US" dirty="0"/>
              <a:t> yanıt akuttan kroniğe </a:t>
            </a:r>
            <a:r>
              <a:rPr lang="tr-TR" altLang="en-US" dirty="0" smtClean="0"/>
              <a:t>ilerler-</a:t>
            </a:r>
            <a:endParaRPr lang="tr-T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755"/>
          </a:xfrm>
        </p:spPr>
        <p:txBody>
          <a:bodyPr/>
          <a:lstStyle/>
          <a:p>
            <a:r>
              <a:rPr lang="en-US" sz="2000"/>
              <a:t> Akut inflamasyonun sonuçları: Rezolüsyon, fibrozisle iyileşme veya kronik inflamasyon. Çeşitli reaksiyonlarln bileşenleri ve bunların fonksiyonel sonuçları listelenmiştir.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065" y="1325880"/>
            <a:ext cx="6760210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1126</Words>
  <Application>Microsoft Office PowerPoint</Application>
  <PresentationFormat>Geniş ekran</PresentationFormat>
  <Paragraphs>37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AKUT İNFLAMASYONUN MORFOLOJiK PATERNLERİ</vt:lpstr>
      <vt:lpstr>PowerPoint Sunusu</vt:lpstr>
      <vt:lpstr>PowerPoint Sunusu</vt:lpstr>
      <vt:lpstr>Seröz inflamasyon. Seröz efüzyonun fokal birikimi ile, epidermisin dermisten ayrılma gösterdiği deri kabarclğının, enine kesitinin küçük büyütmedeki görüntüsü.</vt:lpstr>
      <vt:lpstr>PowerPoint Sunusu</vt:lpstr>
      <vt:lpstr>Fibrinli perikardit. (A) Perikard üzerinde fibrin birikimleri. (B) Fibrin eksudasının (o pembe ağı perikardial yüzeyi (P) örtüyor,</vt:lpstr>
      <vt:lpstr>PowerPoint Sunusu</vt:lpstr>
      <vt:lpstr>Pürülan inflamasyon. (A) Bir bronkopnömoni vakasında, akciğerdeki multipl bakteriyel apseler (oklar). (B) Apse nötrofiller ve hücresel debrileri içerir ve konjesyone vasküler yapılar ile çevrelenir.</vt:lpstr>
      <vt:lpstr>PowerPoint Sunusu</vt:lpstr>
      <vt:lpstr>Bir ülserin morfolojisi. (A) Kronik duodenal ülser. (B) Tabanda akut inflamatuar eksudası olan duodenal ülser kraterine ait kesit yü-zünün küçük büyütmedeki görüntüsü.</vt:lpstr>
      <vt:lpstr>Akut inflamasyonun sonuçları</vt:lpstr>
      <vt:lpstr>PowerPoint Sunusu</vt:lpstr>
      <vt:lpstr> Akut inflamasyonun sonuçları: Rezolüsyon, fibrozisle iyileşme veya kronik inflamasyon. Çeşitli reaksiyonlarln bileşenleri ve bunların fonksiyonel sonuçları listelenmiştir.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AKUT İNFLAMASYONUN MORFOLJiK PATERNLERİ</dc:title>
  <dc:creator/>
  <cp:lastModifiedBy>Poliklinik(Uşak Devlet Hastanesi)</cp:lastModifiedBy>
  <cp:revision>9</cp:revision>
  <dcterms:created xsi:type="dcterms:W3CDTF">2022-06-05T19:38:41Z</dcterms:created>
  <dcterms:modified xsi:type="dcterms:W3CDTF">2022-06-06T07:23:42Z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9ECBCB2B88F942F49F17FAB7E046E378</vt:lpwstr>
  </property>
  <property fmtid="{D5CDD505-2E9C-101B-9397-08002B2CF9AE}" pid="3" name="KSOProductBuildVer">
    <vt:lpwstr>1033-11.2.0.10451</vt:lpwstr>
  </property>
</Properties>
</file>