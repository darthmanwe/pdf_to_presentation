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lgn="ctr">
              <a:defRPr sz="4400" b="1">
                <a:solidFill>
                  <a:srgbClr val="000000"/>
                </a:solidFill>
              </a:defRPr>
            </a:pPr>
          </a:p>
        </p:txBody>
      </p:sp>
      <p:sp>
        <p:nvSpPr>
          <p:cNvPr id="3" name="Subtitle 2"/>
          <p:cNvSpPr>
            <a:spLocks noGrp="1"/>
          </p:cNvSpPr>
          <p:nvPr>
            <p:ph type="subTitle" idx="1"/>
          </p:nvPr>
        </p:nvSpPr>
        <p:spPr/>
        <p:txBody>
          <a:bodyPr/>
          <a:lstStyle/>
          <a:p>
            <a:pPr algn="ctr">
              <a:defRPr sz="2400" i="1">
                <a:solidFill>
                  <a:srgbClr val="595959"/>
                </a:solidFill>
              </a:defRPr>
            </a:p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Inflammation is a complex biological response of vascular tissues to harmful stimuli, such as pathogens, damaged cells, or irritants. It is a protective response involving immune cells, blood vessels, and molecular mediators. The main purpose of inflammation is to eliminate the initial cause of cell injury, clear out necrotic cells and tissues damaged from the original insult and the inflammatory process, and to initiate tissue repair. Inflammation is a generic response and therefore considered as a mechanism of innate immunity, as compared to adaptive immunity, which is specific for each pathogen.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Vasoactive amines, mainly histamine, cause vasodilation and increased vascular permeability. Arachidonic acid metabolites, including prostaglandins and leukotrienes, exist in several forms and are involved in vascular reactions, leukocyte chemotaxis, and other reactions of inflammation; they are antagonized by lipoxins. Cytokines are proteins produced by many cell types and usually act at short range; they mediate multiple effects, mainly in leukocyte recruitment and migration. The principal cytokines in acute inflammation are TNF, IL-1, and chemokines. Complement proteins are activated by microbes or antibodies, leading to the generation of multiple breakdown products responsible for leukocyte chemotaxis, opsonization, and phagocytosis of microbes and other particles, as well as cell killing. Kinins are produced by proteolytic cleavage of precursors and mediate vascular reaction and pain.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The morphologic hallmarks of acute inflammatory reactions are dilation of small blood vessels and accumulation of leukocytes and fluid in the extravascular tissue. The vascular and cellular reactions account for the signs and symptoms of the inflammatory response. Increased blood flow to the injured area and increased vascular permeability lead to the accumulation of extravascular fluid rich in plasma proteins (edema) and account for the redness (rubor), warmth (calor), and swelling (tumor) that accompany acute inflammation. Leukocytes that are recruited and activated by the offending agent and by endogenous mediators may release toxic metabolites and proteases extracellularly, causing tissue damage and loss of function (functio laesa). During the damage, and in part as a result of the liberation of prostaglandins, neuropeptides, and cytokines, one of the local symptoms is pain (dolor).</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Low-power view of a cross section of a skin </a:t>
            </a:r>
            <a:br/>
            <a:r>
              <a:t>blister showing the epidermis separated from the dermis by a focal collection </a:t>
            </a:r>
            <a:br/>
            <a:r>
              <a:t>of serous effusion. </a:t>
            </a:r>
            <a:br/>
            <a:r>
              <a:t> SUMMARY</a:t>
            </a:r>
            <a:br/>
            <a:r>
              <a:t>ACTIONS OF THE PRINCIPAL MEDIATORS OF </a:t>
            </a:r>
            <a:br/>
            <a:r>
              <a:t>INFLAMMATION</a:t>
            </a:r>
            <a:br/>
            <a:r>
              <a:t>• Vasoactive amines, mainly histamine: vasodilation and increased</a:t>
            </a:r>
            <a:br/>
            <a:r>
              <a:t>vascular permeability</a:t>
            </a:r>
            <a:br/>
            <a:r>
              <a:t>• Arachidonic acid metabolites (prostaglandins and leukotri-</a:t>
            </a:r>
            <a:br/>
            <a:r>
              <a:t>enes): several forms exist and are involved in vascular reactions, </a:t>
            </a:r>
            <a:br/>
            <a:r>
              <a:t>leukocyte chemotaxis, and other reactions of inﬂammation; </a:t>
            </a:r>
            <a:br/>
            <a:r>
              <a:t>antagonized by lipoxins</a:t>
            </a:r>
            <a:br/>
            <a:r>
              <a:t>• Cytokines: proteins produced by many cell types; usually act</a:t>
            </a:r>
            <a:br/>
            <a:r>
              <a:t>at short range; mediate multiple effects, mainly in leukocyte</a:t>
            </a:r>
            <a:br/>
            <a:r>
              <a:t>recruitment and migration; principal ones in acute inﬂamma-</a:t>
            </a:r>
            <a:br/>
            <a:r>
              <a:t>tion are TNF, IL-1, and chemokines</a:t>
            </a:r>
            <a:br/>
            <a:r>
              <a:t>• Complement proteins: Activation of the complement system</a:t>
            </a:r>
            <a:br/>
            <a:r>
              <a:t>by microbes or antibodies leads to the generation of multiple</a:t>
            </a:r>
            <a:br/>
            <a:r>
              <a:t>breakdown products, which are responsible for leukocyte che-</a:t>
            </a:r>
            <a:br/>
            <a:r>
              <a:t>motaxis, opsonization and phagocytosis of microbes and other</a:t>
            </a:r>
            <a:br/>
            <a:r>
              <a:t>particles, and cell killing</a:t>
            </a:r>
            <a:br/>
            <a:r>
              <a:t>• Kinins: produced by proteolytic cleavage of precursors; mediate</a:t>
            </a:r>
            <a:br/>
            <a:r>
              <a:t>vascular reaction, pain</a:t>
            </a:r>
            <a:br/>
            <a:r>
              <a:t>observed anti-in�ammatory effects of antagonists to these </a:t>
            </a:r>
            <a:br/>
            <a:r>
              <a:t>molecules, thus highlighting the importance of basic </a:t>
            </a:r>
            <a:br/>
            <a:r>
              <a:t>biology to the practice of medicine. The redundancy of the </a:t>
            </a:r>
            <a:br/>
            <a:r>
              <a:t>mediators and their actions ensures that this protective </a:t>
            </a:r>
            <a:br/>
            <a:r>
              <a:t>response remains robust and is not readily subverted.</a:t>
            </a:r>
            <a:br/>
            <a:r>
              <a:t>MORPHOLOGIC PATTERNS OF </a:t>
            </a:r>
            <a:br/>
            <a:r>
              <a:t>ACUTE INFLAMMATION</a:t>
            </a:r>
            <a:br/>
            <a:r>
              <a:t>�he �orphologic hall�ar�s of acute in�a��atory reac-</a:t>
            </a:r>
            <a:br/>
            <a:r>
              <a:t>tions are dilation of s�all blood vessels and accu�ula-</a:t>
            </a:r>
            <a:br/>
            <a:r>
              <a:t>tion of leu�ocytes and �uid in the e�travascular tissue. </a:t>
            </a:r>
            <a:br/>
            <a:r>
              <a:t>The vascular and cellular reactions account for the signs </a:t>
            </a:r>
            <a:br/>
            <a:r>
              <a:t>and symptoms of the in�ammatory response. Increased </a:t>
            </a:r>
            <a:br/>
            <a:r>
              <a:t>blood �ow to the injured area and increased vascular per-</a:t>
            </a:r>
            <a:br/>
            <a:r>
              <a:t>meability lead to the accumulation of extravascular �uid </a:t>
            </a:r>
            <a:br/>
            <a:r>
              <a:t>rich in plasma proteins (edema) and account for the redness </a:t>
            </a:r>
            <a:br/>
            <a:r>
              <a:t>�rubor�, warmth �calor�, and swelling �tumor� that accom-</a:t>
            </a:r>
            <a:br/>
            <a:r>
              <a:t>pany acute in�ammation. Leukocytes that are recruited </a:t>
            </a:r>
            <a:br/>
            <a:r>
              <a:t>and activated by the offending agent and by endogenous </a:t>
            </a:r>
            <a:br/>
            <a:r>
              <a:t>mediators may release toxic metabolites and proteases </a:t>
            </a:r>
            <a:br/>
            <a:r>
              <a:t>extracellularly, causing tissue damage and loss of function </a:t>
            </a:r>
            <a:br/>
            <a:r>
              <a:t>(�unctio laesa�. During the damage, and in part as a result </a:t>
            </a:r>
            <a:br/>
            <a:r>
              <a:t>of the liberation of prostaglandins, neuropeptides, and </a:t>
            </a:r>
            <a:br/>
            <a:r>
              <a:t>cytokines, one of the local symptoms is pain �dolor��</a:t>
            </a:r>
            <a:br/>
            <a:r>
              <a:t>Although these general features are characteristic of </a:t>
            </a:r>
            <a:br/>
            <a:r>
              <a:t>most acute in�ammatory reactions, special morphologic </a:t>
            </a:r>
            <a:br/>
            <a:r>
              <a:t>patterns are often superimposed on them, depending  </a:t>
            </a:r>
            <a:br/>
            <a:r>
              <a:t>on the severity of the reaction, its specific cause, and the </a:t>
            </a:r>
            <a:br/>
            <a:r>
              <a:t>particular tissue and site involved. The importance of rec-</a:t>
            </a:r>
            <a:br/>
            <a:r>
              <a:t>ognizing distinct gross and microscopic patterns of in�am-</a:t>
            </a:r>
            <a:br/>
            <a:r>
              <a:t>mation is that they often provide valuable clues about the </a:t>
            </a:r>
            <a:br/>
            <a:r>
              <a:t>underlying cause.</a:t>
            </a:r>
            <a:br/>
            <a:r>
              <a:t>Serous Inﬂammation</a:t>
            </a:r>
            <a:br/>
            <a:r>
              <a:t>�erous in�a��ation is �ar�ed by the e�udation of cell-</a:t>
            </a:r>
            <a:br/>
            <a:r>
              <a:t>poor �uid into spaces created by injury to surface epithelia </a:t>
            </a:r>
            <a:br/>
            <a:r>
              <a:t>or into body cavities lined by the peritoneum, pleura, or </a:t>
            </a:r>
            <a:br/>
            <a:r>
              <a:t>pericardium. Typically, the �uid in serous in�ammation is </a:t>
            </a:r>
            <a:br/>
            <a:r>
              <a:t>not infected by destructive organisms and does not contain </a:t>
            </a:r>
            <a:br/>
            <a:r>
              <a:t>large numbers of leukocytes (which tend to produce puru-</a:t>
            </a:r>
            <a:br/>
            <a:r>
              <a:t>lent in�ammation, described later). In body cavities the �uid </a:t>
            </a:r>
            <a:br/>
            <a:r>
              <a:t>may be derived from the plasma (as a result of increased </a:t>
            </a:r>
            <a:br/>
            <a:r>
              <a:t>vascular permeability) or from the secretions of mesothelial </a:t>
            </a:r>
            <a:br/>
            <a:r>
              <a:t>cells (as a result of local irritation); accumulation of �uid in </a:t>
            </a:r>
            <a:br/>
            <a:r>
              <a:t>these cavities is called an e��usion. (Effusions consisting of </a:t>
            </a:r>
            <a:br/>
            <a:r>
              <a:t>transudates also occur in nonin�ammatory conditions, such </a:t>
            </a:r>
            <a:br/>
            <a:r>
              <a:t>as reduced blood out�ow in heart failure, or reduced plasma </a:t>
            </a:r>
            <a:br/>
            <a:r>
              <a:t>protein levels in some kidney and liver diseases.) The skin </a:t>
            </a:r>
            <a:br/>
            <a:r>
              <a:t>blister resulting from a burn or viral infection represents </a:t>
            </a:r>
            <a:br/>
            <a:r>
              <a:t>accumulation of serous �uid within or immediately beneath </a:t>
            </a:r>
            <a:br/>
            <a:r>
              <a:t>the damaged epidermis of the skin (Fig. 3.12).</a:t>
            </a:r>
            <a:br/>
            <a:r>
              <a:t>Fibrinous Inﬂammation</a:t>
            </a:r>
            <a:br/>
            <a:r>
              <a:t>A �brinous e�udate develops �hen the vascular lea�s are </a:t>
            </a:r>
            <a:br/>
            <a:r>
              <a:t>large or there is a local procoagulant sti�ulus. With a </a:t>
            </a:r>
            <a:br/>
            <a:r>
              <a:t>large increase in vascular permeability, higher-molecular-</a:t>
            </a:r>
            <a:br/>
            <a:r>
              <a:t>weight proteins such as fibrinogen pass out of the blood, </a:t>
            </a:r>
            <a:br/>
            <a:r>
              <a:t>and fibrin is formed and deposited in the extracellular </a:t>
            </a:r>
            <a:br/>
            <a:r>
              <a:t>space. A fibrinous exudate is characteristic of in�ammation </a:t>
            </a:r>
            <a:br/>
            <a:r>
              <a:t>in the lining of body cavities, such as the meninges, peri-</a:t>
            </a:r>
            <a:br/>
            <a:r>
              <a:t>cardium (Fig. 3.13A), and pleura. Histologically, fibrin </a:t>
            </a:r>
            <a:br/>
            <a:r>
              <a:t>appears as an eosinophilic meshwork of threads or some-</a:t>
            </a:r>
            <a:br/>
            <a:r>
              <a:t>times as an amorphous coagulum (Fig. 3.13B). Fibrinous </a:t>
            </a:r>
            <a:br/>
            <a:r>
              <a:t>exudates may be dissolved by fibrinolysis and cleared by </a:t>
            </a:r>
            <a:br/>
            <a:r>
              <a:t>macrophages. If the fibrin is not removed, with time, it may </a:t>
            </a:r>
            <a:br/>
            <a:r>
              <a:t>stimulate the ingrowth of fibroblasts and blood vessels and </a:t>
            </a:r>
            <a:br/>
            <a:r>
              <a:t>thus lead to scarring. Conversion of the fibrinous exudate </a:t>
            </a:r>
            <a:br/>
            <a:r>
              <a:t>to scar tissue �organi�ation� within the pericardial sac leads </a:t>
            </a:r>
            <a:br/>
            <a:r>
              <a:t>to opa�ue fibrous thickening of the pericardium and epi-</a:t>
            </a:r>
            <a:br/>
            <a:r>
              <a:t>cardium in the area of exudation and, if the fibrosis is </a:t>
            </a:r>
            <a:br/>
            <a:r>
              <a:t>extensive, obliteration of the pericardial space.</a:t>
            </a:r>
            <a:br/>
            <a:r>
              <a:t>Purulent (Suppurative) Inﬂammation, Abscess</a:t>
            </a:r>
            <a:br/>
            <a:r>
              <a:t>Purulent in�a��ation is characteri�ed by the produc-</a:t>
            </a:r>
            <a:br/>
            <a:r>
              <a:t>tion of pus� an e�udate consisting of neutrophils� the </a:t>
            </a:r>
            <a:br/>
            <a:r>
              <a:t>li�ue�ed debris of necrotic cells� and ede�a �uid. The </a:t>
            </a:r>
            <a:br/>
            <a:r>
              <a:t>most fre�uent cause of purulent (also called suppurative) </a:t>
            </a:r>
            <a:br/>
            <a:r>
              <a:t>http://ebooksmedicine.net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Serous inflammation is marked by the exudation of cell-poor fluid into spaces created by injury to surface epithelia or into body cavities lined by the peritoneum, pleura, or pericardium. Typically, the fluid in serous inflammation is not infected by destructive organisms and does not contain large numbers of leukocytes, which tend to produce purulent inflammation, described later. In body cavities, the fluid may be derived from the plasma as a result of increased vascular permeability or from the secretions of mesothelial cells as a result of local irritation. Accumulation of fluid in these cavities is called an effusion. Effusions consisting of transudates also occur in noninflammatory conditions, such as reduced blood outflow in heart failure or reduced plasma protein levels in some kidney and liver diseases. The skin blister resulting from a burn or viral infection represents accumulation of serous fluid within or immediately beneath the damaged epidermis of the skin.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 fibrinous exudate develops when the vascular leaks are large or there is a local procoagulant stimulus. With a large increase in vascular permeability, higher-molecular-weight proteins such as fibrinogen pass out of the blood, and fibrin is formed and deposited in the extracellular space. A fibrinous exudate is characteristic of inflammation in the lining of body cavities, such as the meninges, pericardium, and pleura. Histologically, fibrin appears as an eosinophilic meshwork of threads or sometimes as an amorphous coagulum. Fibrinous exudates may be dissolved by fibrinolysis and cleared by macrophages. If the fibrin is not removed, with time, it may stimulate the ingrowth of fibroblasts and blood vessels and thus lead to scarring. Conversion of the fibrinous exudate to scar tissue (organization) within the pericardial sac leads to opaque fibrous thickening of the pericardium and epicardium in the area of exudation and, if the fibrosis is extensive, obliteration of the pericardial space.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Purulent inflammation is characterized by the production of pus, an exudate consisting of neutrophils, the liquefied debris of necrotic cells, and edema fluid. The most frequent cause of purulent (also called suppurative) inflammation is infection with bacteria that cause liquefactive tissue necrosis, such as staphylococci; these pathogens are referred to as pyogenic (pus-producing) bacteria. A common example of an acute suppurative inflammation is acute appendicitis. Abscesses are localized collections of pus caused by suppuration buried in a tissue, an organ, or a confined space. They are produced by seeding of pyogenic bacteria into a tissue. Abscesses have a central region that appears as a mass of necrotic leukocytes and tissue cells. There is usually a zone of preserved neutrophils around this necrotic focus, and outside this region there may be vascular dilation and parenchymal and fibroblastic proliferation, indicating chronic inflammation and repair. In time, the abscess may become walled off and ultimately replaced by connective tissue. When persistent or at critical locations, such as the brain, abscesses may have to be drained surgically.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�lcer-</a:t>
            </a:r>
            <a:br/>
            <a:r>
              <a:t>ation can occur only when tissue necrosis and resultant </a:t>
            </a:r>
            <a:br/>
            <a:r>
              <a:t>in�ammation exist on or near a surface. It is most com-</a:t>
            </a:r>
            <a:br/>
            <a:r>
              <a:t>monly encountered in (1) the mucosa of the mouth, </a:t>
            </a:r>
            <a:br/>
            <a:r>
              <a:t>stomach, intestines, or genitourinary tract, and (2) the skin </a:t>
            </a:r>
            <a:br/>
            <a:r>
              <a:t>and subcutaneous tissue of the lower extremities in older </a:t>
            </a:r>
            <a:br/>
            <a:r>
              <a:t>persons who have circulatory disturbances that predispose </a:t>
            </a:r>
            <a:br/>
            <a:r>
              <a:t>to extensive ischemic necrosis. Acute and chronic in�am-</a:t>
            </a:r>
            <a:br/>
            <a:r>
              <a:t>mation often coexist in ulcers, such as peptic ulcers of the </a:t>
            </a:r>
            <a:br/>
            <a:r>
              <a:t>stomach or duodenum and diabetic ulcers of the legs. </a:t>
            </a:r>
            <a:br/>
            <a:r>
              <a:t>During the acute stage there is intense polymorphonuclear </a:t>
            </a:r>
            <a:br/>
            <a:r>
              <a:t>infiltration and vascular dilation in the margins of the </a:t>
            </a:r>
            <a:br/>
            <a:r>
              <a:t>defect. With chronicity, the margins and base of the ulcer </a:t>
            </a:r>
            <a:br/>
            <a:r>
              <a:t>develop fibroblast proliferation, scarring, and the accumu-</a:t>
            </a:r>
            <a:br/>
            <a:r>
              <a:t>lation of lymphocytes, macrophages, and plasma cells.</a:t>
            </a:r>
            <a:br/>
            <a:r>
              <a:t>OUTCOMES OF ACUTE </a:t>
            </a:r>
            <a:br/>
            <a:r>
              <a:t>INFLAMMATION</a:t>
            </a:r>
            <a:br/>
            <a:r>
              <a:t>Although, as might be expected, many variables may </a:t>
            </a:r>
            <a:br/>
            <a:r>
              <a:t>modify the basic process of in�ammation, including the </a:t>
            </a:r>
            <a:br/>
            <a:r>
              <a:t>in�ammation is infection with bacteria that cause li�ue-</a:t>
            </a:r>
            <a:br/>
            <a:r>
              <a:t>factive tissue necrosis, such as staphylococci; these patho-</a:t>
            </a:r>
            <a:br/>
            <a:r>
              <a:t>gens are referred to as p�ogenic (pus-producing) bacteria. </a:t>
            </a:r>
            <a:br/>
            <a:r>
              <a:t>A common example of an acute suppurative in�ammation </a:t>
            </a:r>
            <a:br/>
            <a:r>
              <a:t>is acute appendicitis. ��������� are locali�ed collections of </a:t>
            </a:r>
            <a:br/>
            <a:r>
              <a:t>pus caused by suppuration buried in a tissue, an organ, or </a:t>
            </a:r>
            <a:br/>
            <a:r>
              <a:t>a confined space. They are produced by seeding of pyo-</a:t>
            </a:r>
            <a:br/>
            <a:r>
              <a:t>genic bacteria into a tissue (Fig. 3.14). Abscesses have a </a:t>
            </a:r>
            <a:br/>
            <a:r>
              <a:t>central region that appears as a mass of necrotic leukocytes </a:t>
            </a:r>
            <a:br/>
            <a:r>
              <a:t>and tissue cells. There is usually a zone of preserved neu-</a:t>
            </a:r>
            <a:br/>
            <a:r>
              <a:t>trophils around this necrotic focus, and outside this region </a:t>
            </a:r>
            <a:br/>
            <a:r>
              <a:t>there may be vascular dilation and parenchymal and fibro-</a:t>
            </a:r>
            <a:br/>
            <a:r>
              <a:t>blastic proliferation, indicating chronic in�ammation and </a:t>
            </a:r>
            <a:br/>
            <a:r>
              <a:t>repair. In time the abscess may become walled off and </a:t>
            </a:r>
            <a:br/>
            <a:r>
              <a:t>ultimately replaced by connective tissue. When persistent </a:t>
            </a:r>
            <a:br/>
            <a:r>
              <a:t>or at critical locations (such as the brain), abscesses may </a:t>
            </a:r>
            <a:br/>
            <a:r>
              <a:t>have to be drained surgically.</a:t>
            </a:r>
            <a:br/>
            <a:r>
              <a:t>Ulcers</a:t>
            </a:r>
            <a:br/>
            <a:r>
              <a:t>An ulcer is a local defect� or e�cavation� of the surface of </a:t>
            </a:r>
            <a:br/>
            <a:r>
              <a:t>an organ or tissue that is produced by the sloughing </a:t>
            </a:r>
            <a:br/>
            <a:r>
              <a:t>Fig. 3.13 Fibrinous pericarditis. (A) Deposits of ﬁbrin on the pericardium. (B) A pink meshwork of ﬁbrin exudate (F) overlies the pericardial surface (P). </a:t>
            </a:r>
            <a:br/>
            <a:r>
              <a:t>B</a:t>
            </a:r>
            <a:br/>
            <a:r>
              <a:t>P</a:t>
            </a:r>
            <a:br/>
            <a:r>
              <a:t>F</a:t>
            </a:r>
            <a:br/>
            <a:r>
              <a:t>A</a:t>
            </a:r>
            <a:br/>
            <a:r>
              <a:t>Fig. 3.14 Purulent inﬂammation. (A) Multiple bacterial abscesses (arrows) in the lung in a case of bronchopneumonia. (B) The abscess contains neutrophils </a:t>
            </a:r>
            <a:br/>
            <a:r>
              <a:t>and cellular debris, and is surrounded by congested blood vessels. </a:t>
            </a:r>
            <a:br/>
            <a:r>
              <a:t>A</a:t>
            </a:r>
            <a:br/>
            <a:r>
              <a:t>B</a:t>
            </a:r>
            <a:br/>
            <a:r>
              <a:t>http://ebooksmedicine.net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Although, as might be expected, many variables may modify the basic process of inflammation, including the nature and intensity of the injury, the site and tissue affected, and the responsiveness of the host, acute inflammatory reactions typically have one of three outcomes: Complete resolution. In a perfect world, all inflammatory reactions, after they have succeeded in eliminating the offending agent, should end with restoration of the site of acute inflammation to normal. This is called resolution and is the usual outcome when the injury is limited or short-lived or when there has been little tissue destruction and the damaged parenchymal cells can regenerate. Resolution involves removal of cellular debris and microbes by macrophages, and resorption of edema fluid by lymphatics. Healing by connective tissue replacement, also known as scarring or fibrosis, occurs after substantial tissue destruction, when the inflammatory injury involves tissues that are incapable of regeneration, or when there is abundant fibrin exudation in tissue or in serous cavities that cannot be adequately cleared. In all these situations, connective tissue grows into the area of damage or exudate, converting it into a mass of fibrous tissue. Progression of the response to chronic inflammation occurs when the acute inflammatory response cannot be resolved, as a result of either the persistence of the injurious agent or some interference with the normal process of healing.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Chronic inflammation is a response of prolonged duration (weeks or months) in which inflammation, tissue injury, and attempts at repair coexist, in varying combinations. It may follow acute inflammation, as described earlier, or may begin insidiously, as a smoldering, sometimes progressive, process without any signs of a preceding acute reaction.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Chronic inflammation arises in the following settings: Persistent infections by microorganisms that are difficult to eradicate, such as mycobacteria and certain viruses, fungi, and parasites. These organisms often evoke an immune reaction called delayed-type hypersensitivity. The inflammatory response sometimes takes a specific pattern called granulomatous inflammation. In other cases, unresolved acute inflammation evolves into chronic inflammation, such as when an acute bacterial infection of the lung progresses to a chronic lung abscess. Hypersensitivity diseases. Chronic inflammation plays an important role in a group of diseases that are caused by excessive and inappropriate activation of the immune system. In autoimmune diseases, self (auto) antigens evoke a self-perpetuating immune reaction that results in chronic inflammation and tissue damage; examples of such diseases are rheumatoid arthritis and multiple sclerosis. In allergic diseases, chronic inflammation is the result of excessive immune responses against common environmental substances, as in bronchial asthma. Because these autoimmune and allergic reactions are triggered against antigens that are normally harmless, the reactions serve no useful purpose and only cause disease. Such diseases may show morphologic patterns of mixed acute and chronic inflammation because they are characterized by repeated bouts of inflammation. Fibrosis may dominate the late stages. Prolonged exposure to potentially toxic agents, either exogenous or endogenous. An example of an exogenous agent is particulate silica, a nondegradable inanimate material that, when inhaled for prolonged periods, results in an inflammatory lung disease called silicosis. Atherosclerosis is a chronic inflammatory process affecting the arterial wall that is thought to be induced, at least in part, by excessive production and tissue deposition of endogenous cholesterol and other lipids. Some forms of chronic inflammation may be important in the pathogenesis of diseases that are not conventionally thought of as inflammatory disorders. These include neurodegenerative diseases such as Alzheimer disease, metabolic syndrome and the associated type 2 diabetes, and certain cancers in which inflammatory reactions promote tumor development. The role of inflammation in these conditions is discussed in the relevant chapters.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In a perfect world, all in�amma-</a:t>
            </a:r>
            <a:br/>
            <a:r>
              <a:t>tory reactions, after they have succeeded in eliminating </a:t>
            </a:r>
            <a:br/>
            <a:r>
              <a:t>the offending agent, should end with restoration of the </a:t>
            </a:r>
            <a:br/>
            <a:r>
              <a:t>site of acute in�ammation to normal. This is called reso�</a:t>
            </a:r>
            <a:br/>
            <a:r>
              <a:t>lution and is the usual outcome when the injury is </a:t>
            </a:r>
            <a:br/>
            <a:r>
              <a:t>limited or short-lived or when there has been little tissue </a:t>
            </a:r>
            <a:br/>
            <a:r>
              <a:t>Fig. 3.15 The morphology of an ulcer. (A) A chronic duodenal ulcer. (B) Low-power cross-section view of a duodenal ulcer crater with an acute inﬂamma-</a:t>
            </a:r>
            <a:br/>
            <a:r>
              <a:t>tory exudate in the base. </a:t>
            </a:r>
            <a:br/>
            <a:r>
              <a:t>A</a:t>
            </a:r>
            <a:br/>
            <a:r>
              <a:t>B</a:t>
            </a:r>
            <a:br/>
            <a:r>
              <a:t>Fig. 3.16 Outcomes of acute inﬂammation: resolution, healing by ﬁbrosis, or chronic inﬂammation. The components of the various reactions and their func-</a:t>
            </a:r>
            <a:br/>
            <a:r>
              <a:t>tional outcomes are listed. </a:t>
            </a:r>
            <a:br/>
            <a:r>
              <a:t>ACUTE INFLAMMATION</a:t>
            </a:r>
            <a:br/>
            <a:r>
              <a:t>• Vascular changes</a:t>
            </a:r>
            <a:br/>
            <a:r>
              <a:t>• Neutrophil recruitment</a:t>
            </a:r>
            <a:br/>
            <a:r>
              <a:t>• Mediators</a:t>
            </a:r>
            <a:br/>
            <a:r>
              <a:t>RESOLUTION</a:t>
            </a:r>
            <a:br/>
            <a:r>
              <a:t>• Clearance of injurious stimuli</a:t>
            </a:r>
            <a:br/>
            <a:r>
              <a:t>• Clearance of mediators and acute</a:t>
            </a:r>
            <a:br/>
            <a:r>
              <a:t>inflammatory cells</a:t>
            </a:r>
            <a:br/>
            <a:r>
              <a:t>• Replacement of injured cells</a:t>
            </a:r>
            <a:br/>
            <a:r>
              <a:t>• Normal function</a:t>
            </a:r>
            <a:br/>
            <a:r>
              <a:t>FIBROSIS</a:t>
            </a:r>
            <a:br/>
            <a:r>
              <a:t>• Loss of function</a:t>
            </a:r>
            <a:br/>
            <a:r>
              <a:t>CHRONIC INFLAMMATION</a:t>
            </a:r>
            <a:br/>
            <a:r>
              <a:t>• Angiogenesis</a:t>
            </a:r>
            <a:br/>
            <a:r>
              <a:t>• Mononuclear cell infiltrate</a:t>
            </a:r>
            <a:br/>
            <a:r>
              <a:t>• Fibrosis (scar)</a:t>
            </a:r>
            <a:br/>
            <a:r>
              <a:t>Progression</a:t>
            </a:r>
            <a:br/>
            <a:r>
              <a:t>Healing</a:t>
            </a:r>
            <a:br/>
            <a:r>
              <a:t>Pus formation (abscess)</a:t>
            </a:r>
            <a:br/>
            <a:r>
              <a:t>Healing</a:t>
            </a:r>
            <a:br/>
            <a:r>
              <a:t>Healing</a:t>
            </a:r>
            <a:br/>
            <a:r>
              <a:t>• Infarction</a:t>
            </a:r>
            <a:br/>
            <a:r>
              <a:t>• Bacterial infections</a:t>
            </a:r>
            <a:br/>
            <a:r>
              <a:t>• Toxins</a:t>
            </a:r>
            <a:br/>
            <a:r>
              <a:t>• Trauma</a:t>
            </a:r>
            <a:br/>
            <a:r>
              <a:t>INJURY</a:t>
            </a:r>
            <a:br/>
            <a:r>
              <a:t>• Viral infections</a:t>
            </a:r>
            <a:br/>
            <a:r>
              <a:t>• Chronic infections</a:t>
            </a:r>
            <a:br/>
            <a:r>
              <a:t>• Persistent injury</a:t>
            </a:r>
            <a:br/>
            <a:r>
              <a:t>• Autoimmune diseases</a:t>
            </a:r>
            <a:br/>
            <a:r>
              <a:t>INJURY</a:t>
            </a:r>
            <a:br/>
            <a:r>
              <a:t>http://ebooksmedicine.net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a:pPr>
              <a:defRPr sz="1600">
                <a:solidFill>
                  <a:srgbClr val="000000"/>
                </a:solidFill>
              </a:defRPr>
            </a:pPr>
            <a:r>
              <a:t>In contrast to acute inflammation, which is manifested by vascular changes, edema, and predominantly neutrophilic infiltration, chronic inflammation is characterized by the following: Infiltration with mononuclear cells, which include macrophages, lymphocytes, and plasma cells. Tissue destruction, induced by the persistent offending agent or by the inflammatory cells. Attempts at healing by connective tissue replacement of damaged tissue, accomplished by angiogenesis (proliferation of small blood vessels) and, in particular, fibrosis.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800" b="1">
                <a:solidFill>
                  <a:srgbClr val="000000"/>
                </a:solidFill>
              </a:defRPr>
            </a:pPr>
          </a:p>
        </p:txBody>
      </p:sp>
      <p:sp>
        <p:nvSpPr>
          <p:cNvPr id="3" name="Content Placeholder 2"/>
          <p:cNvSpPr>
            <a:spLocks noGrp="1"/>
          </p:cNvSpPr>
          <p:nvPr>
            <p:ph idx="1"/>
          </p:nvPr>
        </p:nvSpPr>
        <p:spPr/>
        <p:txBody>
          <a:bodyPr/>
          <a:lstStyle/>
          <a:p/>
        </p:txBody>
      </p:sp>
      <p:sp>
        <p:nvSpPr>
          <p:cNvPr id="4" name="TextBox 3"/>
          <p:cNvSpPr txBox="1"/>
          <p:nvPr/>
        </p:nvSpPr>
        <p:spPr>
          <a:xfrm>
            <a:off x="914400" y="1828800"/>
            <a:ext cx="7315200" cy="1097280"/>
          </a:xfrm>
          <a:prstGeom prst="rect">
            <a:avLst/>
          </a:prstGeom>
          <a:noFill/>
        </p:spPr>
        <p:txBody>
          <a:bodyPr wrap="none">
            <a:spAutoFit/>
          </a:bodyPr>
          <a:lstStyle/>
          <a:p>
            <a:pPr algn="l">
              <a:spcAft>
                <a:spcPts val="600"/>
              </a:spcAft>
              <a:defRPr sz="1200" b="1">
                <a:solidFill>
                  <a:srgbClr val="000000"/>
                </a:solidFill>
              </a:defRPr>
            </a:pPr>
            <a:r>
              <a:t>Figure: Acute to chronic transition occurs when the acute</a:t>
            </a:r>
            <a:br/>
            <a:r>
              <a:t>in�ammatory response cannot be resolved, as a result</a:t>
            </a:r>
            <a:br/>
            <a:r>
              <a:t>of either the persistence of the injurious agent or some</a:t>
            </a:r>
            <a:br/>
            <a:r>
              <a:t>interference with the normal process of healing.</a:t>
            </a:r>
            <a:br/>
            <a:r>
              <a:t>CHRONIC INFLAMMATION</a:t>
            </a:r>
            <a:br/>
            <a:r>
              <a:t>Chronic in�a��ation is a response of prolonged dura-</a:t>
            </a:r>
            <a:br/>
            <a:r>
              <a:t>tion ��ee�s or �onths� in �hich in�a��ation� tissue </a:t>
            </a:r>
            <a:br/>
            <a:r>
              <a:t>in�ury� and atte�pts at repair coe�ist� in varying co�bi-</a:t>
            </a:r>
            <a:br/>
            <a:r>
              <a:t>nations. It may follow acute in�ammation, as described </a:t>
            </a:r>
            <a:br/>
            <a:r>
              <a:t>earlier, or may begin insidiously, as a smoldering, some-</a:t>
            </a:r>
            <a:br/>
            <a:r>
              <a:t>times progressive, process without any signs of a preced-</a:t>
            </a:r>
            <a:br/>
            <a:r>
              <a:t>ing acute reaction.</a:t>
            </a:r>
            <a:br/>
            <a:r>
              <a:t>Causes of Chronic Inﬂammation</a:t>
            </a:r>
            <a:br/>
            <a:r>
              <a:t>Chronic in�ammation arises in the following settings:</a:t>
            </a:r>
            <a:br/>
            <a:r>
              <a:t>� Persistent infections by microorganisms that are diffi-</a:t>
            </a:r>
            <a:br/>
            <a:r>
              <a:t>cult to eradicate, such as mycobacteria and certain</a:t>
            </a:r>
            <a:br/>
            <a:r>
              <a:t>viruses, fungi, and parasites. These organisms often</a:t>
            </a:r>
            <a:br/>
            <a:r>
              <a:t>evoke an immune reaction called dela�ed�t�pe h�persen�</a:t>
            </a:r>
            <a:br/>
            <a:r>
              <a:t>sitivit� (Chapter 5). The in�ammatory response some-</a:t>
            </a:r>
            <a:br/>
            <a:r>
              <a:t>times takes a specific pattern called granulomatous</a:t>
            </a:r>
            <a:br/>
            <a:r>
              <a:t>in�ammation (discussed later). In other cases, unresolved</a:t>
            </a:r>
            <a:br/>
            <a:r>
              <a:t>acute in�ammation evolves into chronic in�ammation,</a:t>
            </a:r>
            <a:br/>
            <a:r>
              <a:t>such as when an acute bacterial infection of the lung</a:t>
            </a:r>
            <a:br/>
            <a:r>
              <a:t>progresses to a chronic lung abscess.</a:t>
            </a:r>
            <a:br/>
            <a:r>
              <a:t>� �ypersensitivity diseases. Chronic in�ammation plays</a:t>
            </a:r>
            <a:br/>
            <a:r>
              <a:t>an important role in a group of diseases that are caused</a:t>
            </a:r>
            <a:br/>
            <a:r>
              <a:t>by excessive and inappropriate activation of the immune</a:t>
            </a:r>
            <a:br/>
            <a:r>
              <a:t>system (Chapter 5). In autoimmune diseases, self (auto)</a:t>
            </a:r>
            <a:br/>
            <a:r>
              <a:t>antigens evoke a self-perpetuating immune reaction</a:t>
            </a:r>
            <a:br/>
            <a:r>
              <a:t>that results in chronic in�ammation and tissue damage;</a:t>
            </a:r>
            <a:br/>
            <a:r>
              <a:t>examples of such diseases are rheumatoid arthritis and</a:t>
            </a:r>
            <a:br/>
            <a:r>
              <a:t>multiple sclerosis. In allergic diseases, chronic in�amma-</a:t>
            </a:r>
            <a:br/>
            <a:r>
              <a:t>tion is the result of excessive immune responses against</a:t>
            </a:r>
            <a:br/>
            <a:r>
              <a:t>common environmental substances, as in bronchial</a:t>
            </a:r>
            <a:br/>
            <a:r>
              <a:t>asthma. Because these autoimmune and allergic reac-</a:t>
            </a:r>
            <a:br/>
            <a:r>
              <a:t>tions are triggered against antigens that are normally</a:t>
            </a:r>
            <a:br/>
            <a:r>
              <a:t>harmless, the reactions serve no useful purpose and</a:t>
            </a:r>
            <a:br/>
            <a:r>
              <a:t>only cause disease. Such diseases may show morpho-</a:t>
            </a:r>
            <a:br/>
            <a:r>
              <a:t>logic patterns of mixed acute and chronic in�ammation</a:t>
            </a:r>
            <a:br/>
            <a:r>
              <a:t>because they are characterized by repeated bouts of</a:t>
            </a:r>
            <a:br/>
            <a:r>
              <a:t>in�ammation. Fibrosis may dominate the late stages.</a:t>
            </a:r>
            <a:br/>
            <a:r>
              <a:t>� Prolonged e�posure to potentially to�ic agents� either</a:t>
            </a:r>
            <a:br/>
            <a:r>
              <a:t>e�ogenous or endogenous. An example of an exoge-</a:t>
            </a:r>
            <a:br/>
            <a:r>
              <a:t>nous agent is particulate silica, a nondegradable inani-</a:t>
            </a:r>
            <a:br/>
            <a:r>
              <a:t>mate material that, when inhaled for prolonged periods,</a:t>
            </a:r>
            <a:br/>
            <a:r>
              <a:t>results in an in�ammatory lung disease called silicosis</a:t>
            </a:r>
            <a:br/>
            <a:r>
              <a:t>(Chapter 13). �therosclerosis (Chapter 10) is a chronic</a:t>
            </a:r>
            <a:br/>
            <a:r>
              <a:t>in�ammatory process affecting the arterial wall that is</a:t>
            </a:r>
            <a:br/>
            <a:r>
              <a:t>thought to be induced, at least in part, by excessive</a:t>
            </a:r>
            <a:br/>
            <a:r>
              <a:t>production and tissue deposition of endogenous choles-</a:t>
            </a:r>
            <a:br/>
            <a:r>
              <a:t>terol and other lipids.</a:t>
            </a:r>
            <a:br/>
            <a:r>
              <a:t>� Some forms of chronic in�ammation may be important</a:t>
            </a:r>
            <a:br/>
            <a:r>
              <a:t>in the pathogenesis of diseases that are not convention-</a:t>
            </a:r>
            <a:br/>
            <a:r>
              <a:t>Fig. 3.17 (A) Chronic inﬂammation in the lung, showing all three charac-</a:t>
            </a:r>
            <a:br/>
            <a:r>
              <a:t>teristic histologic features: (1) collection of chronic inﬂammatory cells (*), </a:t>
            </a:r>
            <a:br/>
            <a:r>
              <a:t>(2) destruction of parenchyma (normal alveoli are replaced by spaces lined </a:t>
            </a:r>
            <a:br/>
            <a:r>
              <a:t>by cuboidal epithelium, arrowheads), and (3) replacement by connective tissue </a:t>
            </a:r>
            <a:br/>
            <a:r>
              <a:t>(ﬁbrosis, arrows). (B) In contrast, in acute inﬂammation of the lung (acute </a:t>
            </a:r>
            <a:br/>
            <a:r>
              <a:t>bronchopneumonia), neutrophils ﬁll the alveolar spaces and blood vessels </a:t>
            </a:r>
            <a:br/>
            <a:r>
              <a:t>are congested. </a:t>
            </a:r>
            <a:br/>
            <a:r>
              <a:t>A</a:t>
            </a:r>
            <a:br/>
            <a:r>
              <a:t>*</a:t>
            </a:r>
            <a:br/>
            <a:r>
              <a:t>B</a:t>
            </a:r>
            <a:br/>
            <a:r>
              <a:t>http://ebooksmedicine.net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