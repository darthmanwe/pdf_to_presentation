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Enflamasyon ve onarım, yaralanma ve enfeksiyona yanıt olarak temel süreçlerdir. Akut faz yanıtı, esas olarak karaciğerde sentezlenen, akut faz proteinleri olarak bilinen plazma proteinlerinin üretimi ile karakterize edilen inflamasyonun kritik bir bileşenidir. Kandaki seviyeleri, enflamatuar uyaranlara yanıt olarak önemli ölçüde artabilir. Bu tepki sadece yaralanma nedenini ortadan kaldırmaya yardımcı olmakla kalmaz, aynı zamanda onarım sürecini de başlatır. İyileşme olarak da adlandırılan onarım süreci, rejenerasyon veya yara oluşumu yoluyla meydana gelebilen bir yaralanma sonrası doku mimarisinin ve işlevinin restorasyonunu içerir.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Akut faz yanıtı, akut faz proteinleri olarak adlandırılan plazma proteinlerinin üretiminden oluşur. Çoğunlukla karaciğerde sentezlenirler ve kandaki seviyeleri, enflamatuar uyaranlara verilen yanıtın bir parçası olarak birkaç yüz kata kadar artabilir. Bu proteinlerin en iyi bilinenlerinden üçü C-reaktif protein (CRP), fibrinojen ve serum amiloid A (SAA) proteinidir.</a:t>
            </a:r>
          </a:p>
          <a:p>
            <a:pPr>
              <a:defRPr sz="1600">
                <a:solidFill>
                  <a:srgbClr val="000000"/>
                </a:solidFill>
              </a:defRPr>
            </a:pPr>
            <a:r>
              <a:t>Bazen iyileşme olarak da adlandırılan onarım, bir yaralanmadan sonra doku mimarisinin ve işlevinin restorasyonunu ifade eder. Mikroplara ve yaralı dokulara karşı enflamatuar yanıt, sadece bu tehlikeleri ortadan kaldırmakla kalmaz, aynı zamanda onarım sürecini de harekete geçirir.</a:t>
            </a:r>
          </a:p>
          <a:p>
            <a:pPr>
              <a:defRPr sz="1600">
                <a:solidFill>
                  <a:srgbClr val="000000"/>
                </a:solidFill>
              </a:defRPr>
            </a:pPr>
            <a:r>
              <a:t>Rejenerasyon, yaralanmadan kurtulan ve o dokunun olgun hücrelerini üretme kapasitesini koruyan hücrelerin çoğalmasıyla gerçekleşir. Rejenerasyondan sorumlu hücreler olgun farklılaşmış hücreler veya daha yaygın olarak doku kök hücreleri olabilir.</a:t>
            </a:r>
          </a:p>
          <a:p>
            <a:pPr>
              <a:defRPr sz="1600">
                <a:solidFill>
                  <a:srgbClr val="000000"/>
                </a:solidFill>
              </a:defRPr>
            </a:pPr>
            <a:r>
              <a:t>Yara oluşumu. Yaralı dokular tam olarak iade edilemediğinde veya dokunun destekleyici yapıları hasar gördüğünde, yara izi olarak bilinen bir süreç olan bağ (fibröz) dokunun yerleştirilmesiyle onarım meydana gelir.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Hasarlı dokuların onarımı, rejenerasyon ve skar oluşumu olmak üzere iki tür reaksiyonla gerçekleşir. Dokuların kendilerini onarma yeteneği, kısmen, içsel proliferatif kapasiteleri ile belirlenir. Kök hücreler, bir yavru hücrenin kök hücre olarak kaldığı ve diğer yavru hücrenin farklılaşmaya başladığı bir mitoz olarak tanımlanan asimetrik hücre bölünmesine uğrama konusunda önemli bir yeteneğe sahiptir.</a:t>
            </a:r>
          </a:p>
          <a:p>
            <a:pPr>
              <a:defRPr sz="1600">
                <a:solidFill>
                  <a:srgbClr val="000000"/>
                </a:solidFill>
              </a:defRPr>
            </a:pPr>
            <a:r>
              <a:t>Normal doku mimarisinin restorasyonu ancak artık doku yapısal olarak sağlam ise gerçekleşebilir. Doku mimarisinin ciddi şekilde hasar gördüğü durumlarda, bağ dokusunun birikmesini içeren skar oluşumu yoluyla onarım sağlanır. Bu süreç, yenilenemeyen dokuların yapısal bütünlüğünün korunmasında çok önemlidir.</a:t>
            </a:r>
          </a:p>
          <a:p>
            <a:pPr>
              <a:defRPr sz="1600">
                <a:solidFill>
                  <a:srgbClr val="000000"/>
                </a:solidFill>
              </a:defRPr>
            </a:pPr>
            <a:r>
              <a:t>Hücre proliferasyonu, büyüme faktörleri tarafından sağlanan sinyaller ve hücre dışı matristen gelen sinyaller tarafından yönlendirilir. Bazıları birden fazla hücre tipine etki eden ve diğerleri hücre seçici olan birçok farklı büyüme faktörü tanımlanmıştır. Bu faktörler, hücre bölünmesini ve doku yenilenmesini teşvik ederek onarım sürecinde çok önemli bir rol oynar.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Şekil:•</a:t>
            </a:r>
            <a:br/>
            <a:r>
              <a:t>Rejenerasyon. Bazı dokular hasarlı kompozitin yerini alabilir.</a:t>
            </a:r>
            <a:br/>
            <a:r>
              <a:t>nents ve esasen normal bir duruma geri döner; Bu işleme denir</a:t>
            </a:r>
            <a:br/>
            <a:r>
              <a:t>Rejenerasyon. Rejenerasyon, yüzey oluşturan hücrelerin çoğalmasıyla gerçekleşir.</a:t>
            </a:r>
            <a:br/>
            <a:r>
              <a:t>Yaralanmayı hafifletin ve olgun hücreleri üretme kapasitesini koruyun</a:t>
            </a:r>
            <a:br/>
            <a:r>
              <a:t>o dokunun. Rejenerasyondan sorumlu hücreler şunlar olabilir</a:t>
            </a:r>
            <a:br/>
            <a:r>
              <a:t>olgun farklılaşmış hücreler veya daha yaygın olarak doku kök hücreleri</a:t>
            </a:r>
            <a:br/>
            <a:r>
              <a:t>(daha sonra tartışılacaktır).</a:t>
            </a:r>
            <a:br/>
            <a:r>
              <a:t>•</a:t>
            </a:r>
            <a:br/>
            <a:r>
              <a:t>Yara oluşumu. Yaralı dokular tamamlanamadığında</a:t>
            </a:r>
            <a:br/>
            <a:r>
              <a:t>iade veya dokunun destekleyici yapıları</a:t>
            </a:r>
            <a:br/>
            <a:r>
              <a:t>hasarlı, onarım bağın (lifli) döşenmesiyle gerçekleşir</a:t>
            </a:r>
            <a:br/>
            <a:r>
              <a:t>doku, yara izi olarak bilinen bir süreç. Fibröz yara izi sağlar</a:t>
            </a:r>
            <a:br/>
            <a:r>
              <a:t>Yaralı dokunun genellikle mümkün olduğu yeterli yapısal stabilite</a:t>
            </a:r>
            <a:br/>
            <a:r>
              <a:t>işlev görmek. Kronik inflamasyondan kaynaklanan yara izi olduğunda,</a:t>
            </a:r>
            <a:br/>
            <a:r>
              <a:t>akciğerlerde, karaciğerde, böbrekte ve diğer parankimal organlarda görülür</a:t>
            </a:r>
            <a:br/>
            <a:r>
              <a:t>Fibrozis olarak adlandırılır.</a:t>
            </a:r>
            <a:br/>
            <a:r>
              <a:t>Birçok yaygın yaralanma türünden sonra, hem rejenerasyon hem de yara izi</a:t>
            </a:r>
            <a:br/>
            <a:r>
              <a:t>oluşumu onarıma çeşitli derecelerde katkıda bulunur. Önce tartışıyoruz</a:t>
            </a:r>
            <a:br/>
            <a:r>
              <a:t>hücresel proliferasyon ve rejenerasyon mekanizmaları ve daha sonra iyileşme-</a:t>
            </a:r>
            <a:br/>
            <a:r>
              <a:t>Yara izi oluşumu ile ing.</a:t>
            </a:r>
            <a:br/>
            <a:r>
              <a:t>Hücre ve Doku Yenilenmesi</a:t>
            </a:r>
            <a:br/>
            <a:r>
              <a:t>Dokuların kendilerini onarma yeteneği kısmen belirlenir,</a:t>
            </a:r>
            <a:br/>
            <a:r>
              <a:t>içsel proliferatif kapasiteleri ile. Bazı dokularda hücreler</a:t>
            </a:r>
            <a:br/>
            <a:r>
              <a:t>sürekli kaybolur ve sürekli olarak yeni hücrelerle değiştirilmelidir</a:t>
            </a:r>
            <a:br/>
            <a:r>
              <a:t>doku kök hücrelerinden elde edilen ve kalan</a:t>
            </a:r>
            <a:br/>
            <a:r>
              <a:t>olgun doku hücreleri. Bu tip dokular hematopoetik hücreleri içerir</a:t>
            </a:r>
            <a:br/>
            <a:r>
              <a:t>kemik iliğinde ve bazal gibi birçok yüzey epitelinde</a:t>
            </a:r>
            <a:br/>
            <a:r>
              <a:t>Derinin skuamöz epitelinin katmanları ve kolumnar</a:t>
            </a:r>
            <a:br/>
            <a:r>
              <a:t>gastrointestinal sistemin epiteli. Bu dokular kolayca</a:t>
            </a:r>
            <a:br/>
            <a:r>
              <a:t>Kök hücre havuzu korunduğu sürece yaralanmadan sonra yenilenir.</a:t>
            </a:r>
            <a:br/>
            <a:r>
              <a:t>Diğer dokular normalde G0 evresinde olan hücrelerden oluşur</a:t>
            </a:r>
            <a:br/>
            <a:r>
              <a:t>SAĞLIKLI</a:t>
            </a:r>
            <a:br/>
            <a:r>
              <a:t>REJENERASYON</a:t>
            </a:r>
            <a:br/>
            <a:r>
              <a:t>YARA OLUŞUMU</a:t>
            </a:r>
            <a:br/>
            <a:r>
              <a:t>Hafif, yüzeysel yaralanma</a:t>
            </a:r>
            <a:br/>
            <a:r>
              <a:t>Ağır yaralanma</a:t>
            </a:r>
            <a:br/>
            <a:r>
              <a:t>ŞEKİL 2.20 Doku onarım mekanizmaları: rejenerasyon ve skar forma-</a:t>
            </a:r>
            <a:br/>
            <a:r>
              <a:t>Tion. Epitele zarar veren ancak epitele zarar vermeyen hafif yaralanmayı takiben</a:t>
            </a:r>
            <a:br/>
            <a:r>
              <a:t>altta yatan doku, rejenerasyon ile gerçekleşir, ancak daha fazla se-</a:t>
            </a:r>
            <a:br/>
            <a:r>
              <a:t>Bağ dokusu çerçevesine zarar veren vere yaralanması, onarım ile yapılır</a:t>
            </a:r>
            <a:br/>
            <a:r>
              <a:t>yara izi oluşumu.</a:t>
            </a:r>
            <a:br/>
            <a:r>
              <a:t>2. BÖLÜM</a:t>
            </a:r>
            <a:br/>
            <a:r>
              <a:t>Enflamasyon ve Onarım</a:t>
            </a:r>
            <a:br/>
            <a:r>
              <a:t>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Rejenerasyon, yaralanmadan kurtulan ve o dokunun olgun hücrelerini üretme kapasitesini koruyan hücrelerin çoğalmasıyla gerçekleşir. Rejenerasyondan sorumlu hücreler olgun farklılaşmış hücreler veya daha yaygın olarak doku kök hücreleri olabilir. Bu kök hücreler, asimetrik bölünme olarak bilinen bir süreç olan hem farklılaşmış hücreleri hem de ek kök hücreleri bölme ve üretme yeteneğine sahiptir.</a:t>
            </a:r>
          </a:p>
          <a:p>
            <a:pPr>
              <a:defRPr sz="1600">
                <a:solidFill>
                  <a:srgbClr val="000000"/>
                </a:solidFill>
              </a:defRPr>
            </a:pPr>
            <a:r>
              <a:t>Dokuların yenilenme yeteneği, kök hücrelerin varlığına ve hücre dışı matrisin bütünlüğüne bağlıdır. Matrisin sağlam olduğu dokularda, rejenerasyon normal fonksiyonu geri yükleyebilir. Bununla birlikte, matris hasar görürse, rejenerasyon sınırlıdır ve skar oluşumu ile onarım gerekli hale gelir.</a:t>
            </a:r>
          </a:p>
          <a:p>
            <a:pPr>
              <a:defRPr sz="1600">
                <a:solidFill>
                  <a:srgbClr val="000000"/>
                </a:solidFill>
              </a:defRPr>
            </a:pPr>
            <a:r>
              <a:t>Büyüme faktörleri rejenerasyon sürecinde çok önemlidir. Hasar bölgesine yakın hücreler tarafından üretilirler ve hedef hücreler üzerindeki spesifik reseptörlere bağlanarak hareket ederler, hücre çoğalmasına ve doku yenilenmesine yol açan bir dizi olayı tetiklerler. Bu faktörler, onarım sürecinin iyi koordine edilmiş ve etkili olmasını sağlar.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Yara oluşumu, yaralı dokular tam olarak iade edilemediğinde veya dokunun destekleyici yapıları hasar gördüğünde ortaya çıkar. Bu işlem, orijinal doku mimarisini bir yara izi ile değiştiren bağ (lifli) dokunun yerleştirilmesini içerir. Bu, yapısal bütünlüğü geri yüklerken, tam işlevi geri getirmeyebilir.</a:t>
            </a:r>
          </a:p>
          <a:p>
            <a:pPr>
              <a:defRPr sz="1600">
                <a:solidFill>
                  <a:srgbClr val="000000"/>
                </a:solidFill>
              </a:defRPr>
            </a:pPr>
            <a:r>
              <a:t>Yara izi süreci, fibroblastların aktivasyonu, hücre dışı matris proteinlerinin birikmesi ve yeni oluşan dokunun yeniden şekillenmesi dahil olmak üzere birkaç adımı içerir. Fibroblastlar yaralanma bölgesine göç eder ve skar dokusunun büyük kısmını oluşturan kollajen ve diğer matris bileşenlerini üretir.</a:t>
            </a:r>
          </a:p>
          <a:p>
            <a:pPr>
              <a:defRPr sz="1600">
                <a:solidFill>
                  <a:srgbClr val="000000"/>
                </a:solidFill>
              </a:defRPr>
            </a:pPr>
            <a:r>
              <a:t>Anjiyogenez, yeni kan damarlarının oluşumu da skar oluşumunun kritik bir bileşenidir. Yeni oluşan dokunun, skar dokusunun hayatta kalması ve işlevi için gerekli olan yeterli kan akışını almasını sağlar. Kollajen birikimi ve bozunması arasındaki denge, onarım işleminin nihai sonucunu belirler.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Tablo: Büyüme faktörleri tipik olarak</a:t>
            </a:r>
            <a:br/>
            <a:r>
              <a:t>hasar bölgesine yakın hücreler tarafından üretilir. En önemlisi</a:t>
            </a:r>
            <a:br/>
            <a:r>
              <a:t>Bu büyüme faktörlerinin kaynakları, tarafından aktive edilen makrofajlardır.</a:t>
            </a:r>
            <a:br/>
            <a:r>
              <a:t>doku hasarı, ancak epitelyal ve stromal hücreler de bir kısmını üretir.</a:t>
            </a:r>
            <a:br/>
            <a:r>
              <a:t>bu faktörler. Birkaç büyüme faktörü hücre dışı matrise bağlanır</a:t>
            </a:r>
            <a:br/>
            <a:r>
              <a:t>(ECM) proteinleri ve doku yaralanması bölgesinde yüksek</a:t>
            </a:r>
            <a:br/>
            <a:r>
              <a:t>Konsantrasyon. Tüm büyüme faktörleri, sinyal yollarını aktive eder.</a:t>
            </a:r>
            <a:br/>
            <a:r>
              <a:t>hücre bölünmesini uyarır. Büyüme faktörlerine cevap vermenin yanı sıra,</a:t>
            </a:r>
            <a:br/>
            <a:r>
              <a:t>hücreler ECM proteinlerine bağlanmak için integrinler kullanır; İntegrinlerden gelen sinyaller</a:t>
            </a:r>
            <a:br/>
            <a:r>
              <a:t>Ayrıca hücre proliferasyonunu uyarır.</a:t>
            </a:r>
            <a:br/>
            <a:r>
              <a:t>Rejenerasyon sürecinde, artık hücrelerin çoğalması</a:t>
            </a:r>
            <a:br/>
            <a:r>
              <a:t>kök hücrelerden olgun hücrelerin gelişimi ile desteklenir. Sap</a:t>
            </a:r>
            <a:br/>
            <a:r>
              <a:t>Hücreler, embriyolarda kendi kendini yenileyebilen hücreler olarak keşfedildi.</a:t>
            </a:r>
            <a:br/>
            <a:r>
              <a:t>tüm olgun hücre soylarına (totipotansiyel) yükselir ve embry- olarak adlandırılır.</a:t>
            </a:r>
            <a:br/>
            <a:r>
              <a:t>onal kök hücreler (ES hücreleri). Kök hücreler daha sonra</a:t>
            </a:r>
            <a:br/>
            <a:r>
              <a:t>Çoğu yetişkin doku, burada doku kök hücreleri olarak adlandırılır. ES'den farklı olarak</a:t>
            </a:r>
            <a:br/>
            <a:r>
              <a:t>hücreler, doku kök hücrelerinin kendini yenileme kapasitesi daha sınırlıdır ve</a:t>
            </a:r>
            <a:br/>
            <a:r>
              <a:t>Tipik olarak içinde bulundukları dokuya yol açarlar. Tüm kök hücreler</a:t>
            </a:r>
            <a:br/>
            <a:r>
              <a:t>tanımlanmış asimetrik hücre bölünmesi geçirme konusunda önemli bir yeteneğe sahip olmak</a:t>
            </a:r>
            <a:br/>
            <a:r>
              <a:t>bir yavru hücrenin kök hücre olarak kaldığı bir mitoz olarak (muhasebe</a:t>
            </a:r>
            <a:br/>
            <a:r>
              <a:t>kendini yenilemek için) ve diğer yavru hücre farklılaşmaya başlar</a:t>
            </a:r>
            <a:br/>
            <a:r>
              <a:t>(kök hücrelerin olgun hücre üretme kapasitesinin hesaplanması</a:t>
            </a:r>
            <a:br/>
            <a:r>
              <a:t>türleri). Doku kök hücreleri özel nişlerde yaşar ve yaralanmayı tetikler</a:t>
            </a:r>
            <a:br/>
            <a:r>
              <a:t>çoğalmalarını ve farklılaşmalarını teşvik eden sinyaller</a:t>
            </a:r>
            <a:br/>
            <a:r>
              <a:t>yaralı dokuyu yeniden dolduran olgun hücreler. Böylece, yapabilirler</a:t>
            </a:r>
            <a:br/>
            <a:r>
              <a:t>Yaralı dokuların yenilenmesine katkıda bulunur, özellikle de</a:t>
            </a:r>
            <a:br/>
            <a:r>
              <a:t>Yaralanmadan kurtulan farklılaşmış hücrelerin içsel olarak sınırlı olması veya hiç olmaması</a:t>
            </a:r>
            <a:br/>
            <a:r>
              <a:t>proliferatif kapasite.</a:t>
            </a:r>
            <a:br/>
            <a:r>
              <a:t>Yaralıların yerine konmasında rejenerasyonun önemi</a:t>
            </a:r>
            <a:br/>
            <a:r>
              <a:t>dokular farklı doku tiplerinde ve şiddeti ile değişir</a:t>
            </a:r>
            <a:br/>
            <a:r>
              <a:t>Yaralanma.</a:t>
            </a:r>
            <a:br/>
            <a:r>
              <a:t>•</a:t>
            </a:r>
            <a:br/>
            <a:r>
              <a:t>Bağırsak sistemi ve cildin epitelinde sağlanan, alt-</a:t>
            </a:r>
            <a:br/>
            <a:r>
              <a:t>ING bazal membran sağlamdır, yaralanan hücreler hızla</a:t>
            </a:r>
            <a:br/>
            <a:r>
              <a:t>rezidüel hücrelerin çoğalması ve ti-</a:t>
            </a:r>
            <a:br/>
            <a:r>
              <a:t>kök hücrelere dava açın.</a:t>
            </a:r>
            <a:br/>
            <a:r>
              <a:t>•</a:t>
            </a:r>
            <a:br/>
            <a:r>
              <a:t>Parankimal organlarda doku rejenerasyonu meydana gelebilir.</a:t>
            </a:r>
            <a:br/>
            <a:r>
              <a:t>Olgun hücreler çoğalma yeteneğine sahiptir, ancak istisnalar dışında</a:t>
            </a:r>
            <a:br/>
            <a:r>
              <a:t>Karaciğerde, bu genellikle sınırlı bir süreçtir. Pankreas, adrenal,</a:t>
            </a:r>
            <a:br/>
            <a:r>
              <a:t>tiroid ve akciğerin bir miktar rejeneratif kapasitesi vardır. Cerrahi</a:t>
            </a:r>
            <a:br/>
            <a:r>
              <a:t>Bir böbreğin çıkarılması, kalan böbrekte telafi edici bir durum ortaya çıkarır</a:t>
            </a:r>
            <a:br/>
            <a:r>
              <a:t>hem hipertrofi hem de hiperplaziden oluşan yanıt</a:t>
            </a:r>
            <a:br/>
            <a:r>
              <a:t>proksimal kanal hücreleri. Bu yanıtın altında yatan mekanizmalar</a:t>
            </a:r>
            <a:br/>
            <a:r>
              <a:t>iyi tanımlanmamıştır. Karaciğerin olağanüstü kapasitesi</a:t>
            </a:r>
            <a:br/>
            <a:r>
              <a:t>Regenere, bu süreci incelemek için değerli bir model haline getirdi,</a:t>
            </a:r>
            <a:br/>
            <a:r>
              <a:t>aşağıda tartışılmıştır.</a:t>
            </a:r>
            <a:br/>
            <a:r>
              <a:t>Normal doku mimarisinin restorasyonu ancak aşağıdaki durumlarda gerçekleşebilir:</a:t>
            </a:r>
            <a:br/>
            <a:r>
              <a:t>Kalıntı doku yapısal olarak sağlamdır: örneğin, kısmi cerrahi sonrası</a:t>
            </a:r>
            <a:br/>
            <a:r>
              <a:t>karaciğer rezeksiyonu. Buna karşılık, eğer tüm doku, dahil olmak üzere</a:t>
            </a:r>
            <a:br/>
            <a:r>
              <a:t>destekleyici çerçeve, enfeksiyon veya iltihaplanma nedeniyle hasar görmüş,</a:t>
            </a:r>
            <a:br/>
            <a:r>
              <a:t>Rejenerasyon tamamlanmamıştır ve yara izi eşlik eder. İçin</a:t>
            </a:r>
            <a:br/>
            <a:r>
              <a:t>Tablo 2.10 Büyüme Faktörleri</a:t>
            </a:r>
            <a:br/>
            <a:r>
              <a:t>Büyüme Faktörü</a:t>
            </a:r>
            <a:br/>
            <a:r>
              <a:t>Kaynak</a:t>
            </a:r>
            <a:br/>
            <a:r>
              <a:t>Işlev</a:t>
            </a:r>
            <a:br/>
            <a:r>
              <a:t>Epidermal büyüme faktörü (EGF)</a:t>
            </a:r>
            <a:br/>
            <a:r>
              <a:t>Aktive makrofajlar, tükürük bezleri,</a:t>
            </a:r>
            <a:br/>
            <a:r>
              <a:t>keratinositler ve diğer birçok hücre</a:t>
            </a:r>
            <a:br/>
            <a:r>
              <a:t>Keratinositler ve fibroblastlar için mitojenik;</a:t>
            </a:r>
            <a:br/>
            <a:r>
              <a:t>keratinosit göçünü uyarır; Uyarır</a:t>
            </a:r>
            <a:br/>
            <a:r>
              <a:t>Granülasyon dokusunun oluşumu</a:t>
            </a:r>
            <a:br/>
            <a:r>
              <a:t>Transforme edici büyüme faktörü-a (TGF-a)</a:t>
            </a:r>
            <a:br/>
            <a:r>
              <a:t>Aktive makrofajlar, keratinositler, birçok</a:t>
            </a:r>
            <a:br/>
            <a:r>
              <a:t>Diğer hücre tipleri</a:t>
            </a:r>
            <a:br/>
            <a:r>
              <a:t>Hepatositlerin ve birçok şeyin proliferasyonunu uyarır</a:t>
            </a:r>
            <a:br/>
            <a:r>
              <a:t>diğer epitel hücreleri</a:t>
            </a:r>
            <a:br/>
            <a:r>
              <a:t>Hepatosit büyüme faktörü (HGF)</a:t>
            </a:r>
            <a:br/>
            <a:r>
              <a:t>(saçılma faktörü)</a:t>
            </a:r>
            <a:br/>
            <a:r>
              <a:t>Fibroblastlar, karaciğerdeki stromal hücreler,</a:t>
            </a:r>
            <a:br/>
            <a:r>
              <a:t>endotel hücreleri</a:t>
            </a:r>
            <a:br/>
            <a:r>
              <a:t>Hepatositlerin ve diğerlerinin proliferasyonunu artırır</a:t>
            </a:r>
            <a:br/>
            <a:r>
              <a:t>epitel hücreleri; hücre hareketliliğini artırır</a:t>
            </a:r>
            <a:br/>
            <a:r>
              <a:t>Vasküler endotelyal büyüme faktörü</a:t>
            </a:r>
            <a:br/>
            <a:r>
              <a:t>(VEGF)</a:t>
            </a:r>
            <a:br/>
            <a:r>
              <a:t>Mezenkimal hücreler</a:t>
            </a:r>
            <a:br/>
            <a:r>
              <a:t>Endotel hücrelerinin çoğalmasını uyarır;</a:t>
            </a:r>
            <a:br/>
            <a:r>
              <a:t>vasküler geçirgenliği arttırır</a:t>
            </a:r>
            <a:br/>
            <a:r>
              <a:t>Trombosit kaynaklı büyüme faktörü</a:t>
            </a:r>
            <a:br/>
            <a:r>
              <a:t>(PDGF)</a:t>
            </a:r>
            <a:br/>
            <a:r>
              <a:t>Trombositler, makrofajlar, endotel hücreleri,</a:t>
            </a:r>
            <a:br/>
            <a:r>
              <a:t>düz kas hücreleri, keratinositler</a:t>
            </a:r>
            <a:br/>
            <a:r>
              <a:t>Nötrofiller, makrofajlar için kemotaktik,</a:t>
            </a:r>
            <a:br/>
            <a:r>
              <a:t>fibroblastlar ve düz kas hücreleri; Etkinleştirir</a:t>
            </a:r>
            <a:br/>
            <a:r>
              <a:t>ve fibroblastların çoğalmasını uyarır,</a:t>
            </a:r>
            <a:br/>
            <a:r>
              <a:t>endotel ve diğer hücreler; ECM'yi uyarır</a:t>
            </a:r>
            <a:br/>
            <a:r>
              <a:t>Protein sentezi</a:t>
            </a:r>
            <a:br/>
            <a:r>
              <a:t>Fibroblast büyüme faktörleri (FGF'ler),</a:t>
            </a:r>
            <a:br/>
            <a:r>
              <a:t>asidik (FGF-1) ve bazik dahil</a:t>
            </a:r>
            <a:br/>
            <a:r>
              <a:t>(FGF-2)</a:t>
            </a:r>
            <a:br/>
            <a:r>
              <a:t>Makrofajlar, mast hücreleri, endotel hücreleri,</a:t>
            </a:r>
            <a:br/>
            <a:r>
              <a:t>Diğer birçok hücre tipi</a:t>
            </a:r>
            <a:br/>
            <a:r>
              <a:t>Fibroblastlar için kemotaktik ve mitojenik;</a:t>
            </a:r>
            <a:br/>
            <a:r>
              <a:t>anjiyogenezi ve ECM proteinini uyarır</a:t>
            </a:r>
            <a:br/>
            <a:r>
              <a:t>sentez</a:t>
            </a:r>
            <a:br/>
            <a:r>
              <a:t>Dönüştürücü büyüme faktörü-b (TGF-b)</a:t>
            </a:r>
            <a:br/>
            <a:r>
              <a:t>Trombositler, T lenfositler, makrofajlar,</a:t>
            </a:r>
            <a:br/>
            <a:r>
              <a:t>endotel hücreleri, keratinositler, pürüzsüz</a:t>
            </a:r>
            <a:br/>
            <a:r>
              <a:t>kas hücreleri, fibroblastlar</a:t>
            </a:r>
            <a:br/>
            <a:r>
              <a:t>Lökositler ve fibroblastlar için kemotaktik;</a:t>
            </a:r>
            <a:br/>
            <a:r>
              <a:t>ECM protein sentezini uyarır; Bastırır</a:t>
            </a:r>
            <a:br/>
            <a:r>
              <a:t>akut inflamasyon</a:t>
            </a:r>
            <a:br/>
            <a:r>
              <a:t>Keratinosit büyüme faktörü (KGF)</a:t>
            </a:r>
            <a:br/>
            <a:r>
              <a:t>(yani, FGF-7)</a:t>
            </a:r>
            <a:br/>
            <a:r>
              <a:t>Fibroblastlar</a:t>
            </a:r>
            <a:br/>
            <a:r>
              <a:t>Keratinosit göçünü, çoğalmasını uyarır,</a:t>
            </a:r>
            <a:br/>
            <a:r>
              <a:t>ve farklılaşma</a:t>
            </a:r>
            <a:br/>
            <a:r>
              <a:t>ECM, Hücre dışı matriks.</a:t>
            </a:r>
            <a:br/>
            <a:r>
              <a:t>48</a:t>
            </a:r>
            <a:br/>
            <a:r>
              <a:t>BÖLÜM 2 Enflamasyon ve Onarım</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Tablo: 10). Büyüme faktörleri tipik olarak</a:t>
            </a:r>
            <a:br/>
            <a:r>
              <a:t>hasar bölgesine yakın hücreler tarafından üretilir. En önemlisi</a:t>
            </a:r>
            <a:br/>
            <a:r>
              <a:t>Bu büyüme faktörlerinin kaynakları, tarafından aktive edilen makrofajlardır.</a:t>
            </a:r>
            <a:br/>
            <a:r>
              <a:t>doku hasarı, ancak epitelyal ve stromal hücreler de bir kısmını üretir.</a:t>
            </a:r>
            <a:br/>
            <a:r>
              <a:t>bu faktörler. Birkaç büyüme faktörü hücre dışı matrise bağlanır</a:t>
            </a:r>
            <a:br/>
            <a:r>
              <a:t>(ECM) proteinleri ve doku yaralanması bölgesinde yüksek</a:t>
            </a:r>
            <a:br/>
            <a:r>
              <a:t>Konsantrasyon. Tüm büyüme faktörleri, sinyal yollarını aktive eder.</a:t>
            </a:r>
            <a:br/>
            <a:r>
              <a:t>hücre bölünmesini uyarır. Büyüme faktörlerine cevap vermenin yanı sıra,</a:t>
            </a:r>
            <a:br/>
            <a:r>
              <a:t>hücreler ECM proteinlerine bağlanmak için integrinler kullanır; İntegrinlerden gelen sinyaller</a:t>
            </a:r>
            <a:br/>
            <a:r>
              <a:t>Ayrıca hücre proliferasyonunu uyarır.</a:t>
            </a:r>
            <a:br/>
            <a:r>
              <a:t>Rejenerasyon sürecinde, artık hücrelerin çoğalması</a:t>
            </a:r>
            <a:br/>
            <a:r>
              <a:t>kök hücrelerden olgun hücrelerin gelişimi ile desteklenir. Sap</a:t>
            </a:r>
            <a:br/>
            <a:r>
              <a:t>Hücreler, embriyolarda kendi kendini yenileyebilen hücreler olarak keşfedildi.</a:t>
            </a:r>
            <a:br/>
            <a:r>
              <a:t>tüm olgun hücre soylarına (totipotansiyel) yükselir ve embry- olarak adlandırılır.</a:t>
            </a:r>
            <a:br/>
            <a:r>
              <a:t>onal kök hücreler (ES hücreleri). Kök hücreler daha sonra</a:t>
            </a:r>
            <a:br/>
            <a:r>
              <a:t>Çoğu yetişkin doku, burada doku kök hücreleri olarak adlandırılır. ES'den farklı olarak</a:t>
            </a:r>
            <a:br/>
            <a:r>
              <a:t>hücreler, doku kök hücrelerinin kendini yenileme kapasitesi daha sınırlıdır ve</a:t>
            </a:r>
            <a:br/>
            <a:r>
              <a:t>Tipik olarak içinde bulundukları dokuya yol açarlar. Tüm kök hücreler</a:t>
            </a:r>
            <a:br/>
            <a:r>
              <a:t>tanımlanmış asimetrik hücre bölünmesi geçirme konusunda önemli bir yeteneğe sahip olmak</a:t>
            </a:r>
            <a:br/>
            <a:r>
              <a:t>bir yavru hücrenin kök hücre olarak kaldığı bir mitoz olarak (muhasebe</a:t>
            </a:r>
            <a:br/>
            <a:r>
              <a:t>kendini yenilemek için) ve diğer yavru hücre farklılaşmaya başlar</a:t>
            </a:r>
            <a:br/>
            <a:r>
              <a:t>(kök hücrelerin olgun hücre üretme kapasitesinin hesaplanması</a:t>
            </a:r>
            <a:br/>
            <a:r>
              <a:t>türleri). Doku kök hücreleri özel nişlerde yaşar ve yaralanmayı tetikler</a:t>
            </a:r>
            <a:br/>
            <a:r>
              <a:t>çoğalmalarını ve farklılaşmalarını teşvik eden sinyaller</a:t>
            </a:r>
            <a:br/>
            <a:r>
              <a:t>yaralı dokuyu yeniden dolduran olgun hücreler. Böylece, yapabilirler</a:t>
            </a:r>
            <a:br/>
            <a:r>
              <a:t>Yaralı dokuların yenilenmesine katkıda bulunur, özellikle de</a:t>
            </a:r>
            <a:br/>
            <a:r>
              <a:t>Yaralanmadan kurtulan farklılaşmış hücrelerin içsel olarak sınırlı olması veya hiç olmaması</a:t>
            </a:r>
            <a:br/>
            <a:r>
              <a:t>proliferatif kapasite.</a:t>
            </a:r>
            <a:br/>
            <a:r>
              <a:t>Yaralıların yerine konmasında rejenerasyonun önemi</a:t>
            </a:r>
            <a:br/>
            <a:r>
              <a:t>dokular farklı doku tiplerinde ve şiddeti ile değişir</a:t>
            </a:r>
            <a:br/>
            <a:r>
              <a:t>Yaralanma.</a:t>
            </a:r>
            <a:br/>
            <a:r>
              <a:t>•</a:t>
            </a:r>
            <a:br/>
            <a:r>
              <a:t>Bağırsak sistemi ve cildin epitelinde sağlanan, alt-</a:t>
            </a:r>
            <a:br/>
            <a:r>
              <a:t>ING bazal membran sağlamdır, yaralanan hücreler hızla</a:t>
            </a:r>
            <a:br/>
            <a:r>
              <a:t>rezidüel hücrelerin çoğalması ve ti-</a:t>
            </a:r>
            <a:br/>
            <a:r>
              <a:t>kök hücrelere dava açın.</a:t>
            </a:r>
            <a:br/>
            <a:r>
              <a:t>•</a:t>
            </a:r>
            <a:br/>
            <a:r>
              <a:t>Parankimal organlarda doku rejenerasyonu meydana gelebilir.</a:t>
            </a:r>
            <a:br/>
            <a:r>
              <a:t>Olgun hücreler çoğalma yeteneğine sahiptir, ancak istisnalar dışında</a:t>
            </a:r>
            <a:br/>
            <a:r>
              <a:t>Karaciğerde, bu genellikle sınırlı bir süreçtir. Pankreas, adrenal,</a:t>
            </a:r>
            <a:br/>
            <a:r>
              <a:t>tiroid ve akciğerin bir miktar rejeneratif kapasitesi vardır. Cerrahi</a:t>
            </a:r>
            <a:br/>
            <a:r>
              <a:t>Bir böbreğin çıkarılması, kalan böbrekte telafi edici bir durum ortaya çıkarır</a:t>
            </a:r>
            <a:br/>
            <a:r>
              <a:t>hem hipertrofi hem de hiperplaziden oluşan yanıt</a:t>
            </a:r>
            <a:br/>
            <a:r>
              <a:t>proksimal kanal hücreleri. Bu yanıtın altında yatan mekanizmalar</a:t>
            </a:r>
            <a:br/>
            <a:r>
              <a:t>iyi tanımlanmamıştır. Karaciğerin olağanüstü kapasitesi</a:t>
            </a:r>
            <a:br/>
            <a:r>
              <a:t>Regenere, bu süreci incelemek için değerli bir model haline getirdi,</a:t>
            </a:r>
            <a:br/>
            <a:r>
              <a:t>aşağıda tartışılmıştır.</a:t>
            </a:r>
            <a:br/>
            <a:r>
              <a:t>Normal doku mimarisinin restorasyonu ancak aşağıdaki durumlarda gerçekleşebilir:</a:t>
            </a:r>
            <a:br/>
            <a:r>
              <a:t>Kalıntı doku yapısal olarak sağlamdır: örneğin, kısmi cerrahi sonrası</a:t>
            </a:r>
            <a:br/>
            <a:r>
              <a:t>karaciğer rezeksiyonu. Buna karşılık, eğer tüm doku, dahil olmak üzere</a:t>
            </a:r>
            <a:br/>
            <a:r>
              <a:t>destekleyici çerçeve, enfeksiyon veya iltihaplanma nedeniyle hasar görmüş,</a:t>
            </a:r>
            <a:br/>
            <a:r>
              <a:t>Rejenerasyon tamamlanmamıştır ve yara izi eşlik eder. İçin</a:t>
            </a:r>
            <a:br/>
            <a:r>
              <a:t>Tablo 2.10 Büyüme Faktörleri</a:t>
            </a:r>
            <a:br/>
            <a:r>
              <a:t>Büyüme Faktörü</a:t>
            </a:r>
            <a:br/>
            <a:r>
              <a:t>Kaynak</a:t>
            </a:r>
            <a:br/>
            <a:r>
              <a:t>Işlev</a:t>
            </a:r>
            <a:br/>
            <a:r>
              <a:t>Epidermal büyüme faktörü (EGF)</a:t>
            </a:r>
            <a:br/>
            <a:r>
              <a:t>Aktive makrofajlar, tükürük bezleri,</a:t>
            </a:r>
            <a:br/>
            <a:r>
              <a:t>keratinositler ve diğer birçok hücre</a:t>
            </a:r>
            <a:br/>
            <a:r>
              <a:t>Keratinositler ve fibroblastlar için mitojenik;</a:t>
            </a:r>
            <a:br/>
            <a:r>
              <a:t>keratinosit göçünü uyarır; Uyarır</a:t>
            </a:r>
            <a:br/>
            <a:r>
              <a:t>Granülasyon dokusunun oluşumu</a:t>
            </a:r>
            <a:br/>
            <a:r>
              <a:t>Transforme edici büyüme faktörü-a (TGF-a)</a:t>
            </a:r>
            <a:br/>
            <a:r>
              <a:t>Aktive makrofajlar, keratinositler, birçok</a:t>
            </a:r>
            <a:br/>
            <a:r>
              <a:t>Diğer hücre tipleri</a:t>
            </a:r>
            <a:br/>
            <a:r>
              <a:t>Hepatositlerin ve birçok şeyin proliferasyonunu uyarır</a:t>
            </a:r>
            <a:br/>
            <a:r>
              <a:t>diğer epitel hücreleri</a:t>
            </a:r>
            <a:br/>
            <a:r>
              <a:t>Hepatosit büyüme faktörü (HGF)</a:t>
            </a:r>
            <a:br/>
            <a:r>
              <a:t>(saçılma faktörü)</a:t>
            </a:r>
            <a:br/>
            <a:r>
              <a:t>Fibroblastlar, karaciğerdeki stromal hücreler,</a:t>
            </a:r>
            <a:br/>
            <a:r>
              <a:t>endotel hücreleri</a:t>
            </a:r>
            <a:br/>
            <a:r>
              <a:t>Hepatositlerin ve diğerlerinin proliferasyonunu artırır</a:t>
            </a:r>
            <a:br/>
            <a:r>
              <a:t>epitel hücreleri; hücre hareketliliğini artırır</a:t>
            </a:r>
            <a:br/>
            <a:r>
              <a:t>Vasküler endotelyal büyüme faktörü</a:t>
            </a:r>
            <a:br/>
            <a:r>
              <a:t>(VEGF)</a:t>
            </a:r>
            <a:br/>
            <a:r>
              <a:t>Mezenkimal hücreler</a:t>
            </a:r>
            <a:br/>
            <a:r>
              <a:t>Endotel hücrelerinin çoğalmasını uyarır;</a:t>
            </a:r>
            <a:br/>
            <a:r>
              <a:t>vasküler geçirgenliği arttırır</a:t>
            </a:r>
            <a:br/>
            <a:r>
              <a:t>Trombosit kaynaklı büyüme faktörü</a:t>
            </a:r>
            <a:br/>
            <a:r>
              <a:t>(PDGF)</a:t>
            </a:r>
            <a:br/>
            <a:r>
              <a:t>Trombositler, makrofajlar, endotel hücreleri,</a:t>
            </a:r>
            <a:br/>
            <a:r>
              <a:t>düz kas hücreleri, keratinositler</a:t>
            </a:r>
            <a:br/>
            <a:r>
              <a:t>Nötrofiller, makrofajlar için kemotaktik,</a:t>
            </a:r>
            <a:br/>
            <a:r>
              <a:t>fibroblastlar ve düz kas hücreleri; Etkinleştirir</a:t>
            </a:r>
            <a:br/>
            <a:r>
              <a:t>ve fibroblastların çoğalmasını uyarır,</a:t>
            </a:r>
            <a:br/>
            <a:r>
              <a:t>endotel ve diğer hücreler; ECM'yi uyarır</a:t>
            </a:r>
            <a:br/>
            <a:r>
              <a:t>Protein sentezi</a:t>
            </a:r>
            <a:br/>
            <a:r>
              <a:t>Fibroblast büyüme faktörleri (FGF'ler),</a:t>
            </a:r>
            <a:br/>
            <a:r>
              <a:t>asidik (FGF-1) ve bazik dahil</a:t>
            </a:r>
            <a:br/>
            <a:r>
              <a:t>(FGF-2)</a:t>
            </a:r>
            <a:br/>
            <a:r>
              <a:t>Makrofajlar, mast hücreleri, endotel hücreleri,</a:t>
            </a:r>
            <a:br/>
            <a:r>
              <a:t>Diğer birçok hücre tipi</a:t>
            </a:r>
            <a:br/>
            <a:r>
              <a:t>Fibroblastlar için kemotaktik ve mitojenik;</a:t>
            </a:r>
            <a:br/>
            <a:r>
              <a:t>anjiyogenezi ve ECM proteinini uyarır</a:t>
            </a:r>
            <a:br/>
            <a:r>
              <a:t>sentez</a:t>
            </a:r>
            <a:br/>
            <a:r>
              <a:t>Dönüştürücü büyüme faktörü-b (TGF-b)</a:t>
            </a:r>
            <a:br/>
            <a:r>
              <a:t>Trombositler, T lenfositler, makrofajlar,</a:t>
            </a:r>
            <a:br/>
            <a:r>
              <a:t>endotel hücreleri, keratinositler, pürüzsüz</a:t>
            </a:r>
            <a:br/>
            <a:r>
              <a:t>kas hücreleri, fibroblastlar</a:t>
            </a:r>
            <a:br/>
            <a:r>
              <a:t>Lökositler ve fibroblastlar için kemotaktik;</a:t>
            </a:r>
            <a:br/>
            <a:r>
              <a:t>ECM protein sentezini uyarır; Bastırır</a:t>
            </a:r>
            <a:br/>
            <a:r>
              <a:t>akut inflamasyon</a:t>
            </a:r>
            <a:br/>
            <a:r>
              <a:t>Keratinosit büyüme faktörü (KGF)</a:t>
            </a:r>
            <a:br/>
            <a:r>
              <a:t>(yani, FGF-7)</a:t>
            </a:r>
            <a:br/>
            <a:r>
              <a:t>Fibroblastlar</a:t>
            </a:r>
            <a:br/>
            <a:r>
              <a:t>Keratinosit göçünü, çoğalmasını uyarır,</a:t>
            </a:r>
            <a:br/>
            <a:r>
              <a:t>ve farklılaşma</a:t>
            </a:r>
            <a:br/>
            <a:r>
              <a:t>ECM, Hücre dışı matriks.</a:t>
            </a:r>
            <a:br/>
            <a:r>
              <a:t>48</a:t>
            </a:r>
            <a:br/>
            <a:r>
              <a:t>BÖLÜM 2 Enflamasyon ve Onarım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Tablo: Büyüme faktörleri tipik olarak</a:t>
            </a:r>
            <a:br/>
            <a:r>
              <a:t>hasar bölgesine yakın hücreler tarafından üretilir. En önemlisi</a:t>
            </a:r>
            <a:br/>
            <a:r>
              <a:t>Bu büyüme faktörlerinin kaynakları, tarafından aktive edilen makrofajlardır.</a:t>
            </a:r>
            <a:br/>
            <a:r>
              <a:t>doku hasarı, ancak epitelyal ve stromal hücreler de bir kısmını üretir.</a:t>
            </a:r>
            <a:br/>
            <a:r>
              <a:t>bu faktörler. Birkaç büyüme faktörü hücre dışı matrise bağlanır</a:t>
            </a:r>
            <a:br/>
            <a:r>
              <a:t>(ECM) proteinleri ve doku yaralanması bölgesinde yüksek</a:t>
            </a:r>
            <a:br/>
            <a:r>
              <a:t>Konsantrasyon. Tüm büyüme faktörleri, sinyal yollarını aktive eder.</a:t>
            </a:r>
            <a:br/>
            <a:r>
              <a:t>hücre bölünmesini uyarır. Büyüme faktörlerine cevap vermenin yanı sıra,</a:t>
            </a:r>
            <a:br/>
            <a:r>
              <a:t>hücreler ECM proteinlerine bağlanmak için integrinler kullanır; İntegrinlerden gelen sinyaller</a:t>
            </a:r>
            <a:br/>
            <a:r>
              <a:t>Ayrıca hücre proliferasyonunu uyarır.</a:t>
            </a:r>
            <a:br/>
            <a:r>
              <a:t>Rejenerasyon sürecinde, artık hücrelerin çoğalması</a:t>
            </a:r>
            <a:br/>
            <a:r>
              <a:t>kök hücrelerden olgun hücrelerin gelişimi ile desteklenir. Sap</a:t>
            </a:r>
            <a:br/>
            <a:r>
              <a:t>Hücreler, embriyolarda kendi kendini yenileyebilen hücreler olarak keşfedildi.</a:t>
            </a:r>
            <a:br/>
            <a:r>
              <a:t>tüm olgun hücre soylarına (totipotansiyel) yükselir ve embry- olarak adlandırılır.</a:t>
            </a:r>
            <a:br/>
            <a:r>
              <a:t>onal kök hücreler (ES hücreleri). Kök hücreler daha sonra</a:t>
            </a:r>
            <a:br/>
            <a:r>
              <a:t>Çoğu yetişkin doku, burada doku kök hücreleri olarak adlandırılır. ES'den farklı olarak</a:t>
            </a:r>
            <a:br/>
            <a:r>
              <a:t>hücreler, doku kök hücrelerinin kendini yenileme kapasitesi daha sınırlıdır ve</a:t>
            </a:r>
            <a:br/>
            <a:r>
              <a:t>Tipik olarak içinde bulundukları dokuya yol açarlar. Tüm kök hücreler</a:t>
            </a:r>
            <a:br/>
            <a:r>
              <a:t>tanımlanmış asimetrik hücre bölünmesi geçirme konusunda önemli bir yeteneğe sahip olmak</a:t>
            </a:r>
            <a:br/>
            <a:r>
              <a:t>bir yavru hücrenin kök hücre olarak kaldığı bir mitoz olarak (muhasebe</a:t>
            </a:r>
            <a:br/>
            <a:r>
              <a:t>kendini yenilemek için) ve diğer yavru hücre farklılaşmaya başlar</a:t>
            </a:r>
            <a:br/>
            <a:r>
              <a:t>(kök hücrelerin olgun hücre üretme kapasitesinin hesaplanması</a:t>
            </a:r>
            <a:br/>
            <a:r>
              <a:t>türleri). Doku kök hücreleri özel nişlerde yaşar ve yaralanmayı tetikler</a:t>
            </a:r>
            <a:br/>
            <a:r>
              <a:t>çoğalmalarını ve farklılaşmalarını teşvik eden sinyaller</a:t>
            </a:r>
            <a:br/>
            <a:r>
              <a:t>yaralı dokuyu yeniden dolduran olgun hücreler. Böylece, yapabilirler</a:t>
            </a:r>
            <a:br/>
            <a:r>
              <a:t>Yaralı dokuların yenilenmesine katkıda bulunur, özellikle de</a:t>
            </a:r>
            <a:br/>
            <a:r>
              <a:t>Yaralanmadan kurtulan farklılaşmış hücrelerin içsel olarak sınırlı olması veya hiç olmaması</a:t>
            </a:r>
            <a:br/>
            <a:r>
              <a:t>proliferatif kapasite.</a:t>
            </a:r>
            <a:br/>
            <a:r>
              <a:t>Yaralıların yerine konmasında rejenerasyonun önemi</a:t>
            </a:r>
            <a:br/>
            <a:r>
              <a:t>dokular farklı doku tiplerinde ve şiddeti ile değişir</a:t>
            </a:r>
            <a:br/>
            <a:r>
              <a:t>Yaralanma.</a:t>
            </a:r>
            <a:br/>
            <a:r>
              <a:t>•</a:t>
            </a:r>
            <a:br/>
            <a:r>
              <a:t>Bağırsak sistemi ve cildin epitelinde sağlanan, alt-</a:t>
            </a:r>
            <a:br/>
            <a:r>
              <a:t>ING bazal membran sağlamdır, yaralanan hücreler hızla</a:t>
            </a:r>
            <a:br/>
            <a:r>
              <a:t>rezidüel hücrelerin çoğalması ve ti-</a:t>
            </a:r>
            <a:br/>
            <a:r>
              <a:t>kök hücrelere dava açın.</a:t>
            </a:r>
            <a:br/>
            <a:r>
              <a:t>•</a:t>
            </a:r>
            <a:br/>
            <a:r>
              <a:t>Parankimal organlarda doku rejenerasyonu meydana gelebilir.</a:t>
            </a:r>
            <a:br/>
            <a:r>
              <a:t>Olgun hücreler çoğalma yeteneğine sahiptir, ancak istisnalar dışında</a:t>
            </a:r>
            <a:br/>
            <a:r>
              <a:t>Karaciğerde, bu genellikle sınırlı bir süreçtir. Pankreas, adrenal,</a:t>
            </a:r>
            <a:br/>
            <a:r>
              <a:t>tiroid ve akciğerin bir miktar rejeneratif kapasitesi vardır. Cerrahi</a:t>
            </a:r>
            <a:br/>
            <a:r>
              <a:t>Bir böbreğin çıkarılması, kalan böbrekte telafi edici bir durum ortaya çıkarır</a:t>
            </a:r>
            <a:br/>
            <a:r>
              <a:t>hem hipertrofi hem de hiperplaziden oluşan yanıt</a:t>
            </a:r>
            <a:br/>
            <a:r>
              <a:t>proksimal kanal hücreleri. Bu yanıtın altında yatan mekanizmalar</a:t>
            </a:r>
            <a:br/>
            <a:r>
              <a:t>iyi tanımlanmamıştır. Karaciğerin olağanüstü kapasitesi</a:t>
            </a:r>
            <a:br/>
            <a:r>
              <a:t>Regenere, bu süreci incelemek için değerli bir model haline getirdi,</a:t>
            </a:r>
            <a:br/>
            <a:r>
              <a:t>aşağıda tartışılmıştır.</a:t>
            </a:r>
            <a:br/>
            <a:r>
              <a:t>Normal doku mimarisinin restorasyonu ancak aşağıdaki durumlarda gerçekleşebilir:</a:t>
            </a:r>
            <a:br/>
            <a:r>
              <a:t>Kalıntı doku yapısal olarak sağlamdır: örneğin, kısmi cerrahi sonrası</a:t>
            </a:r>
            <a:br/>
            <a:r>
              <a:t>karaciğer rezeksiyonu. Buna karşılık, eğer tüm doku, dahil olmak üzere</a:t>
            </a:r>
            <a:br/>
            <a:r>
              <a:t>destekleyici çerçeve, enfeksiyon veya iltihaplanma nedeniyle hasar görmüş,</a:t>
            </a:r>
            <a:br/>
            <a:r>
              <a:t>Rejenerasyon tamamlanmamıştır ve yara izi eşlik eder. İçin</a:t>
            </a:r>
            <a:br/>
            <a:r>
              <a:t>Tablo 2.10 Büyüme Faktörleri</a:t>
            </a:r>
            <a:br/>
            <a:r>
              <a:t>Büyüme Faktörü</a:t>
            </a:r>
            <a:br/>
            <a:r>
              <a:t>Kaynak</a:t>
            </a:r>
            <a:br/>
            <a:r>
              <a:t>Işlev</a:t>
            </a:r>
            <a:br/>
            <a:r>
              <a:t>Epidermal büyüme faktörü (EGF)</a:t>
            </a:r>
            <a:br/>
            <a:r>
              <a:t>Aktive makrofajlar, tükürük bezleri,</a:t>
            </a:r>
            <a:br/>
            <a:r>
              <a:t>keratinositler ve diğer birçok hücre</a:t>
            </a:r>
            <a:br/>
            <a:r>
              <a:t>Keratinositler ve fibroblastlar için mitojenik;</a:t>
            </a:r>
            <a:br/>
            <a:r>
              <a:t>keratinosit göçünü uyarır; Uyarır</a:t>
            </a:r>
            <a:br/>
            <a:r>
              <a:t>Granülasyon dokusunun oluşumu</a:t>
            </a:r>
            <a:br/>
            <a:r>
              <a:t>Transforme edici büyüme faktörü-a (TGF-a)</a:t>
            </a:r>
            <a:br/>
            <a:r>
              <a:t>Aktive makrofajlar, keratinositler, birçok</a:t>
            </a:r>
            <a:br/>
            <a:r>
              <a:t>Diğer hücre tipleri</a:t>
            </a:r>
            <a:br/>
            <a:r>
              <a:t>Hepatositlerin ve birçok şeyin proliferasyonunu uyarır</a:t>
            </a:r>
            <a:br/>
            <a:r>
              <a:t>diğer epitel hücreleri</a:t>
            </a:r>
            <a:br/>
            <a:r>
              <a:t>Hepatosit büyüme faktörü (HGF)</a:t>
            </a:r>
            <a:br/>
            <a:r>
              <a:t>(saçılma faktörü)</a:t>
            </a:r>
            <a:br/>
            <a:r>
              <a:t>Fibroblastlar, karaciğerdeki stromal hücreler,</a:t>
            </a:r>
            <a:br/>
            <a:r>
              <a:t>endotel hücreleri</a:t>
            </a:r>
            <a:br/>
            <a:r>
              <a:t>Hepatositlerin ve diğerlerinin proliferasyonunu artırır</a:t>
            </a:r>
            <a:br/>
            <a:r>
              <a:t>epitel hücreleri; hücre hareketliliğini artırır</a:t>
            </a:r>
            <a:br/>
            <a:r>
              <a:t>Vasküler endotelyal büyüme faktörü</a:t>
            </a:r>
            <a:br/>
            <a:r>
              <a:t>(VEGF)</a:t>
            </a:r>
            <a:br/>
            <a:r>
              <a:t>Mezenkimal hücreler</a:t>
            </a:r>
            <a:br/>
            <a:r>
              <a:t>Endotel hücrelerinin çoğalmasını uyarır;</a:t>
            </a:r>
            <a:br/>
            <a:r>
              <a:t>vasküler geçirgenliği arttırır</a:t>
            </a:r>
            <a:br/>
            <a:r>
              <a:t>Trombosit kaynaklı büyüme faktörü</a:t>
            </a:r>
            <a:br/>
            <a:r>
              <a:t>(PDGF)</a:t>
            </a:r>
            <a:br/>
            <a:r>
              <a:t>Trombositler, makrofajlar, endotel hücreleri,</a:t>
            </a:r>
            <a:br/>
            <a:r>
              <a:t>düz kas hücreleri, keratinositler</a:t>
            </a:r>
            <a:br/>
            <a:r>
              <a:t>Nötrofiller, makrofajlar için kemotaktik,</a:t>
            </a:r>
            <a:br/>
            <a:r>
              <a:t>fibroblastlar ve düz kas hücreleri; Etkinleştirir</a:t>
            </a:r>
            <a:br/>
            <a:r>
              <a:t>ve fibroblastların çoğalmasını uyarır,</a:t>
            </a:r>
            <a:br/>
            <a:r>
              <a:t>endotel ve diğer hücreler; ECM'yi uyarır</a:t>
            </a:r>
            <a:br/>
            <a:r>
              <a:t>Protein sentezi</a:t>
            </a:r>
            <a:br/>
            <a:r>
              <a:t>Fibroblast büyüme faktörleri (FGF'ler),</a:t>
            </a:r>
            <a:br/>
            <a:r>
              <a:t>asidik (FGF-1) ve bazik dahil</a:t>
            </a:r>
            <a:br/>
            <a:r>
              <a:t>(FGF-2)</a:t>
            </a:r>
            <a:br/>
            <a:r>
              <a:t>Makrofajlar, mast hücreleri, endotel hücreleri,</a:t>
            </a:r>
            <a:br/>
            <a:r>
              <a:t>Diğer birçok hücre tipi</a:t>
            </a:r>
            <a:br/>
            <a:r>
              <a:t>Fibroblastlar için kemotaktik ve mitojenik;</a:t>
            </a:r>
            <a:br/>
            <a:r>
              <a:t>anjiyogenezi ve ECM proteinini uyarır</a:t>
            </a:r>
            <a:br/>
            <a:r>
              <a:t>sentez</a:t>
            </a:r>
            <a:br/>
            <a:r>
              <a:t>Dönüştürücü büyüme faktörü-b (TGF-b)</a:t>
            </a:r>
            <a:br/>
            <a:r>
              <a:t>Trombositler, T lenfositler, makrofajlar,</a:t>
            </a:r>
            <a:br/>
            <a:r>
              <a:t>endotel hücreleri, keratinositler, pürüzsüz</a:t>
            </a:r>
            <a:br/>
            <a:r>
              <a:t>kas hücreleri, fibroblastlar</a:t>
            </a:r>
            <a:br/>
            <a:r>
              <a:t>Lökositler ve fibroblastlar için kemotaktik;</a:t>
            </a:r>
            <a:br/>
            <a:r>
              <a:t>ECM protein sentezini uyarır; Bastırır</a:t>
            </a:r>
            <a:br/>
            <a:r>
              <a:t>akut inflamasyon</a:t>
            </a:r>
            <a:br/>
            <a:r>
              <a:t>Keratinosit büyüme faktörü (KGF)</a:t>
            </a:r>
            <a:br/>
            <a:r>
              <a:t>(yani, FGF-7)</a:t>
            </a:r>
            <a:br/>
            <a:r>
              <a:t>Fibroblastlar</a:t>
            </a:r>
            <a:br/>
            <a:r>
              <a:t>Keratinosit göçünü, çoğalmasını uyarır,</a:t>
            </a:r>
            <a:br/>
            <a:r>
              <a:t>ve farklılaşma</a:t>
            </a:r>
            <a:br/>
            <a:r>
              <a:t>ECM, Hücre dışı matriks.</a:t>
            </a:r>
            <a:br/>
            <a:r>
              <a:t>48</a:t>
            </a:r>
            <a:br/>
            <a:r>
              <a:t>BÖLÜM 2 Enflamasyon ve Onarım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Şekil: Önümüzdeki 6 ila 48 saat içinde, nötrofiller ve sonra</a:t>
            </a:r>
            <a:br/>
            <a:r>
              <a:t>Rahatsız edici olanı ortadan kaldırmak için bölgeye monositler alınır</a:t>
            </a:r>
            <a:br/>
            <a:r>
              <a:t>ajanlar ve kalıntıları temizleyin. Makrofajlar merkezi hücreseldir</a:t>
            </a:r>
            <a:br/>
            <a:r>
              <a:t>onarım sürecindeki oyuncular. Daha önce tartışıldığı gibi, farklı makro-</a:t>
            </a:r>
            <a:br/>
            <a:r>
              <a:t>Faj popülasyonları mikropları ve nekrotik dokuları temizler, teşvik eder</a:t>
            </a:r>
            <a:br/>
            <a:r>
              <a:t>iltihaplanma ve üretkenliği uyaran büyüme faktörleri üretmek.</a:t>
            </a:r>
            <a:br/>
            <a:r>
              <a:t>onarımın bir sonraki aşamasında birçok hücre tipinin erasyonu. Yargı olarak-</a:t>
            </a:r>
            <a:br/>
            <a:r>
              <a:t>Rious ajanlar ve nekrotik hücreler temizlenir, iltihap</a:t>
            </a:r>
            <a:br/>
            <a:r>
              <a:t>Giderir.</a:t>
            </a:r>
            <a:br/>
            <a:r>
              <a:t>•</a:t>
            </a:r>
            <a:br/>
            <a:r>
              <a:t>Hücre çoğalması. 10 gün kadar süren bir sonraki aşamada,</a:t>
            </a:r>
            <a:br/>
            <a:r>
              <a:t>epitel hücreleri, endotel hücreleri ve</a:t>
            </a:r>
            <a:br/>
            <a:r>
              <a:t>diğer vasküler hücreler ve fibroblastlar çoğalır ve kapanmak için göç ederler</a:t>
            </a:r>
            <a:br/>
            <a:r>
              <a:t>şimdi temiz yara. Her hücre türü benzersiz işlevlere hizmet eder:</a:t>
            </a:r>
            <a:br/>
            <a:r>
              <a:t>•</a:t>
            </a:r>
            <a:br/>
            <a:r>
              <a:t>Epitel hücreleri lokal olarak üretilen büyüme faktörlerine yanıt verir ve</a:t>
            </a:r>
            <a:br/>
            <a:r>
              <a:t>yarayı örtmek için göç eder.</a:t>
            </a:r>
            <a:br/>
            <a:r>
              <a:t>•</a:t>
            </a:r>
            <a:br/>
            <a:r>
              <a:t>Endotel ve diğer vasküler hücreler yeni hücreler oluşturmak için çoğalır.</a:t>
            </a:r>
            <a:br/>
            <a:r>
              <a:t>anjiyogenez olarak bilinen bir süreç olan kan damarları,</a:t>
            </a:r>
            <a:br/>
            <a:r>
              <a:t>Daha sonra daha fazla ayrıntı.</a:t>
            </a:r>
            <a:br/>
            <a:r>
              <a:t>•</a:t>
            </a:r>
            <a:br/>
            <a:r>
              <a:t>Fibroblastlar çoğalır ve yaralanma bölgesine göç eder ve uzanır</a:t>
            </a:r>
            <a:br/>
            <a:r>
              <a:t>yara izini oluşturan kollajen liflerini azaltır.</a:t>
            </a:r>
            <a:br/>
            <a:r>
              <a:t>•</a:t>
            </a:r>
            <a:br/>
            <a:r>
              <a:t>Proliferatif fibroblastlar, ECM ve yeni</a:t>
            </a:r>
            <a:br/>
            <a:r>
              <a:t>Kan damarları, yaraları iyileştirmek için benzersiz bir doku türü oluşturur</a:t>
            </a:r>
            <a:br/>
            <a:r>
              <a:t>Buna granülasyon dokusu denir. Bu terim onun türemiştir</a:t>
            </a:r>
            <a:br/>
            <a:r>
              <a:t>pembe, yumuşak, tanecikli brüt görünüm.</a:t>
            </a:r>
            <a:br/>
            <a:r>
              <a:t>Makrofaj</a:t>
            </a:r>
            <a:br/>
            <a:r>
              <a:t>Nötrofil</a:t>
            </a:r>
            <a:br/>
            <a:r>
              <a:t>Kapiler</a:t>
            </a:r>
            <a:br/>
            <a:r>
              <a:t>B</a:t>
            </a:r>
            <a:br/>
            <a:r>
              <a:t>A</a:t>
            </a:r>
            <a:br/>
            <a:r>
              <a:t>C</a:t>
            </a:r>
            <a:br/>
            <a:r>
              <a:t>Fibroblast</a:t>
            </a:r>
            <a:br/>
            <a:r>
              <a:t>Trombosit</a:t>
            </a:r>
            <a:br/>
            <a:r>
              <a:t>Granülasyon</a:t>
            </a:r>
            <a:br/>
            <a:r>
              <a:t>doku</a:t>
            </a:r>
            <a:br/>
            <a:r>
              <a:t>Yeni kan damarları</a:t>
            </a:r>
            <a:br/>
            <a:r>
              <a:t>Epitel hücreleri</a:t>
            </a:r>
            <a:br/>
            <a:r>
              <a:t>Eskar</a:t>
            </a:r>
            <a:br/>
            <a:r>
              <a:t>Kollajen skar</a:t>
            </a:r>
            <a:br/>
            <a:r>
              <a:t>ŞEKİL 2.21 Derideki bir yaranın iyileşmesindeki adımlar. (A) Hemostatik pıhtı ve iltihaplanma. (B) Çoğalması</a:t>
            </a:r>
            <a:br/>
            <a:r>
              <a:t>epitel hücreleri; damar büyümesi ve fibroblastların çoğalması ile granülasyon dokusunun oluşumu. Bir eschar</a:t>
            </a:r>
            <a:br/>
            <a:r>
              <a:t>hasarlı cilt üzerinde oluşan kabuk. (C) Fibröz yara izini üretmek için yeniden şekillenme. Bu bir örnektir</a:t>
            </a:r>
            <a:br/>
            <a:r>
              <a:t>ikinci niyetle iyileşme.</a:t>
            </a:r>
            <a:br/>
            <a:r>
              <a:t>2. BÖLÜM</a:t>
            </a:r>
            <a:br/>
            <a:r>
              <a:t>Enflamasyon ve Onarım</a:t>
            </a:r>
            <a:br/>
            <a:r>
              <a:t>49</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Masa:•</a:t>
            </a:r>
            <a:br/>
            <a:r>
              <a:t>Kök hücrelerden karaciğer yenilenmesi. Verimliliğin olduğu durumlarda-</a:t>
            </a:r>
            <a:br/>
            <a:r>
              <a:t>hepatositlerin eratif kapasitesi, örneğin kronik sonrası gibi bozulur.</a:t>
            </a:r>
            <a:br/>
            <a:r>
              <a:t>karaciğer hasarı veya iltihabı, karaciğerdeki kök hücreler aşağıdakilere katkıda bulunur</a:t>
            </a:r>
            <a:br/>
            <a:r>
              <a:t>yeniden nüfus. Bu kök hücrelerin bazıları özel nişlerde bulunur</a:t>
            </a:r>
            <a:br/>
            <a:r>
              <a:t>Safra kanallarının daha büyük ile bağlandığı Hering kanalları olarak adlandırılır.</a:t>
            </a:r>
            <a:br/>
            <a:r>
              <a:t>safra kanalları.</a:t>
            </a:r>
            <a:br/>
            <a:r>
              <a:t>Yara İzi ile Onarım</a:t>
            </a:r>
            <a:br/>
            <a:r>
              <a:t>Onarım tek başına rejenerasyon ile gerçekleştirilemiyorsa,</a:t>
            </a:r>
            <a:br/>
            <a:r>
              <a:t>Yaralı hücrelerin bağ dokusu ile değiştirilmesi,</a:t>
            </a:r>
            <a:br/>
            <a:r>
              <a:t>bir yara izi oluşumu. Daha önce tartışıldığı gibi, yara izi şu durumlarda meydana gelebilir:</a:t>
            </a:r>
            <a:br/>
            <a:r>
              <a:t>Doku hasarı, parankimal hücrelere zarar veren şiddetli veya kroniktir</a:t>
            </a:r>
            <a:br/>
            <a:r>
              <a:t>ve epitelin yanı sıra bağ dokusu çerçevesine veya ne zaman</a:t>
            </a:r>
            <a:br/>
            <a:r>
              <a:t>Bölünmeyen hücreler yaralanır. Rejenerasyonun aksine, hangisi in-</a:t>
            </a:r>
            <a:br/>
            <a:r>
              <a:t>doku bileşenlerinin iadesini etkiler, skar oluşumu bir yanıttır</a:t>
            </a:r>
            <a:br/>
            <a:r>
              <a:t>Bu, dokuyu restore etmek yerine "yamalar". Yara izi terimi en çok</a:t>
            </a:r>
            <a:br/>
            <a:r>
              <a:t>genellikle deride yara iyileşmesi ile bağlantılı olarak kullanılır, ancak aynı zamanda</a:t>
            </a:r>
            <a:br/>
            <a:r>
              <a:t>herhangi bir dokudaki parankimal hücrelerin şu şekilde değiştirilmesini tanımlamak için kullanılır:</a:t>
            </a:r>
            <a:br/>
            <a:r>
              <a:t>kollajen, miyokard enfarktüsünden sonra kalpte olduğu gibi.</a:t>
            </a:r>
            <a:br/>
            <a:r>
              <a:t>Yara İzi Oluşumundaki Adımlar</a:t>
            </a:r>
            <a:br/>
            <a:r>
              <a:t>Yara izi oluşumu en iyi cilt yaralarının iyileşmesi ile gösterilir. İçinde</a:t>
            </a:r>
            <a:br/>
            <a:r>
              <a:t>travmatik bir yaralanmadan dakikalar sonra, aşağıdakileri içeren bir hemostatik tıkaç</a:t>
            </a:r>
            <a:br/>
            <a:r>
              <a:t>trombositler (Bölüm 3) oluşur, bu da kanamayı durdurur ve bir</a:t>
            </a:r>
            <a:br/>
            <a:r>
              <a:t>enflamatuar hücrelerin sızması ve bir</a:t>
            </a:r>
            <a:br/>
            <a:r>
              <a:t>kararlı pıhtı. Sonraki adımlar aşağıda özetlenmiştir (Şekil 2.21):</a:t>
            </a:r>
            <a:br/>
            <a:r>
              <a:t>•</a:t>
            </a:r>
            <a:br/>
            <a:r>
              <a:t>Enflamasyon. Önümüzdeki 6 ila 48 saat boyunca, nötrofiller ve ardından</a:t>
            </a:r>
            <a:br/>
            <a:r>
              <a:t>Rahatsız edici olanı ortadan kaldırmak için bölgeye monositler alınır</a:t>
            </a:r>
            <a:br/>
            <a:r>
              <a:t>ajanlar ve kalıntıları temizleyin. Makrofajlar merkezi hücreseldir</a:t>
            </a:r>
            <a:br/>
            <a:r>
              <a:t>onarım sürecindeki oyuncular. Daha önce tartışıldığı gibi, farklı makro-</a:t>
            </a:r>
            <a:br/>
            <a:r>
              <a:t>Faj popülasyonları mikropları ve nekrotik dokuları temizler, teşvik eder</a:t>
            </a:r>
            <a:br/>
            <a:r>
              <a:t>iltihaplanma ve üretkenliği uyaran büyüme faktörleri üretmek.</a:t>
            </a:r>
            <a:br/>
            <a:r>
              <a:t>onarımın bir sonraki aşamasında birçok hücre tipinin erasyonu. Yargı olarak-</a:t>
            </a:r>
            <a:br/>
            <a:r>
              <a:t>Rious ajanlar ve nekrotik hücreler temizlenir, iltihap</a:t>
            </a:r>
            <a:br/>
            <a:r>
              <a:t>Giderir.</a:t>
            </a:r>
            <a:br/>
            <a:r>
              <a:t>•</a:t>
            </a:r>
            <a:br/>
            <a:r>
              <a:t>Hücre çoğalması. 10 gün kadar süren bir sonraki aşamada,</a:t>
            </a:r>
            <a:br/>
            <a:r>
              <a:t>epitel hücreleri, endotel hücreleri ve</a:t>
            </a:r>
            <a:br/>
            <a:r>
              <a:t>diğer vasküler hücreler ve fibroblastlar çoğalır ve kapanmak için göç ederler</a:t>
            </a:r>
            <a:br/>
            <a:r>
              <a:t>şimdi temiz yara. Her hücre türü benzersiz işlevlere hizmet eder:</a:t>
            </a:r>
            <a:br/>
            <a:r>
              <a:t>•</a:t>
            </a:r>
            <a:br/>
            <a:r>
              <a:t>Epitel hücreleri lokal olarak üretilen büyüme faktörlerine yanıt verir ve</a:t>
            </a:r>
            <a:br/>
            <a:r>
              <a:t>yarayı örtmek için göç eder.</a:t>
            </a:r>
            <a:br/>
            <a:r>
              <a:t>•</a:t>
            </a:r>
            <a:br/>
            <a:r>
              <a:t>Endotel ve diğer vasküler hücreler yeni hücreler oluşturmak için çoğalır.</a:t>
            </a:r>
            <a:br/>
            <a:r>
              <a:t>anjiyogenez olarak bilinen bir süreç olan kan damarları,</a:t>
            </a:r>
            <a:br/>
            <a:r>
              <a:t>Daha sonra daha fazla ayrıntı.</a:t>
            </a:r>
            <a:br/>
            <a:r>
              <a:t>•</a:t>
            </a:r>
            <a:br/>
            <a:r>
              <a:t>Fibroblastlar çoğalır ve yaralanma bölgesine göç eder ve uzanır</a:t>
            </a:r>
            <a:br/>
            <a:r>
              <a:t>yara izini oluşturan kollajen liflerini azaltır.</a:t>
            </a:r>
            <a:br/>
            <a:r>
              <a:t>•</a:t>
            </a:r>
            <a:br/>
            <a:r>
              <a:t>Proliferatif fibroblastlar, ECM ve yeni</a:t>
            </a:r>
            <a:br/>
            <a:r>
              <a:t>Kan damarları, yaraları iyileştirmek için benzersiz bir doku türü oluşturur</a:t>
            </a:r>
            <a:br/>
            <a:r>
              <a:t>Buna granülasyon dokusu denir. Bu terim onun türemiştir</a:t>
            </a:r>
            <a:br/>
            <a:r>
              <a:t>pembe, yumuşak, tanecikli brüt görünüm.</a:t>
            </a:r>
            <a:br/>
            <a:r>
              <a:t>Makrofaj</a:t>
            </a:r>
            <a:br/>
            <a:r>
              <a:t>Nötrofil</a:t>
            </a:r>
            <a:br/>
            <a:r>
              <a:t>Kapiler</a:t>
            </a:r>
            <a:br/>
            <a:r>
              <a:t>B</a:t>
            </a:r>
            <a:br/>
            <a:r>
              <a:t>A</a:t>
            </a:r>
            <a:br/>
            <a:r>
              <a:t>C</a:t>
            </a:r>
            <a:br/>
            <a:r>
              <a:t>Fibroblast</a:t>
            </a:r>
            <a:br/>
            <a:r>
              <a:t>Trombosit</a:t>
            </a:r>
            <a:br/>
            <a:r>
              <a:t>Granülasyon</a:t>
            </a:r>
            <a:br/>
            <a:r>
              <a:t>doku</a:t>
            </a:r>
            <a:br/>
            <a:r>
              <a:t>Yeni kan damarları</a:t>
            </a:r>
            <a:br/>
            <a:r>
              <a:t>Epitel hücreleri</a:t>
            </a:r>
            <a:br/>
            <a:r>
              <a:t>Eskar</a:t>
            </a:r>
            <a:br/>
            <a:r>
              <a:t>Kollajen skar</a:t>
            </a:r>
            <a:br/>
            <a:r>
              <a:t>ŞEKİL 2.21 Derideki bir yaranın iyileşmesindeki adımlar. (A) Hemostatik pıhtı ve iltihaplanma. (B) Çoğalması</a:t>
            </a:r>
            <a:br/>
            <a:r>
              <a:t>epitel hücreleri; damar büyümesi ve fibroblastların çoğalması ile granülasyon dokusunun oluşumu. Bir eschar</a:t>
            </a:r>
            <a:br/>
            <a:r>
              <a:t>hasarlı cilt üzerinde oluşan kabuk. (C) Fibröz yara izini üretmek için yeniden şekillenme. Bu bir örnektir</a:t>
            </a:r>
            <a:br/>
            <a:r>
              <a:t>ikinci niyetle iyileşme.</a:t>
            </a:r>
            <a:br/>
            <a:r>
              <a:t>2. BÖLÜM</a:t>
            </a:r>
            <a:br/>
            <a:r>
              <a:t>Enflamasyon ve Onarım</a:t>
            </a:r>
            <a:br/>
            <a:r>
              <a:t>49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Tablo: 10), üzerinde hareket edin</a:t>
            </a:r>
            <a:br/>
            <a:r>
              <a:t>proliferasyonlarını uyarmak için prelamente hepatositler.</a:t>
            </a:r>
            <a:br/>
            <a:r>
              <a:t>•</a:t>
            </a:r>
            <a:br/>
            <a:r>
              <a:t>Kök hücrelerden karaciğer yenilenmesi. Verimliliğin olduğu durumlarda-</a:t>
            </a:r>
            <a:br/>
            <a:r>
              <a:t>hepatositlerin eratif kapasitesi, örneğin kronik sonrası gibi bozulur.</a:t>
            </a:r>
            <a:br/>
            <a:r>
              <a:t>karaciğer hasarı veya iltihabı, karaciğerdeki kök hücreler aşağıdakilere katkıda bulunur</a:t>
            </a:r>
            <a:br/>
            <a:r>
              <a:t>yeniden nüfus. Bu kök hücrelerin bazıları özel nişlerde bulunur</a:t>
            </a:r>
            <a:br/>
            <a:r>
              <a:t>Safra kanallarının daha büyük ile bağlandığı Hering kanalları olarak adlandırılır.</a:t>
            </a:r>
            <a:br/>
            <a:r>
              <a:t>safra kanalları.</a:t>
            </a:r>
            <a:br/>
            <a:r>
              <a:t>Yara İzi ile Onarım</a:t>
            </a:r>
            <a:br/>
            <a:r>
              <a:t>Onarım tek başına rejenerasyon ile gerçekleştirilemiyorsa,</a:t>
            </a:r>
            <a:br/>
            <a:r>
              <a:t>Yaralı hücrelerin bağ dokusu ile değiştirilmesi,</a:t>
            </a:r>
            <a:br/>
            <a:r>
              <a:t>bir yara izi oluşumu. Daha önce tartışıldığı gibi, yara izi şu durumlarda meydana gelebilir:</a:t>
            </a:r>
            <a:br/>
            <a:r>
              <a:t>Doku hasarı, parankimal hücrelere zarar veren şiddetli veya kroniktir</a:t>
            </a:r>
            <a:br/>
            <a:r>
              <a:t>ve epitelin yanı sıra bağ dokusu çerçevesine veya ne zaman</a:t>
            </a:r>
            <a:br/>
            <a:r>
              <a:t>Bölünmeyen hücreler yaralanır. Rejenerasyonun aksine, hangisi in-</a:t>
            </a:r>
            <a:br/>
            <a:r>
              <a:t>doku bileşenlerinin iadesini etkiler, skar oluşumu bir yanıttır</a:t>
            </a:r>
            <a:br/>
            <a:r>
              <a:t>Bu, dokuyu restore etmek yerine "yamalar". Yara izi terimi en çok</a:t>
            </a:r>
            <a:br/>
            <a:r>
              <a:t>genellikle deride yara iyileşmesi ile bağlantılı olarak kullanılır, ancak aynı zamanda</a:t>
            </a:r>
            <a:br/>
            <a:r>
              <a:t>herhangi bir dokudaki parankimal hücrelerin şu şekilde değiştirilmesini tanımlamak için kullanılır:</a:t>
            </a:r>
            <a:br/>
            <a:r>
              <a:t>kollajen, miyokard enfarktüsünden sonra kalpte olduğu gibi.</a:t>
            </a:r>
            <a:br/>
            <a:r>
              <a:t>Yara İzi Oluşumundaki Adımlar</a:t>
            </a:r>
            <a:br/>
            <a:r>
              <a:t>Yara izi oluşumu en iyi cilt yaralarının iyileşmesi ile gösterilir. İçinde</a:t>
            </a:r>
            <a:br/>
            <a:r>
              <a:t>travmatik bir yaralanmadan dakikalar sonra, aşağıdakileri içeren bir hemostatik tıkaç</a:t>
            </a:r>
            <a:br/>
            <a:r>
              <a:t>trombositler (Bölüm 3) oluşur, bu da kanamayı durdurur ve bir</a:t>
            </a:r>
            <a:br/>
            <a:r>
              <a:t>enflamatuar hücrelerin sızması ve bir</a:t>
            </a:r>
            <a:br/>
            <a:r>
              <a:t>kararlı pıhtı. Sonraki adımlar aşağıda özetlenmiştir (Şekil 2.21):</a:t>
            </a:r>
            <a:br/>
            <a:r>
              <a:t>•</a:t>
            </a:r>
            <a:br/>
            <a:r>
              <a:t>Enflamasyon. Önümüzdeki 6 ila 48 saat boyunca, nötrofiller ve ardından</a:t>
            </a:r>
            <a:br/>
            <a:r>
              <a:t>Rahatsız edici olanı ortadan kaldırmak için bölgeye monositler alınır</a:t>
            </a:r>
            <a:br/>
            <a:r>
              <a:t>ajanlar ve kalıntıları temizleyin. Makrofajlar merkezi hücreseldir</a:t>
            </a:r>
            <a:br/>
            <a:r>
              <a:t>onarım sürecindeki oyuncular. Daha önce tartışıldığı gibi, farklı makro-</a:t>
            </a:r>
            <a:br/>
            <a:r>
              <a:t>Faj popülasyonları mikropları ve nekrotik dokuları temizler, teşvik eder</a:t>
            </a:r>
            <a:br/>
            <a:r>
              <a:t>iltihaplanma ve üretkenliği uyaran büyüme faktörleri üretmek.</a:t>
            </a:r>
            <a:br/>
            <a:r>
              <a:t>onarımın bir sonraki aşamasında birçok hücre tipinin erasyonu. Yargı olarak-</a:t>
            </a:r>
            <a:br/>
            <a:r>
              <a:t>Rious ajanlar ve nekrotik hücreler temizlenir, iltihap</a:t>
            </a:r>
            <a:br/>
            <a:r>
              <a:t>Giderir.</a:t>
            </a:r>
            <a:br/>
            <a:r>
              <a:t>•</a:t>
            </a:r>
            <a:br/>
            <a:r>
              <a:t>Hücre çoğalması. 10 gün kadar süren bir sonraki aşamada,</a:t>
            </a:r>
            <a:br/>
            <a:r>
              <a:t>epitel hücreleri, endotel hücreleri ve</a:t>
            </a:r>
            <a:br/>
            <a:r>
              <a:t>diğer vasküler hücreler ve fibroblastlar çoğalır ve kapanmak için göç ederler</a:t>
            </a:r>
            <a:br/>
            <a:r>
              <a:t>şimdi temiz yara. Her hücre türü benzersiz işlevlere hizmet eder:</a:t>
            </a:r>
            <a:br/>
            <a:r>
              <a:t>•</a:t>
            </a:r>
            <a:br/>
            <a:r>
              <a:t>Epitel hücreleri lokal olarak üretilen büyüme faktörlerine yanıt verir ve</a:t>
            </a:r>
            <a:br/>
            <a:r>
              <a:t>yarayı örtmek için göç eder.</a:t>
            </a:r>
            <a:br/>
            <a:r>
              <a:t>•</a:t>
            </a:r>
            <a:br/>
            <a:r>
              <a:t>Endotel ve diğer vasküler hücreler yeni hücreler oluşturmak için çoğalır.</a:t>
            </a:r>
            <a:br/>
            <a:r>
              <a:t>anjiyogenez olarak bilinen bir süreç olan kan damarları,</a:t>
            </a:r>
            <a:br/>
            <a:r>
              <a:t>Daha sonra daha fazla ayrıntı.</a:t>
            </a:r>
            <a:br/>
            <a:r>
              <a:t>•</a:t>
            </a:r>
            <a:br/>
            <a:r>
              <a:t>Fibroblastlar çoğalır ve yaralanma bölgesine göç eder ve uzanır</a:t>
            </a:r>
            <a:br/>
            <a:r>
              <a:t>yara izini oluşturan kollajen liflerini azaltır.</a:t>
            </a:r>
            <a:br/>
            <a:r>
              <a:t>•</a:t>
            </a:r>
            <a:br/>
            <a:r>
              <a:t>Proliferatif fibroblastlar, ECM ve yeni</a:t>
            </a:r>
            <a:br/>
            <a:r>
              <a:t>Kan damarları, yaraları iyileştirmek için benzersiz bir doku türü oluşturur</a:t>
            </a:r>
            <a:br/>
            <a:r>
              <a:t>Buna granülasyon dokusu denir. Bu terim onun türemiştir</a:t>
            </a:r>
            <a:br/>
            <a:r>
              <a:t>pembe, yumuşak, tanecikli brüt görünüm.</a:t>
            </a:r>
            <a:br/>
            <a:r>
              <a:t>Makrofaj</a:t>
            </a:r>
            <a:br/>
            <a:r>
              <a:t>Nötrofil</a:t>
            </a:r>
            <a:br/>
            <a:r>
              <a:t>Kapiler</a:t>
            </a:r>
            <a:br/>
            <a:r>
              <a:t>B</a:t>
            </a:r>
            <a:br/>
            <a:r>
              <a:t>A</a:t>
            </a:r>
            <a:br/>
            <a:r>
              <a:t>C</a:t>
            </a:r>
            <a:br/>
            <a:r>
              <a:t>Fibroblast</a:t>
            </a:r>
            <a:br/>
            <a:r>
              <a:t>Trombosit</a:t>
            </a:r>
            <a:br/>
            <a:r>
              <a:t>Granülasyon</a:t>
            </a:r>
            <a:br/>
            <a:r>
              <a:t>doku</a:t>
            </a:r>
            <a:br/>
            <a:r>
              <a:t>Yeni kan damarları</a:t>
            </a:r>
            <a:br/>
            <a:r>
              <a:t>Epitel hücreleri</a:t>
            </a:r>
            <a:br/>
            <a:r>
              <a:t>Eskar</a:t>
            </a:r>
            <a:br/>
            <a:r>
              <a:t>Kollajen skar</a:t>
            </a:r>
            <a:br/>
            <a:r>
              <a:t>ŞEKİL 2.21 Derideki bir yaranın iyileşmesindeki adımlar. (A) Hemostatik pıhtı ve iltihaplanma. (B) Çoğalması</a:t>
            </a:r>
            <a:br/>
            <a:r>
              <a:t>epitel hücreleri; damar büyümesi ve fibroblastların çoğalması ile granülasyon dokusunun oluşumu. Bir eschar</a:t>
            </a:r>
            <a:br/>
            <a:r>
              <a:t>hasarlı cilt üzerinde oluşan kabuk. (C) Fibröz yara izini üretmek için yeniden şekillenme. Bu bir örnektir</a:t>
            </a:r>
            <a:br/>
            <a:r>
              <a:t>ikinci niyetle iyileşme.</a:t>
            </a:r>
            <a:br/>
            <a:r>
              <a:t>2. BÖLÜM</a:t>
            </a:r>
            <a:br/>
            <a:r>
              <a:t>Enflamasyon ve Onarım</a:t>
            </a:r>
            <a:br/>
            <a:r>
              <a:t>49</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Masa:•</a:t>
            </a:r>
            <a:br/>
            <a:r>
              <a:t>Kök hücrelerden karaciğer yenilenmesi. Verimliliğin olduğu durumlarda-</a:t>
            </a:r>
            <a:br/>
            <a:r>
              <a:t>hepatositlerin eratif kapasitesi, örneğin kronik sonrası gibi bozulur.</a:t>
            </a:r>
            <a:br/>
            <a:r>
              <a:t>karaciğer hasarı veya iltihabı, karaciğerdeki kök hücreler aşağıdakilere katkıda bulunur</a:t>
            </a:r>
            <a:br/>
            <a:r>
              <a:t>yeniden nüfus. Bu kök hücrelerin bazıları özel nişlerde bulunur</a:t>
            </a:r>
            <a:br/>
            <a:r>
              <a:t>Safra kanallarının daha büyük ile bağlandığı Hering kanalları olarak adlandırılır.</a:t>
            </a:r>
            <a:br/>
            <a:r>
              <a:t>safra kanalları.</a:t>
            </a:r>
            <a:br/>
            <a:r>
              <a:t>Yara İzi ile Onarım</a:t>
            </a:r>
            <a:br/>
            <a:r>
              <a:t>Onarım tek başına rejenerasyon ile gerçekleştirilemiyorsa,</a:t>
            </a:r>
            <a:br/>
            <a:r>
              <a:t>Yaralı hücrelerin bağ dokusu ile değiştirilmesi,</a:t>
            </a:r>
            <a:br/>
            <a:r>
              <a:t>bir yara izi oluşumu. Daha önce tartışıldığı gibi, yara izi şu durumlarda meydana gelebilir:</a:t>
            </a:r>
            <a:br/>
            <a:r>
              <a:t>Doku hasarı, parankimal hücrelere zarar veren şiddetli veya kroniktir</a:t>
            </a:r>
            <a:br/>
            <a:r>
              <a:t>ve epitelin yanı sıra bağ dokusu çerçevesine veya ne zaman</a:t>
            </a:r>
            <a:br/>
            <a:r>
              <a:t>Bölünmeyen hücreler yaralanır. Rejenerasyonun aksine, hangisi in-</a:t>
            </a:r>
            <a:br/>
            <a:r>
              <a:t>doku bileşenlerinin iadesini etkiler, skar oluşumu bir yanıttır</a:t>
            </a:r>
            <a:br/>
            <a:r>
              <a:t>Bu, dokuyu restore etmek yerine "yamalar". Yara izi terimi en çok</a:t>
            </a:r>
            <a:br/>
            <a:r>
              <a:t>genellikle deride yara iyileşmesi ile bağlantılı olarak kullanılır, ancak aynı zamanda</a:t>
            </a:r>
            <a:br/>
            <a:r>
              <a:t>herhangi bir dokudaki parankimal hücrelerin şu şekilde değiştirilmesini tanımlamak için kullanılır:</a:t>
            </a:r>
            <a:br/>
            <a:r>
              <a:t>kollajen, miyokard enfarktüsünden sonra kalpte olduğu gibi.</a:t>
            </a:r>
            <a:br/>
            <a:r>
              <a:t>Yara İzi Oluşumundaki Adımlar</a:t>
            </a:r>
            <a:br/>
            <a:r>
              <a:t>Yara izi oluşumu en iyi cilt yaralarının iyileşmesi ile gösterilir. İçinde</a:t>
            </a:r>
            <a:br/>
            <a:r>
              <a:t>travmatik bir yaralanmadan dakikalar sonra, aşağıdakileri içeren bir hemostatik tıkaç</a:t>
            </a:r>
            <a:br/>
            <a:r>
              <a:t>trombositler (Bölüm 3) oluşur, bu da kanamayı durdurur ve bir</a:t>
            </a:r>
            <a:br/>
            <a:r>
              <a:t>enflamatuar hücrelerin sızması ve bir</a:t>
            </a:r>
            <a:br/>
            <a:r>
              <a:t>kararlı pıhtı. Sonraki adımlar aşağıda özetlenmiştir (Şekil 2.21):</a:t>
            </a:r>
            <a:br/>
            <a:r>
              <a:t>•</a:t>
            </a:r>
            <a:br/>
            <a:r>
              <a:t>Enflamasyon. Önümüzdeki 6 ila 48 saat boyunca, nötrofiller ve ardından</a:t>
            </a:r>
            <a:br/>
            <a:r>
              <a:t>Rahatsız edici olanı ortadan kaldırmak için bölgeye monositler alınır</a:t>
            </a:r>
            <a:br/>
            <a:r>
              <a:t>ajanlar ve kalıntıları temizleyin. Makrofajlar merkezi hücreseldir</a:t>
            </a:r>
            <a:br/>
            <a:r>
              <a:t>onarım sürecindeki oyuncular. Daha önce tartışıldığı gibi, farklı makro-</a:t>
            </a:r>
            <a:br/>
            <a:r>
              <a:t>Faj popülasyonları mikropları ve nekrotik dokuları temizler, teşvik eder</a:t>
            </a:r>
            <a:br/>
            <a:r>
              <a:t>iltihaplanma ve üretkenliği uyaran büyüme faktörleri üretmek.</a:t>
            </a:r>
            <a:br/>
            <a:r>
              <a:t>onarımın bir sonraki aşamasında birçok hücre tipinin erasyonu. Yargı olarak-</a:t>
            </a:r>
            <a:br/>
            <a:r>
              <a:t>Rious ajanlar ve nekrotik hücreler temizlenir, iltihap</a:t>
            </a:r>
            <a:br/>
            <a:r>
              <a:t>Giderir.</a:t>
            </a:r>
            <a:br/>
            <a:r>
              <a:t>•</a:t>
            </a:r>
            <a:br/>
            <a:r>
              <a:t>Hücre çoğalması. 10 gün kadar süren bir sonraki aşamada,</a:t>
            </a:r>
            <a:br/>
            <a:r>
              <a:t>epitel hücreleri, endotel hücreleri ve</a:t>
            </a:r>
            <a:br/>
            <a:r>
              <a:t>diğer vasküler hücreler ve fibroblastlar çoğalır ve kapanmak için göç ederler</a:t>
            </a:r>
            <a:br/>
            <a:r>
              <a:t>şimdi temiz yara. Her hücre türü benzersiz işlevlere hizmet eder:</a:t>
            </a:r>
            <a:br/>
            <a:r>
              <a:t>•</a:t>
            </a:r>
            <a:br/>
            <a:r>
              <a:t>Epitel hücreleri lokal olarak üretilen büyüme faktörlerine yanıt verir ve</a:t>
            </a:r>
            <a:br/>
            <a:r>
              <a:t>yarayı örtmek için göç eder.</a:t>
            </a:r>
            <a:br/>
            <a:r>
              <a:t>•</a:t>
            </a:r>
            <a:br/>
            <a:r>
              <a:t>Endotel ve diğer vasküler hücreler yeni hücreler oluşturmak için çoğalır.</a:t>
            </a:r>
            <a:br/>
            <a:r>
              <a:t>anjiyogenez olarak bilinen bir süreç olan kan damarları,</a:t>
            </a:r>
            <a:br/>
            <a:r>
              <a:t>Daha sonra daha fazla ayrıntı.</a:t>
            </a:r>
            <a:br/>
            <a:r>
              <a:t>•</a:t>
            </a:r>
            <a:br/>
            <a:r>
              <a:t>Fibroblastlar çoğalır ve yaralanma bölgesine göç eder ve uzanır</a:t>
            </a:r>
            <a:br/>
            <a:r>
              <a:t>yara izini oluşturan kollajen liflerini azaltır.</a:t>
            </a:r>
            <a:br/>
            <a:r>
              <a:t>•</a:t>
            </a:r>
            <a:br/>
            <a:r>
              <a:t>Proliferatif fibroblastlar, ECM ve yeni</a:t>
            </a:r>
            <a:br/>
            <a:r>
              <a:t>Kan damarları, yaraları iyileştirmek için benzersiz bir doku türü oluşturur</a:t>
            </a:r>
            <a:br/>
            <a:r>
              <a:t>Buna granülasyon dokusu denir. Bu terim onun türemiştir</a:t>
            </a:r>
            <a:br/>
            <a:r>
              <a:t>pembe, yumuşak, tanecikli brüt görünüm.</a:t>
            </a:r>
            <a:br/>
            <a:r>
              <a:t>Makrofaj</a:t>
            </a:r>
            <a:br/>
            <a:r>
              <a:t>Nötrofil</a:t>
            </a:r>
            <a:br/>
            <a:r>
              <a:t>Kapiler</a:t>
            </a:r>
            <a:br/>
            <a:r>
              <a:t>B</a:t>
            </a:r>
            <a:br/>
            <a:r>
              <a:t>A</a:t>
            </a:r>
            <a:br/>
            <a:r>
              <a:t>C</a:t>
            </a:r>
            <a:br/>
            <a:r>
              <a:t>Fibroblast</a:t>
            </a:r>
            <a:br/>
            <a:r>
              <a:t>Trombosit</a:t>
            </a:r>
            <a:br/>
            <a:r>
              <a:t>Granülasyon</a:t>
            </a:r>
            <a:br/>
            <a:r>
              <a:t>doku</a:t>
            </a:r>
            <a:br/>
            <a:r>
              <a:t>Yeni kan damarları</a:t>
            </a:r>
            <a:br/>
            <a:r>
              <a:t>Epitel hücreleri</a:t>
            </a:r>
            <a:br/>
            <a:r>
              <a:t>Eskar</a:t>
            </a:r>
            <a:br/>
            <a:r>
              <a:t>Kollajen skar</a:t>
            </a:r>
            <a:br/>
            <a:r>
              <a:t>ŞEKİL 2.21 Derideki bir yaranın iyileşmesindeki adımlar. (A) Hemostatik pıhtı ve iltihaplanma. (B) Çoğalması</a:t>
            </a:r>
            <a:br/>
            <a:r>
              <a:t>epitel hücreleri; damar büyümesi ve fibroblastların çoğalması ile granülasyon dokusunun oluşumu. Bir eschar</a:t>
            </a:r>
            <a:br/>
            <a:r>
              <a:t>hasarlı cilt üzerinde oluşan kabuk. (C) Fibröz yara izini üretmek için yeniden şekillenme. Bu bir örnektir</a:t>
            </a:r>
            <a:br/>
            <a:r>
              <a:t>ikinci niyetle iyileşme.</a:t>
            </a:r>
            <a:br/>
            <a:r>
              <a:t>2. BÖLÜM</a:t>
            </a:r>
            <a:br/>
            <a:r>
              <a:t>Enflamasyon ve Onarım</a:t>
            </a:r>
            <a:br/>
            <a:r>
              <a:t>49</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Şekil: Bu süreçler yerel olarak üretilen cy-</a:t>
            </a:r>
            <a:br/>
            <a:r>
              <a:t>PDGF, FGF-2 ve TGF-b dahil olmak üzere tokinler ve büyüme faktörleri. bu</a:t>
            </a:r>
            <a:br/>
            <a:r>
              <a:t>Bu faktörlerin ana kaynakları, özellikle enflamatuar hücrelerdir.</a:t>
            </a:r>
            <a:br/>
            <a:r>
              <a:t>yaralanma bölgelerine sızan makrofajlar. Ana bileşenden beri</a:t>
            </a:r>
            <a:br/>
            <a:r>
              <a:t>Yara izi bağ dokusudur, daha sonra bileşimini kısaca özetliyoruz</a:t>
            </a:r>
            <a:br/>
            <a:r>
              <a:t>ve özellikleri.</a:t>
            </a:r>
            <a:br/>
            <a:r>
              <a:t>Bağ dokusu fibroblastlar ve aselüler bir kompozitten oluşur.</a:t>
            </a:r>
            <a:br/>
            <a:r>
              <a:t>nent, kollajen ve diğer glikoprolardan oluşan ECM.</a:t>
            </a:r>
            <a:br/>
            <a:r>
              <a:t>meme başları. Hücrelerin ECM ile etkileşimleri iyileşme için kritik öneme sahiptir,</a:t>
            </a:r>
            <a:br/>
            <a:r>
              <a:t>normal doku ar-</a:t>
            </a:r>
            <a:br/>
            <a:r>
              <a:t>mimari (Şekil 2.23). ECM birkaç temel işleve sahiptir:</a:t>
            </a:r>
            <a:br/>
            <a:r>
              <a:t>•</a:t>
            </a:r>
            <a:br/>
            <a:r>
              <a:t>Hücre ankrajı ve hücre göçü için mekanik destek ve</a:t>
            </a:r>
            <a:br/>
            <a:r>
              <a:t>hücre polaritesinin korunması.</a:t>
            </a:r>
            <a:br/>
            <a:r>
              <a:t>•</a:t>
            </a:r>
            <a:br/>
            <a:r>
              <a:t>Hücre proliferasyonunun kontrolü, bağlanarak ve büyüme faktörü göstererek-</a:t>
            </a:r>
            <a:br/>
            <a:r>
              <a:t>tors ve integrinin hücresel reseptörleri aracılığıyla sinyal vererek</a:t>
            </a:r>
            <a:br/>
            <a:r>
              <a:t>aile. ECM, çeşitli gizli büyüme için bir depo sağlar</a:t>
            </a:r>
            <a:br/>
            <a:r>
              <a:t>Yaralanma odağında aktive edilebilecek faktörler veya</a:t>
            </a:r>
            <a:br/>
            <a:r>
              <a:t>enflamasyon.</a:t>
            </a:r>
            <a:br/>
            <a:r>
              <a:t>•</a:t>
            </a:r>
            <a:br/>
            <a:r>
              <a:t>Doku yenilenmesi için iskele. Çünkü normal dokunun korunması</a:t>
            </a:r>
            <a:br/>
            <a:r>
              <a:t>Yapı, üzerinde bir bazal membran veya stromal iskele gerektirir</a:t>
            </a:r>
            <a:br/>
            <a:r>
              <a:t>hangi doku hücrelerinin dinlenebileceği, bazal membranın bütünlüğü</a:t>
            </a:r>
            <a:br/>
            <a:r>
              <a:t>(epitelde) veya stroma (parankimal organlarda) için kritiktir.</a:t>
            </a:r>
            <a:br/>
            <a:r>
              <a:t>dokuların yenilenmesi.</a:t>
            </a:r>
            <a:br/>
            <a:r>
              <a:t>ECM, interstisyel matris ve bodrum olmak üzere iki temel formda oluşur</a:t>
            </a:r>
            <a:br/>
            <a:r>
              <a:t>membran (bkz. Şekil 2.23).</a:t>
            </a:r>
            <a:br/>
            <a:r>
              <a:t>•</a:t>
            </a:r>
            <a:br/>
            <a:r>
              <a:t>İnterstisyel matris, bağlantıdaki hücreler arasındaki boşluklarda bulunur.</a:t>
            </a:r>
            <a:br/>
            <a:r>
              <a:t>tive doku ve epitel ile alttaki destek arasında-</a:t>
            </a:r>
            <a:br/>
            <a:r>
              <a:t>Parankimal organlarda vasküler ve düz kas yapıları.</a:t>
            </a:r>
            <a:br/>
            <a:r>
              <a:t>Başlıca bileşenleri fibriller ve fibriller olmayan kollajenlerdir</a:t>
            </a:r>
            <a:br/>
            <a:r>
              <a:t>fibronektin, elastin, proteoglikanlar, hyaluronat ve diğer bileşenler gibi.</a:t>
            </a:r>
            <a:br/>
            <a:r>
              <a:t>bileşenler (daha sonra bakınız).</a:t>
            </a:r>
            <a:br/>
            <a:r>
              <a:t>•</a:t>
            </a:r>
            <a:br/>
            <a:r>
              <a:t>Bodrum membranı. Görünüşte rastgele geçiş reklamı dizisi</a:t>
            </a:r>
            <a:br/>
            <a:r>
              <a:t>Bağ dokularındaki matris, etrafında oldukça organize hale gelir.</a:t>
            </a:r>
            <a:br/>
            <a:r>
              <a:t>epitel hücreleri, endotel hücreleri ve düz kas hücreleri, oluşur</a:t>
            </a:r>
            <a:br/>
            <a:r>
              <a:t>özel bodrum membranı. Başlıca bileşenleri şunlardır</a:t>
            </a:r>
            <a:br/>
            <a:r>
              <a:t>amorf nonfibriller tip IV kollajen ve laminin.</a:t>
            </a:r>
            <a:br/>
            <a:r>
              <a:t>Temel ECM proteinlerinin özellikleri özetlenmiştir</a:t>
            </a:r>
            <a:br/>
            <a:r>
              <a:t>önümüzdeki.</a:t>
            </a:r>
            <a:br/>
            <a:r>
              <a:t>•</a:t>
            </a:r>
            <a:br/>
            <a:r>
              <a:t>Kollajen. Bu, interstisyel ma-</a:t>
            </a:r>
            <a:br/>
            <a:r>
              <a:t>trix ve skar dokusu. Hepsi 30'dan fazla farklı kollajen türü vardır</a:t>
            </a:r>
            <a:br/>
            <a:r>
              <a:t>Enflamasyon</a:t>
            </a:r>
            <a:br/>
            <a:r>
              <a:t>Kalıcı doku yaralanması</a:t>
            </a:r>
            <a:br/>
            <a:r>
              <a:t>YARA İZİ / FIBROZIS</a:t>
            </a:r>
            <a:br/>
            <a:r>
              <a:t>Miyofibroblastlar</a:t>
            </a:r>
            <a:br/>
            <a:r>
              <a:t>Hücre dışı matris</a:t>
            </a:r>
            <a:br/>
            <a:r>
              <a:t>Sitokinler</a:t>
            </a:r>
            <a:br/>
            <a:r>
              <a:t>(örneğin, IL-13)</a:t>
            </a:r>
            <a:br/>
            <a:r>
              <a:t>TGF-</a:t>
            </a:r>
            <a:br/>
            <a:r>
              <a:t>MMP'ler</a:t>
            </a:r>
            <a:br/>
            <a:r>
              <a:t>T lenfositler</a:t>
            </a:r>
            <a:br/>
            <a:r>
              <a:t>ve diğer</a:t>
            </a:r>
            <a:br/>
            <a:r>
              <a:t>lenfoid hücreler</a:t>
            </a:r>
            <a:br/>
            <a:r>
              <a:t>Fibroblast alımı</a:t>
            </a:r>
            <a:br/>
            <a:r>
              <a:t>ve farklılaşma</a:t>
            </a:r>
            <a:br/>
            <a:r>
              <a:t>Makrofajlar</a:t>
            </a:r>
            <a:br/>
            <a:r>
              <a:t>ŞEKİL 2.22 Bağ dokusu biriktirme mekanizmaları. Kalıcı</a:t>
            </a:r>
            <a:br/>
            <a:r>
              <a:t>Doku yaralanması, kronik inflamasyona ve doku mimarisi kaybına yol açar.</a:t>
            </a:r>
            <a:br/>
            <a:r>
              <a:t>tür. Makrofajlar ve diğer lökositler tarafından üretilen sitokinler stimu-</a:t>
            </a:r>
            <a:br/>
            <a:r>
              <a:t>fibroblastların ve miyofibroblastların göçünü ve proliferasyonunu geciktirmek ve</a:t>
            </a:r>
            <a:br/>
            <a:r>
              <a:t>kollajen ve diğer hücre dışı matriks proteinlerinin birikmesi. Ağ</a:t>
            </a:r>
            <a:br/>
            <a:r>
              <a:t>Sonuç, normal dokunun bağ dokusu ile değiştirilmesidir.</a:t>
            </a:r>
            <a:br/>
            <a:r>
              <a:t>50</a:t>
            </a:r>
            <a:br/>
            <a:r>
              <a:t>BÖLÜM 2 Enflamasyon ve Onarım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Şekil: Sitokinlere ve büyüme faktörlerine yanıt olarak, fibroblastlar</a:t>
            </a:r>
            <a:br/>
            <a:r>
              <a:t>Yaraya kenarlardan girin ve merkeze doğru göç edin. Bazı</a:t>
            </a:r>
            <a:br/>
            <a:r>
              <a:t>Bu hücrelerden miyofibroblast adı verilen hücrelere farklılaşabilir.</a:t>
            </a:r>
            <a:br/>
            <a:r>
              <a:t>düz kas aktini içerir ve kasılma aktivitesinin artmasına sahiptir;</a:t>
            </a:r>
            <a:br/>
            <a:r>
              <a:t>Kenarlarını merkeze doğru çekerek yarayı kapatmaya yardımcı olurlar.</a:t>
            </a:r>
            <a:br/>
            <a:r>
              <a:t>Fibroblastlar ve miyofibroblastlar aktive edildiğinde,</a:t>
            </a:r>
            <a:br/>
            <a:r>
              <a:t>sentetik aktivite ve esas olarak bağ dokusu proteinleri üretir</a:t>
            </a:r>
            <a:br/>
            <a:r>
              <a:t>kollajen ve ayrıca diğer ECM proteinleri.</a:t>
            </a:r>
            <a:br/>
            <a:r>
              <a:t>Transforme edici büyüme faktörü-b (TGF-b) en önemlisidir</a:t>
            </a:r>
            <a:br/>
            <a:r>
              <a:t>bağ dokusunun sentezi ve birikimi için sitokin</a:t>
            </a:r>
            <a:br/>
            <a:r>
              <a:t>Protein. Granülasyon dokusundaki hücrelerin çoğu tarafından üretilir,</a:t>
            </a:r>
            <a:br/>
            <a:r>
              <a:t>aktive edilmiş makrofajlar dahil. TGF-b fibroblast migra-</a:t>
            </a:r>
            <a:br/>
            <a:r>
              <a:t>tion ve proliferasyon, kollajen ve fibronektin sentezinin artması,</a:t>
            </a:r>
            <a:br/>
            <a:r>
              <a:t>Epitel</a:t>
            </a:r>
            <a:br/>
            <a:r>
              <a:t>İntegrinler</a:t>
            </a:r>
            <a:br/>
            <a:r>
              <a:t>Kapiler</a:t>
            </a:r>
            <a:br/>
            <a:r>
              <a:t>BODRUM MEMBRANI</a:t>
            </a:r>
            <a:br/>
            <a:r>
              <a:t>   • Tip IV kollajen</a:t>
            </a:r>
            <a:br/>
            <a:r>
              <a:t>   • Laminin</a:t>
            </a:r>
            <a:br/>
            <a:r>
              <a:t>   • Proteoglikan</a:t>
            </a:r>
            <a:br/>
            <a:r>
              <a:t>İNTERSTISYEL MATRIS</a:t>
            </a:r>
            <a:br/>
            <a:r>
              <a:t>   • Fibriller kollajenler</a:t>
            </a:r>
            <a:br/>
            <a:r>
              <a:t>   • Elastin</a:t>
            </a:r>
            <a:br/>
            <a:r>
              <a:t>   • Proteoglikan ve</a:t>
            </a:r>
            <a:br/>
            <a:r>
              <a:t>     Hyaluronan Dili</a:t>
            </a:r>
            <a:br/>
            <a:r>
              <a:t>Fibroblast</a:t>
            </a:r>
            <a:br/>
            <a:r>
              <a:t>İntegrinler</a:t>
            </a:r>
            <a:br/>
            <a:r>
              <a:t>Endotel hücreleri</a:t>
            </a:r>
            <a:br/>
            <a:r>
              <a:t>Proteoglikan</a:t>
            </a:r>
            <a:br/>
            <a:r>
              <a:t>Tip IV kollajen</a:t>
            </a:r>
            <a:br/>
            <a:r>
              <a:t>Laminin</a:t>
            </a:r>
            <a:br/>
            <a:r>
              <a:t>Fibroblast</a:t>
            </a:r>
            <a:br/>
            <a:r>
              <a:t>Çapraz bağlı</a:t>
            </a:r>
            <a:br/>
            <a:r>
              <a:t>Kollajen Üçlü Sarmallar</a:t>
            </a:r>
            <a:br/>
            <a:r>
              <a:t>Proteoglikan</a:t>
            </a:r>
            <a:br/>
            <a:r>
              <a:t>Yapıştırıcı</a:t>
            </a:r>
            <a:br/>
            <a:r>
              <a:t>glikoproteinler</a:t>
            </a:r>
            <a:br/>
            <a:r>
              <a:t>İntegrinler</a:t>
            </a:r>
            <a:br/>
            <a:r>
              <a:t>ŞEKİL 2.23 Hücre dışı matris (ECM). ECM'nin ana bileşenleri arasında kollajenler, proteoglikanlar,</a:t>
            </a:r>
            <a:br/>
            <a:r>
              <a:t>ve yapışkan glikoproteinler. Hem epitelyal hem de mezenkimal hücreler (ör., fibroblastlar) ECM ile şu yollarla etkileşime girer:</a:t>
            </a:r>
            <a:br/>
            <a:r>
              <a:t>entegrinler. Bazal membranlar ve interstisyel ECM farklı mimariye ve genel bileşime sahiptir,</a:t>
            </a:r>
            <a:br/>
            <a:r>
              <a:t>Her ikisinde de bazı bileşenler mevcut olmasına rağmen. Birçok ECM bileşeni (örneğin, elastin, fibrillin, hyaluronan,</a:t>
            </a:r>
            <a:br/>
            <a:r>
              <a:t>ve syndecan) gösterilmez.</a:t>
            </a:r>
            <a:br/>
            <a:r>
              <a:t>2. BÖLÜM</a:t>
            </a:r>
            <a:br/>
            <a:r>
              <a:t>Enflamasyon ve Onarım</a:t>
            </a:r>
            <a:br/>
            <a:r>
              <a:t>51</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Tablo: Böylece,</a:t>
            </a:r>
            <a:br/>
            <a:r>
              <a:t>İntegrinler, hücre içi hücre iskeletini işlevsel ve yapısal olarak birbirine bağlar</a:t>
            </a:r>
            <a:br/>
            <a:r>
              <a:t>dış dünya ile. İntegrinler ayrıca hücre-hücre yapıştırıcısına aracılık eder.</a:t>
            </a:r>
            <a:br/>
            <a:r>
              <a:t>teraksiyonlar. Alttaki alta fokal bağlantı sağlamanın yanı sıra-</a:t>
            </a:r>
            <a:br/>
            <a:r>
              <a:t>stratlar, integrinler yoluyla bağlanma, aynı zamanda sinyal kaskadlarını da tetikleyebilir.</a:t>
            </a:r>
            <a:br/>
            <a:r>
              <a:t>hücre hareketini, çoğalmasını, şeklini ve farklılaşmasını etkiler.</a:t>
            </a:r>
            <a:br/>
            <a:r>
              <a:t>ECM yapısı ve fonksiyonlarının bu arka planı ile geri dönüyoruz</a:t>
            </a:r>
            <a:br/>
            <a:r>
              <a:t>skar oluşumu sırasında bağ dokusunun birikmesine (bkz.</a:t>
            </a:r>
            <a:br/>
            <a:r>
              <a:t>Şekil 2.22). Sitokinlere ve büyüme faktörlerine yanıt olarak, fibroblastlar</a:t>
            </a:r>
            <a:br/>
            <a:r>
              <a:t>Yaraya kenarlardan girin ve merkeze doğru göç edin. Bazı</a:t>
            </a:r>
            <a:br/>
            <a:r>
              <a:t>Bu hücrelerden miyofibroblast adı verilen hücrelere farklılaşabilir.</a:t>
            </a:r>
            <a:br/>
            <a:r>
              <a:t>düz kas aktini içerir ve kasılma aktivitesinin artmasına sahiptir;</a:t>
            </a:r>
            <a:br/>
            <a:r>
              <a:t>Kenarlarını merkeze doğru çekerek yarayı kapatmaya yardımcı olurlar.</a:t>
            </a:r>
            <a:br/>
            <a:r>
              <a:t>Fibroblastlar ve miyofibroblastlar aktive edildiğinde,</a:t>
            </a:r>
            <a:br/>
            <a:r>
              <a:t>sentetik aktivite ve esas olarak bağ dokusu proteinleri üretir</a:t>
            </a:r>
            <a:br/>
            <a:r>
              <a:t>kollajen ve ayrıca diğer ECM proteinleri.</a:t>
            </a:r>
            <a:br/>
            <a:r>
              <a:t>Transforme edici büyüme faktörü-b (TGF-b) en önemlisidir</a:t>
            </a:r>
            <a:br/>
            <a:r>
              <a:t>bağ dokusunun sentezi ve birikimi için sitokin</a:t>
            </a:r>
            <a:br/>
            <a:r>
              <a:t>Protein. Granülasyon dokusundaki hücrelerin çoğu tarafından üretilir,</a:t>
            </a:r>
            <a:br/>
            <a:r>
              <a:t>aktive edilmiş makrofajlar dahil. TGF-b fibroblast migra-</a:t>
            </a:r>
            <a:br/>
            <a:r>
              <a:t>tion ve proliferasyon, kollajen ve fibronektin sentezinin artması,</a:t>
            </a:r>
            <a:br/>
            <a:r>
              <a:t>Epitel</a:t>
            </a:r>
            <a:br/>
            <a:r>
              <a:t>İntegrinler</a:t>
            </a:r>
            <a:br/>
            <a:r>
              <a:t>Kapiler</a:t>
            </a:r>
            <a:br/>
            <a:r>
              <a:t>BODRUM MEMBRANI</a:t>
            </a:r>
            <a:br/>
            <a:r>
              <a:t>   • Tip IV kollajen</a:t>
            </a:r>
            <a:br/>
            <a:r>
              <a:t>   • Laminin</a:t>
            </a:r>
            <a:br/>
            <a:r>
              <a:t>   • Proteoglikan</a:t>
            </a:r>
            <a:br/>
            <a:r>
              <a:t>İNTERSTISYEL MATRIS</a:t>
            </a:r>
            <a:br/>
            <a:r>
              <a:t>   • Fibriller kollajenler</a:t>
            </a:r>
            <a:br/>
            <a:r>
              <a:t>   • Elastin</a:t>
            </a:r>
            <a:br/>
            <a:r>
              <a:t>   • Proteoglikan ve</a:t>
            </a:r>
            <a:br/>
            <a:r>
              <a:t>     Hyaluronan Dili</a:t>
            </a:r>
            <a:br/>
            <a:r>
              <a:t>Fibroblast</a:t>
            </a:r>
            <a:br/>
            <a:r>
              <a:t>İntegrinler</a:t>
            </a:r>
            <a:br/>
            <a:r>
              <a:t>Endotel hücreleri</a:t>
            </a:r>
            <a:br/>
            <a:r>
              <a:t>Proteoglikan</a:t>
            </a:r>
            <a:br/>
            <a:r>
              <a:t>Tip IV kollajen</a:t>
            </a:r>
            <a:br/>
            <a:r>
              <a:t>Laminin</a:t>
            </a:r>
            <a:br/>
            <a:r>
              <a:t>Fibroblast</a:t>
            </a:r>
            <a:br/>
            <a:r>
              <a:t>Çapraz bağlı</a:t>
            </a:r>
            <a:br/>
            <a:r>
              <a:t>Kollajen Üçlü Sarmallar</a:t>
            </a:r>
            <a:br/>
            <a:r>
              <a:t>Proteoglikan</a:t>
            </a:r>
            <a:br/>
            <a:r>
              <a:t>Yapıştırıcı</a:t>
            </a:r>
            <a:br/>
            <a:r>
              <a:t>glikoproteinler</a:t>
            </a:r>
            <a:br/>
            <a:r>
              <a:t>İntegrinler</a:t>
            </a:r>
            <a:br/>
            <a:r>
              <a:t>ŞEKİL 2.23 Hücre dışı matris (ECM). ECM'nin ana bileşenleri arasında kollajenler, proteoglikanlar,</a:t>
            </a:r>
            <a:br/>
            <a:r>
              <a:t>ve yapışkan glikoproteinler. Hem epitelyal hem de mezenkimal hücreler (ör., fibroblastlar) ECM ile şu yollarla etkileşime girer:</a:t>
            </a:r>
            <a:br/>
            <a:r>
              <a:t>entegrinler. Bazal membranlar ve interstisyel ECM farklı mimariye ve genel bileşime sahiptir,</a:t>
            </a:r>
            <a:br/>
            <a:r>
              <a:t>Her ikisinde de bazı bileşenler mevcut olmasına rağmen. Birçok ECM bileşeni (örneğin, elastin, fibrillin, hyaluronan,</a:t>
            </a:r>
            <a:br/>
            <a:r>
              <a:t>ve syndecan) gösterilmez.</a:t>
            </a:r>
            <a:br/>
            <a:r>
              <a:t>2. BÖLÜM</a:t>
            </a:r>
            <a:br/>
            <a:r>
              <a:t>Enflamasyon ve Onarım</a:t>
            </a:r>
            <a:br/>
            <a:r>
              <a:t>51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Tablo: 3). Böylece,</a:t>
            </a:r>
            <a:br/>
            <a:r>
              <a:t>İntegrinler, hücre içi hücre iskeletini işlevsel ve yapısal olarak birbirine bağlar</a:t>
            </a:r>
            <a:br/>
            <a:r>
              <a:t>dış dünya ile. İntegrinler ayrıca hücre-hücre yapıştırıcısına aracılık eder.</a:t>
            </a:r>
            <a:br/>
            <a:r>
              <a:t>teraksiyonlar. Alttaki alta fokal bağlantı sağlamanın yanı sıra-</a:t>
            </a:r>
            <a:br/>
            <a:r>
              <a:t>stratlar, integrinler yoluyla bağlanma, aynı zamanda sinyal kaskadlarını da tetikleyebilir.</a:t>
            </a:r>
            <a:br/>
            <a:r>
              <a:t>hücre hareketini, çoğalmasını, şeklini ve farklılaşmasını etkiler.</a:t>
            </a:r>
            <a:br/>
            <a:r>
              <a:t>ECM yapısı ve fonksiyonlarının bu arka planı ile geri dönüyoruz</a:t>
            </a:r>
            <a:br/>
            <a:r>
              <a:t>skar oluşumu sırasında bağ dokusunun birikmesine (bkz.</a:t>
            </a:r>
            <a:br/>
            <a:r>
              <a:t>Şekil 2.22). Sitokinlere ve büyüme faktörlerine yanıt olarak, fibroblastlar</a:t>
            </a:r>
            <a:br/>
            <a:r>
              <a:t>Yaraya kenarlardan girin ve merkeze doğru göç edin. Bazı</a:t>
            </a:r>
            <a:br/>
            <a:r>
              <a:t>Bu hücrelerden miyofibroblast adı verilen hücrelere farklılaşabilir.</a:t>
            </a:r>
            <a:br/>
            <a:r>
              <a:t>düz kas aktini içerir ve kasılma aktivitesinin artmasına sahiptir;</a:t>
            </a:r>
            <a:br/>
            <a:r>
              <a:t>Kenarlarını merkeze doğru çekerek yarayı kapatmaya yardımcı olurlar.</a:t>
            </a:r>
            <a:br/>
            <a:r>
              <a:t>Fibroblastlar ve miyofibroblastlar aktive edildiğinde,</a:t>
            </a:r>
            <a:br/>
            <a:r>
              <a:t>sentetik aktivite ve esas olarak bağ dokusu proteinleri üretir</a:t>
            </a:r>
            <a:br/>
            <a:r>
              <a:t>kollajen ve ayrıca diğer ECM proteinleri.</a:t>
            </a:r>
            <a:br/>
            <a:r>
              <a:t>Transforme edici büyüme faktörü-b (TGF-b) en önemlisidir</a:t>
            </a:r>
            <a:br/>
            <a:r>
              <a:t>bağ dokusunun sentezi ve birikimi için sitokin</a:t>
            </a:r>
            <a:br/>
            <a:r>
              <a:t>Protein. Granülasyon dokusundaki hücrelerin çoğu tarafından üretilir,</a:t>
            </a:r>
            <a:br/>
            <a:r>
              <a:t>aktive edilmiş makrofajlar dahil. TGF-b fibroblast migra-</a:t>
            </a:r>
            <a:br/>
            <a:r>
              <a:t>tion ve proliferasyon, kollajen ve fibronektin sentezinin artması,</a:t>
            </a:r>
            <a:br/>
            <a:r>
              <a:t>Epitel</a:t>
            </a:r>
            <a:br/>
            <a:r>
              <a:t>İntegrinler</a:t>
            </a:r>
            <a:br/>
            <a:r>
              <a:t>Kapiler</a:t>
            </a:r>
            <a:br/>
            <a:r>
              <a:t>BODRUM MEMBRANI</a:t>
            </a:r>
            <a:br/>
            <a:r>
              <a:t>   • Tip IV kollajen</a:t>
            </a:r>
            <a:br/>
            <a:r>
              <a:t>   • Laminin</a:t>
            </a:r>
            <a:br/>
            <a:r>
              <a:t>   • Proteoglikan</a:t>
            </a:r>
            <a:br/>
            <a:r>
              <a:t>İNTERSTISYEL MATRIS</a:t>
            </a:r>
            <a:br/>
            <a:r>
              <a:t>   • Fibriller kollajenler</a:t>
            </a:r>
            <a:br/>
            <a:r>
              <a:t>   • Elastin</a:t>
            </a:r>
            <a:br/>
            <a:r>
              <a:t>   • Proteoglikan ve</a:t>
            </a:r>
            <a:br/>
            <a:r>
              <a:t>     Hyaluronan Dili</a:t>
            </a:r>
            <a:br/>
            <a:r>
              <a:t>Fibroblast</a:t>
            </a:r>
            <a:br/>
            <a:r>
              <a:t>İntegrinler</a:t>
            </a:r>
            <a:br/>
            <a:r>
              <a:t>Endotel hücreleri</a:t>
            </a:r>
            <a:br/>
            <a:r>
              <a:t>Proteoglikan</a:t>
            </a:r>
            <a:br/>
            <a:r>
              <a:t>Tip IV kollajen</a:t>
            </a:r>
            <a:br/>
            <a:r>
              <a:t>Laminin</a:t>
            </a:r>
            <a:br/>
            <a:r>
              <a:t>Fibroblast</a:t>
            </a:r>
            <a:br/>
            <a:r>
              <a:t>Çapraz bağlı</a:t>
            </a:r>
            <a:br/>
            <a:r>
              <a:t>Kollajen Üçlü Sarmallar</a:t>
            </a:r>
            <a:br/>
            <a:r>
              <a:t>Proteoglikan</a:t>
            </a:r>
            <a:br/>
            <a:r>
              <a:t>Yapıştırıcı</a:t>
            </a:r>
            <a:br/>
            <a:r>
              <a:t>glikoproteinler</a:t>
            </a:r>
            <a:br/>
            <a:r>
              <a:t>İntegrinler</a:t>
            </a:r>
            <a:br/>
            <a:r>
              <a:t>ŞEKİL 2.23 Hücre dışı matris (ECM). ECM'nin ana bileşenleri arasında kollajenler, proteoglikanlar,</a:t>
            </a:r>
            <a:br/>
            <a:r>
              <a:t>ve yapışkan glikoproteinler. Hem epitelyal hem de mezenkimal hücreler (ör., fibroblastlar) ECM ile şu yollarla etkileşime girer:</a:t>
            </a:r>
            <a:br/>
            <a:r>
              <a:t>entegrinler. Bazal membranlar ve interstisyel ECM farklı mimariye ve genel bileşime sahiptir,</a:t>
            </a:r>
            <a:br/>
            <a:r>
              <a:t>Her ikisinde de bazı bileşenler mevcut olmasına rağmen. Birçok ECM bileşeni (örneğin, elastin, fibrillin, hyaluronan,</a:t>
            </a:r>
            <a:br/>
            <a:r>
              <a:t>ve syndecan) gösterilmez.</a:t>
            </a:r>
            <a:br/>
            <a:r>
              <a:t>2. BÖLÜM</a:t>
            </a:r>
            <a:br/>
            <a:r>
              <a:t>Enflamasyon ve Onarım</a:t>
            </a:r>
            <a:br/>
            <a:r>
              <a:t>51</a:t>
            </a:r>
          </a:p>
        </p:txBody>
      </p:sp>
      <p:sp>
        <p:nvSpPr>
          <p:cNvPr id="5" name="TextBox 4"/>
          <p:cNvSpPr txBox="1"/>
          <p:nvPr/>
        </p:nvSpPr>
        <p:spPr>
          <a:xfrm>
            <a:off x="914400" y="3200400"/>
            <a:ext cx="7315200" cy="1097280"/>
          </a:xfrm>
          <a:prstGeom prst="rect">
            <a:avLst/>
          </a:prstGeom>
          <a:noFill/>
        </p:spPr>
        <p:txBody>
          <a:bodyPr wrap="none">
            <a:spAutoFit/>
          </a:bodyPr>
          <a:lstStyle/>
          <a:p>
            <a:pPr algn="l">
              <a:spcAft>
                <a:spcPts val="600"/>
              </a:spcAft>
              <a:defRPr sz="1200" b="1">
                <a:solidFill>
                  <a:srgbClr val="000000"/>
                </a:solidFill>
              </a:defRPr>
            </a:pPr>
            <a:r>
              <a:t>Tablo: Böylece,</a:t>
            </a:r>
            <a:br/>
            <a:r>
              <a:t>İntegrinler, hücre içi hücre iskeletini işlevsel ve yapısal olarak birbirine bağlar</a:t>
            </a:r>
            <a:br/>
            <a:r>
              <a:t>dış dünya ile. İntegrinler ayrıca hücre-hücre yapıştırıcısına aracılık eder.</a:t>
            </a:r>
            <a:br/>
            <a:r>
              <a:t>teraksiyonlar. Alttaki alta fokal bağlantı sağlamanın yanı sıra-</a:t>
            </a:r>
            <a:br/>
            <a:r>
              <a:t>stratlar, integrinler yoluyla bağlanma, aynı zamanda sinyal kaskadlarını da tetikleyebilir.</a:t>
            </a:r>
            <a:br/>
            <a:r>
              <a:t>hücre hareketini, çoğalmasını, şeklini ve farklılaşmasını etkiler.</a:t>
            </a:r>
            <a:br/>
            <a:r>
              <a:t>ECM yapısı ve fonksiyonlarının bu arka planı ile geri dönüyoruz</a:t>
            </a:r>
            <a:br/>
            <a:r>
              <a:t>skar oluşumu sırasında bağ dokusunun birikmesine (bkz.</a:t>
            </a:r>
            <a:br/>
            <a:r>
              <a:t>Şekil 2.22). Sitokinlere ve büyüme faktörlerine yanıt olarak, fibroblastlar</a:t>
            </a:r>
            <a:br/>
            <a:r>
              <a:t>Yaraya kenarlardan girin ve merkeze doğru göç edin. Bazı</a:t>
            </a:r>
            <a:br/>
            <a:r>
              <a:t>Bu hücrelerden miyofibroblast adı verilen hücrelere farklılaşabilir.</a:t>
            </a:r>
            <a:br/>
            <a:r>
              <a:t>düz kas aktini içerir ve kasılma aktivitesinin artmasına sahiptir;</a:t>
            </a:r>
            <a:br/>
            <a:r>
              <a:t>Kenarlarını merkeze doğru çekerek yarayı kapatmaya yardımcı olurlar.</a:t>
            </a:r>
            <a:br/>
            <a:r>
              <a:t>Fibroblastlar ve miyofibroblastlar aktive edildiğinde,</a:t>
            </a:r>
            <a:br/>
            <a:r>
              <a:t>sentetik aktivite ve esas olarak bağ dokusu proteinleri üretir</a:t>
            </a:r>
            <a:br/>
            <a:r>
              <a:t>kollajen ve ayrıca diğer ECM proteinleri.</a:t>
            </a:r>
            <a:br/>
            <a:r>
              <a:t>Transforme edici büyüme faktörü-b (TGF-b) en önemlisidir</a:t>
            </a:r>
            <a:br/>
            <a:r>
              <a:t>bağ dokusunun sentezi ve birikimi için sitokin</a:t>
            </a:r>
            <a:br/>
            <a:r>
              <a:t>Protein. Granülasyon dokusundaki hücrelerin çoğu tarafından üretilir,</a:t>
            </a:r>
            <a:br/>
            <a:r>
              <a:t>aktive edilmiş makrofajlar dahil. TGF-b fibroblast migra-</a:t>
            </a:r>
            <a:br/>
            <a:r>
              <a:t>tion ve proliferasyon, kollajen ve fibronektin sentezinin artması,</a:t>
            </a:r>
            <a:br/>
            <a:r>
              <a:t>Epitel</a:t>
            </a:r>
            <a:br/>
            <a:r>
              <a:t>İntegrinler</a:t>
            </a:r>
            <a:br/>
            <a:r>
              <a:t>Kapiler</a:t>
            </a:r>
            <a:br/>
            <a:r>
              <a:t>BODRUM MEMBRANI</a:t>
            </a:r>
            <a:br/>
            <a:r>
              <a:t>   • Tip IV kollajen</a:t>
            </a:r>
            <a:br/>
            <a:r>
              <a:t>   • Laminin</a:t>
            </a:r>
            <a:br/>
            <a:r>
              <a:t>   • Proteoglikan</a:t>
            </a:r>
            <a:br/>
            <a:r>
              <a:t>İNTERSTISYEL MATRIS</a:t>
            </a:r>
            <a:br/>
            <a:r>
              <a:t>   • Fibriller kollajenler</a:t>
            </a:r>
            <a:br/>
            <a:r>
              <a:t>   • Elastin</a:t>
            </a:r>
            <a:br/>
            <a:r>
              <a:t>   • Proteoglikan ve</a:t>
            </a:r>
            <a:br/>
            <a:r>
              <a:t>     Hyaluronan Dili</a:t>
            </a:r>
            <a:br/>
            <a:r>
              <a:t>Fibroblast</a:t>
            </a:r>
            <a:br/>
            <a:r>
              <a:t>İntegrinler</a:t>
            </a:r>
            <a:br/>
            <a:r>
              <a:t>Endotel hücreleri</a:t>
            </a:r>
            <a:br/>
            <a:r>
              <a:t>Proteoglikan</a:t>
            </a:r>
            <a:br/>
            <a:r>
              <a:t>Tip IV kollajen</a:t>
            </a:r>
            <a:br/>
            <a:r>
              <a:t>Laminin</a:t>
            </a:r>
            <a:br/>
            <a:r>
              <a:t>Fibroblast</a:t>
            </a:r>
            <a:br/>
            <a:r>
              <a:t>Çapraz bağlı</a:t>
            </a:r>
            <a:br/>
            <a:r>
              <a:t>Kollajen Üçlü Sarmallar</a:t>
            </a:r>
            <a:br/>
            <a:r>
              <a:t>Proteoglikan</a:t>
            </a:r>
            <a:br/>
            <a:r>
              <a:t>Yapıştırıcı</a:t>
            </a:r>
            <a:br/>
            <a:r>
              <a:t>glikoproteinler</a:t>
            </a:r>
            <a:br/>
            <a:r>
              <a:t>İntegrinler</a:t>
            </a:r>
            <a:br/>
            <a:r>
              <a:t>ŞEKİL 2.23 Hücre dışı matris (ECM). ECM'nin ana bileşenleri arasında kollajenler, proteoglikanlar,</a:t>
            </a:r>
            <a:br/>
            <a:r>
              <a:t>ve yapışkan glikoproteinler. Hem epitelyal hem de mezenkimal hücreler (ör., fibroblastlar) ECM ile şu yollarla etkileşime girer:</a:t>
            </a:r>
            <a:br/>
            <a:r>
              <a:t>entegrinler. Bazal membranlar ve interstisyel ECM farklı mimariye ve genel bileşime sahiptir,</a:t>
            </a:r>
            <a:br/>
            <a:r>
              <a:t>Her ikisinde de bazı bileşenler mevcut olmasına rağmen. Birçok ECM bileşeni (örneğin, elastin, fibrillin, hyaluronan,</a:t>
            </a:r>
            <a:br/>
            <a:r>
              <a:t>ve syndecan) gösterilmez.</a:t>
            </a:r>
            <a:br/>
            <a:r>
              <a:t>2. BÖLÜM</a:t>
            </a:r>
            <a:br/>
            <a:r>
              <a:t>Enflamasyon ve Onarım</a:t>
            </a:r>
            <a:br/>
            <a:r>
              <a:t>51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Şekil: Bu doku</a:t>
            </a:r>
            <a:br/>
            <a:r>
              <a:t>yaralanma bölgesinde aşamalı olarak yatırılır; granülasyon miktarı</a:t>
            </a:r>
            <a:br/>
            <a:r>
              <a:t>Oluşan doku, doku tarafından oluşturulan doku açığının büyüklüğüne bağlıdır.</a:t>
            </a:r>
            <a:br/>
            <a:r>
              <a:t>yara ve iltihabın yoğunluğu.</a:t>
            </a:r>
            <a:br/>
            <a:r>
              <a:t>• Dokularda bir yara izi veya fibrozis, inaktif, iğ şeklinde oluşur</a:t>
            </a:r>
            <a:br/>
            <a:r>
              <a:t>fibroblastlar, yoğun kollajen demetleri ve diğer ECM bileşenleri</a:t>
            </a:r>
            <a:br/>
            <a:r>
              <a:t>(Şekil 2.24B). Patologlar genellikle farklı tanımlamak için özel lekeler kullanırlar.</a:t>
            </a:r>
            <a:br/>
            <a:r>
              <a:t>Yara izleri ve fibrotik dokuların protein bileşenleri. Trikrom leke de-</a:t>
            </a:r>
            <a:br/>
            <a:r>
              <a:t>kollajen liflerini tekts eder ve elastin boyası, hassas lifleri tanımlar.</a:t>
            </a:r>
            <a:br/>
            <a:r>
              <a:t>Elastin, esnek elastik dokunun ana bileşenidir. (Trikrom</a:t>
            </a:r>
            <a:br/>
            <a:r>
              <a:t>aslında üç leke içerirbu nedenle adıo renk kırmızı kan hücreleri</a:t>
            </a:r>
            <a:br/>
            <a:r>
              <a:t>turuncu, kas kırmızısı ve kollajen mavisi.) Başka bir hücre dışı matris proteini</a:t>
            </a:r>
            <a:br/>
            <a:r>
              <a:t>normal organların bağ dokusu stromasını oluşturan ve</a:t>
            </a:r>
            <a:br/>
            <a:r>
              <a:t>Erken yara izlerinde tip III kollajenden oluşan retikülin bulunur,</a:t>
            </a:r>
            <a:br/>
            <a:r>
              <a:t>Ve o da özel bir leke ile tanımlanabilir.</a:t>
            </a:r>
            <a:br/>
            <a:r>
              <a:t>Doku onarımına müdahale eden faktörler</a:t>
            </a:r>
            <a:br/>
            <a:r>
              <a:t>İyileşmeyi engelleyen değişkenler dışsal olabilir (ör. enfeksiyon) veya</a:t>
            </a:r>
            <a:br/>
            <a:r>
              <a:t>yaralı dokuya içsel ve sistemik veya lokal:</a:t>
            </a:r>
            <a:br/>
            <a:r>
              <a:t>•</a:t>
            </a:r>
            <a:br/>
            <a:r>
              <a:t>Enfeksiyon klinik olarak en önemli gecikme nedenlerinden biridir.</a:t>
            </a:r>
            <a:br/>
            <a:r>
              <a:t>Şifa; İltihabı uzatır ve lokal dokuyu artırabilir</a:t>
            </a:r>
            <a:br/>
            <a:r>
              <a:t>Yaralanma.</a:t>
            </a:r>
            <a:br/>
            <a:r>
              <a:t>•</a:t>
            </a:r>
            <a:br/>
            <a:r>
              <a:t>Diyabet, doku onarımını tehlikeye atan metabolik bir hastalıktır.</a:t>
            </a:r>
            <a:br/>
            <a:r>
              <a:t>birçok neden (Bölüm 18) ve önemli bir sistemik nedendir</a:t>
            </a:r>
            <a:br/>
            <a:r>
              <a:t>gecikmiş yara iyileşmesi.</a:t>
            </a:r>
            <a:br/>
            <a:r>
              <a:t>•</a:t>
            </a:r>
            <a:br/>
            <a:r>
              <a:t>Beslenme</a:t>
            </a:r>
            <a:br/>
            <a:r>
              <a:t>durum</a:t>
            </a:r>
            <a:br/>
            <a:r>
              <a:t>vardır</a:t>
            </a:r>
            <a:br/>
            <a:r>
              <a:t>derin</a:t>
            </a:r>
            <a:br/>
            <a:r>
              <a:t>Efekt -leri</a:t>
            </a:r>
            <a:br/>
            <a:r>
              <a:t>üzerinde</a:t>
            </a:r>
            <a:br/>
            <a:r>
              <a:t>onarım;</a:t>
            </a:r>
            <a:br/>
            <a:r>
              <a:t>protein</a:t>
            </a:r>
            <a:br/>
            <a:r>
              <a:t>ve C vitamini eksiklikleri kollajen sentezini engeller ve geciktirir</a:t>
            </a:r>
            <a:br/>
            <a:r>
              <a:t>Şifa.</a:t>
            </a:r>
            <a:br/>
            <a:r>
              <a:t>•</a:t>
            </a:r>
            <a:br/>
            <a:r>
              <a:t>Glukokortikoidler (steroidler),</a:t>
            </a:r>
            <a:br/>
            <a:r>
              <a:t>TGF-b'nin üretimi, daha önce pro- olan bir sitokin olarak bahsedildi.</a:t>
            </a:r>
            <a:br/>
            <a:r>
              <a:t>motes kollajen birikimi. Böylece, ameliyat sonrası ortamda</a:t>
            </a:r>
            <a:br/>
            <a:r>
              <a:t>Glukokortikoidlerin uygulanması yeterli yarayı önleyebilir</a:t>
            </a:r>
            <a:br/>
            <a:r>
              <a:t>Şifa. Öte yandan, glukokortikoidler bazen</a:t>
            </a:r>
            <a:br/>
            <a:r>
              <a:t>B</a:t>
            </a:r>
            <a:br/>
            <a:r>
              <a:t>A</a:t>
            </a:r>
            <a:br/>
            <a:r>
              <a:t>B</a:t>
            </a:r>
            <a:br/>
            <a:r>
              <a:t>ŞEKİL 2.24 İyileşen yara. (A) Çok sayıda kan damarı, ödem ve gevşek gösteren granülasyon dokusu</a:t>
            </a:r>
            <a:br/>
            <a:r>
              <a:t>Ara sıra inflamatuar hücreler içeren hücre dışı matris. Kollajen, trikrom lekesi ile maviye boyanır;</a:t>
            </a:r>
            <a:br/>
            <a:r>
              <a:t>Bu noktada minimal olgun kollajen görülebilir. (B) Yoğun kollajen gösteren olgun yara izi (mavi, trikrom</a:t>
            </a:r>
            <a:br/>
            <a:r>
              <a:t>boya) ve dağınık vasküler kanallar.</a:t>
            </a:r>
            <a:br/>
            <a:r>
              <a:t>52</a:t>
            </a:r>
            <a:br/>
            <a:r>
              <a:t>BÖLÜM 2 Enflamasyon ve Onarım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Şekil:•</a:t>
            </a:r>
            <a:br/>
            <a:r>
              <a:t>Arteriyel ülserler (Şekil 2.25B) aterosklesyonlu bireylerde gelişir.</a:t>
            </a:r>
            <a:br/>
            <a:r>
              <a:t>özellikle diyabet ile ilişkili periferik arterlerin rozu.</a:t>
            </a:r>
            <a:br/>
            <a:r>
              <a:t>Vasküler uzlaşmadan kaynaklanan iskemi aşağıdakilere müdahale eder</a:t>
            </a:r>
            <a:br/>
            <a:r>
              <a:t>onarım ve cildin ve alttaki dokuların nekrozuna neden olabilir,</a:t>
            </a:r>
            <a:br/>
            <a:r>
              <a:t>ağrılı lezyonlar üretir.</a:t>
            </a:r>
            <a:br/>
            <a:r>
              <a:t>•</a:t>
            </a:r>
            <a:br/>
            <a:r>
              <a:t>Diyabetik ülserler (Şekil 2.25C) özellikle alt ekstremiteleri etkiler</a:t>
            </a:r>
            <a:br/>
            <a:r>
              <a:t>ayaklar. Nekroz ve iyileşme başarısızlığı küçük</a:t>
            </a:r>
            <a:br/>
            <a:r>
              <a:t>iskemi ve nöropatiye neden olan damar hastalığının yanı sıra ikinci-</a:t>
            </a:r>
            <a:br/>
            <a:r>
              <a:t>ary enfeksiyonları. Histolojik olarak, bu lezyonlar ile karakterize edilir</a:t>
            </a:r>
            <a:br/>
            <a:r>
              <a:t>epidermal ülserasyon (Şekil 2.25E) ve geniş granülasyon dokusu</a:t>
            </a:r>
            <a:br/>
            <a:r>
              <a:t>altta yatan dermiste (Şekil 2.25F).</a:t>
            </a:r>
            <a:br/>
            <a:r>
              <a:t>•</a:t>
            </a:r>
            <a:br/>
            <a:r>
              <a:t>Bası yaraları (Şekil 2.25D) cilt ülseri ve nekroz alanlarıdır</a:t>
            </a:r>
            <a:br/>
            <a:r>
              <a:t>dokuların uzun süre basıya basması sonucu oluşan altta yatan dokuların</a:t>
            </a:r>
            <a:br/>
            <a:r>
              <a:t>bir kemiğe karşı, örneğin yatalak bireylerde. Lezyonlar şunlardır</a:t>
            </a:r>
            <a:br/>
            <a:r>
              <a:t>mekanik basınç ve lokal iskemi neden olur.</a:t>
            </a:r>
            <a:br/>
            <a:r>
              <a:t>Bazı durumlarda, iyileşmenin başarısız olması ayrışmaya veya</a:t>
            </a:r>
            <a:br/>
            <a:r>
              <a:t>bir yaranın yırtılması. Yaygın olmasa da, bu en çok meydana gelir</a:t>
            </a:r>
            <a:br/>
            <a:r>
              <a:t>sıklıkla karın ameliyatından sonra ve kusma, öksürük,</a:t>
            </a:r>
            <a:br/>
            <a:r>
              <a:t>veya karın üzerinde mekanik stres oluşturabilen ileus</a:t>
            </a:r>
            <a:br/>
            <a:r>
              <a:t>yara, yırtılmasına yol açar.</a:t>
            </a:r>
            <a:br/>
            <a:r>
              <a:t>A</a:t>
            </a:r>
            <a:br/>
            <a:r>
              <a:t>E</a:t>
            </a:r>
            <a:br/>
            <a:r>
              <a:t>F</a:t>
            </a:r>
            <a:br/>
            <a:r>
              <a:t>B</a:t>
            </a:r>
            <a:br/>
            <a:r>
              <a:t>C</a:t>
            </a:r>
            <a:br/>
            <a:r>
              <a:t>D</a:t>
            </a:r>
            <a:br/>
            <a:r>
              <a:t>ŞEKİL 2.25 Yara iyileşmesindeki kusurları gösteren kronik yaralar. (AED) Cilt ülserlerinin dış görünümü. (Bir)</a:t>
            </a:r>
            <a:br/>
            <a:r>
              <a:t>Venöz bacak ülseri; (B) daha geniş doku nekrozu ile arteriyel ülser; (C) diyabetik ülser; ve (D) basınç</a:t>
            </a:r>
            <a:br/>
            <a:r>
              <a:t>Boğaz. (EeF) Diyabetik ülserin histolojik görünümü. (E) Ülser krateri; (F) kronik inflamasyon ve granülasyon</a:t>
            </a:r>
            <a:br/>
            <a:r>
              <a:t>doku. (Eming SA, Martin P, Tomic-Canic M'den: Yara onarımı ve rejenerasyonu: mekanizmalar, sinyalizasyon,</a:t>
            </a:r>
            <a:br/>
            <a:r>
              <a:t>ve çeviri. Sci Transl Med 6:265, 2014.)</a:t>
            </a:r>
            <a:br/>
            <a:r>
              <a:t>2. BÖLÜM</a:t>
            </a:r>
            <a:br/>
            <a:r>
              <a:t>Enflamasyon ve Onarım</a:t>
            </a:r>
            <a:br/>
            <a:r>
              <a:t>53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Şekil: Keloid oluşumu bireysel bir yatkınlık gibi görünmektedir.</a:t>
            </a:r>
            <a:br/>
            <a:r>
              <a:t>Bir yaranın boyutundaki kasılma, yaranın önemli bir parçasıdır.</a:t>
            </a:r>
            <a:br/>
            <a:r>
              <a:t>normal iyileşme süreci. Bu sürecin abartılması şuna yol açar</a:t>
            </a:r>
            <a:br/>
            <a:r>
              <a:t>kontraktür ve yara deformiteleri ile sonuçlanır ve sur-</a:t>
            </a:r>
            <a:br/>
            <a:r>
              <a:t>dokuları yuvarlama. Kontraktürler özellikle</a:t>
            </a:r>
            <a:br/>
            <a:r>
              <a:t>avuç içleri, tabanlar ve göğüs kafesinin ön yüzü. Kontraktürler</a:t>
            </a:r>
            <a:br/>
            <a:r>
              <a:t>genellikle ciddi yanıklardan sonra görülür ve cildi tehlikeye atabilir.</a:t>
            </a:r>
            <a:br/>
            <a:r>
              <a:t>eklemlerin hareketi.</a:t>
            </a:r>
            <a:br/>
            <a:r>
              <a:t>Parankimal Organlarda Fibroz</a:t>
            </a:r>
            <a:br/>
            <a:r>
              <a:t>Fibroz terimi, aşırı kollajen birikimini belirtmek için kullanılır</a:t>
            </a:r>
            <a:br/>
            <a:r>
              <a:t>ve bir dokudaki diğer ECM bileşenleri. Skar ve fibroz terimleri şunlardır</a:t>
            </a:r>
            <a:br/>
            <a:r>
              <a:t>Genellikle birbirinin yerine kullanılır, ancak fibroz genellikle anormal olanı ifade eder</a:t>
            </a:r>
            <a:br/>
            <a:r>
              <a:t>kronik hastalıklarda iç organlarda kollajen birikimi. Temel</a:t>
            </a:r>
            <a:br/>
            <a:r>
              <a:t>fibroz mekanizmaları, fibrozda skar oluşumu ile aynıdır.</a:t>
            </a:r>
            <a:br/>
            <a:r>
              <a:t>doku onarımı sırasında cilt. Fibrozis kalıcı yaralanmalar tarafından indüklenir</a:t>
            </a:r>
            <a:br/>
            <a:r>
              <a:t>kronik enfeksiyonlar ve immünolojik reaksiyonlar gibi uyaranlar ve</a:t>
            </a:r>
            <a:br/>
            <a:r>
              <a:t>önemli organ fonksiyon bozukluğundan ve hatta organdan sorumlu olabilir</a:t>
            </a:r>
            <a:br/>
            <a:r>
              <a:t>başarısızlık. Daha önce tartışıldığı gibi, fibrozda yer alan ana sitokin</a:t>
            </a:r>
            <a:br/>
            <a:r>
              <a:t>TGF-b, ancak T lenfositleri tarafından üretilen IL-13 gibi sitokinler</a:t>
            </a:r>
            <a:br/>
            <a:r>
              <a:t>ayrıca katkıda bulunur (bkz. Şekil 2.22).</a:t>
            </a:r>
            <a:br/>
            <a:r>
              <a:t>Fibrotik bozukluklar çeşitli kronik ve zayıflatıcı hastalıkları içerir.</a:t>
            </a:r>
            <a:br/>
            <a:r>
              <a:t>karaciğer sirozu, sistemik skleroz (skleroderma) gibi rahatsızlıklar,</a:t>
            </a:r>
            <a:br/>
            <a:r>
              <a:t>akciğerin fibrozan hastalıkları (idiyopatik pulmoner fibrozis,</a:t>
            </a:r>
            <a:br/>
            <a:r>
              <a:t>pnömokonyozlar,</a:t>
            </a:r>
            <a:br/>
            <a:r>
              <a:t>ve ilaç-</a:t>
            </a:r>
            <a:br/>
            <a:r>
              <a:t>ve</a:t>
            </a:r>
            <a:br/>
            <a:r>
              <a:t>radyasyon kaynaklı</a:t>
            </a:r>
            <a:br/>
            <a:r>
              <a:t>Pulmoner</a:t>
            </a:r>
            <a:br/>
            <a:r>
              <a:t>fibrozis), son dönem böbrek hastalığı ve konstriktif perikardit.</a:t>
            </a:r>
            <a:br/>
            <a:r>
              <a:t>Bu koşullar kitapta ilgili bölümlerde ele alınmıştır.</a:t>
            </a:r>
            <a:br/>
            <a:r>
              <a:t>Fibrozisin neden olduğu muazzam fonksiyonel bozukluk nedeniyle</a:t>
            </a:r>
            <a:br/>
            <a:r>
              <a:t>Bu koşullarda, geliştirilmesine büyük ilgi var.</a:t>
            </a:r>
            <a:br/>
            <a:r>
              <a:t>antifibrotik ilaçlar.</a:t>
            </a:r>
            <a:br/>
            <a:r>
              <a:t>n HIZLI İNCELEME</a:t>
            </a:r>
            <a:br/>
            <a:r>
              <a:t>Enflamasyonun genel özellikleri ve nedenleri</a:t>
            </a:r>
            <a:br/>
            <a:r>
              <a:t>•</a:t>
            </a:r>
            <a:br/>
            <a:r>
              <a:t>Enflamasyon, yabancı istilacılara karşı faydalı bir konak yanıtıdır ve</a:t>
            </a:r>
            <a:br/>
            <a:r>
              <a:t>nekrotik doku, ancak aynı zamanda doku hasarına da neden olabilir.</a:t>
            </a:r>
            <a:br/>
            <a:r>
              <a:t>•</a:t>
            </a:r>
            <a:br/>
            <a:r>
              <a:t>Enflamasyonun ana bileşenleri vasküler bir reaksiyondur ve</a:t>
            </a:r>
            <a:br/>
            <a:r>
              <a:t>hücresel bir yanıt; Her ikisi de türetilen aracılar tarafından aktive edilir.</a:t>
            </a:r>
            <a:br/>
            <a:r>
              <a:t>plazma proteinlerinden ve çeşitli hücrelerden.</a:t>
            </a:r>
            <a:br/>
            <a:r>
              <a:t>•</a:t>
            </a:r>
            <a:br/>
            <a:r>
              <a:t>Enflamatuar yanıtın adımları şu şekilde hatırlanabilir:</a:t>
            </a:r>
            <a:br/>
            <a:r>
              <a:t>beş R: (1) zararlı ajanın tanınması; (2) işe alım</a:t>
            </a:r>
            <a:br/>
            <a:r>
              <a:t>Lökosit; (3) ajanın çıkarılması; (4) Düzenleme (fesih)</a:t>
            </a:r>
            <a:br/>
            <a:r>
              <a:t>yanıtın; ve (5) onarım.</a:t>
            </a:r>
            <a:br/>
            <a:r>
              <a:t>•</a:t>
            </a:r>
            <a:br/>
            <a:r>
              <a:t>Enflamasyonun nedenleri arasında enfeksiyonlar, doku nekrozu,</a:t>
            </a:r>
            <a:br/>
            <a:r>
              <a:t>yabancı cisimler, travma ve bağışıklık tepkileri.</a:t>
            </a:r>
            <a:br/>
            <a:r>
              <a:t>•</a:t>
            </a:r>
            <a:br/>
            <a:r>
              <a:t>Epitel hücreleri, doku makrofajları ve dendritik hücreler, lökositler,</a:t>
            </a:r>
            <a:br/>
            <a:r>
              <a:t>ve diğer hücre tipleri, mi-</a:t>
            </a:r>
            <a:br/>
            <a:r>
              <a:t>crobes ve nekrotik hücreler. Dolaşan proteinler mikropları tanır</a:t>
            </a:r>
            <a:br/>
            <a:r>
              <a:t>kana girmiş olan.</a:t>
            </a:r>
            <a:br/>
            <a:r>
              <a:t>•</a:t>
            </a:r>
            <a:br/>
            <a:r>
              <a:t>Akut inflamasyonun sonucu, ya inflamasyonun ortadan kaldırılmasıdır.</a:t>
            </a:r>
            <a:br/>
            <a:r>
              <a:t>zararlı uyaran, ardından reaksiyonun azalması ve onarımı takip eder</a:t>
            </a:r>
            <a:br/>
            <a:r>
              <a:t>hasarlı dokunun veya kronik ile sonuçlanan kalıcı yaralanma</a:t>
            </a:r>
            <a:br/>
            <a:r>
              <a:t>enflamasyon.</a:t>
            </a:r>
            <a:br/>
            <a:r>
              <a:t>Akut inflamasyonda vasküler reaksiyonlar</a:t>
            </a:r>
            <a:br/>
            <a:r>
              <a:t>•</a:t>
            </a:r>
            <a:br/>
            <a:r>
              <a:t>Vazodilatasyon kimyasal mediatörler tarafından indüklenir ve bunun nedenidir.</a:t>
            </a:r>
            <a:br/>
            <a:r>
              <a:t>eritem ve kan akışının durgunluğu.</a:t>
            </a:r>
            <a:br/>
            <a:r>
              <a:t>•</a:t>
            </a:r>
            <a:br/>
            <a:r>
              <a:t>Artan vasküler geçirgenlik histamin, kininler,</a:t>
            </a:r>
            <a:br/>
            <a:r>
              <a:t>ve endotel hücreleri arasında boşluklar oluşturan diğer aracılar,</a:t>
            </a:r>
            <a:br/>
            <a:r>
              <a:t>veya doğrudan veya lökosit kaynaklı endotel hasarı ile.</a:t>
            </a:r>
            <a:br/>
            <a:r>
              <a:t>•</a:t>
            </a:r>
            <a:br/>
            <a:r>
              <a:t>Artan vasküler geçirgenlik, plazma proteinlerine ve löko-</a:t>
            </a:r>
            <a:br/>
            <a:r>
              <a:t>Konak savunmasının aracıları olan sitler, enfeksiyon bölgelerine girmek için veya</a:t>
            </a:r>
            <a:br/>
            <a:r>
              <a:t>doku hasarı. Kan damarlarından sıvı sızıntısı (eksüdasyon) sonuçları</a:t>
            </a:r>
            <a:br/>
            <a:r>
              <a:t>ödem içinde.</a:t>
            </a:r>
            <a:br/>
            <a:r>
              <a:t>•</a:t>
            </a:r>
            <a:br/>
            <a:r>
              <a:t>Lenfatik damarlar ve lenf düğümleri de iltihaplanmada rol oynar.</a:t>
            </a:r>
            <a:br/>
            <a:r>
              <a:t>Sıklıkla kızarıklık (damarlar) ve şişlik (lenf) gösterir</a:t>
            </a:r>
            <a:br/>
            <a:r>
              <a:t>düğümler).</a:t>
            </a:r>
            <a:br/>
            <a:r>
              <a:t>Enflamasyon bölgelerine lökosit alımı</a:t>
            </a:r>
            <a:br/>
            <a:r>
              <a:t>•</a:t>
            </a:r>
            <a:br/>
            <a:r>
              <a:t>Lökositler kandan ekstravasküler damarlara alınır.</a:t>
            </a:r>
            <a:br/>
            <a:r>
              <a:t>Enfeksiyöz patojenlerin veya hasarlı dokuların bulunabileceği durumlarda dava açın</a:t>
            </a:r>
            <a:br/>
            <a:r>
              <a:t>ve savunma işlevlerini yerine getirmek için etkinleştirilir.</a:t>
            </a:r>
            <a:br/>
            <a:r>
              <a:t>B</a:t>
            </a:r>
            <a:br/>
            <a:r>
              <a:t>A</a:t>
            </a:r>
            <a:br/>
            <a:r>
              <a:t>C</a:t>
            </a:r>
            <a:br/>
            <a:r>
              <a:t>ŞEKİL 2.26 Keloid. Keloidler açık cilt tonlarında eritemli görünebilir</a:t>
            </a:r>
            <a:br/>
            <a:r>
              <a:t>(A) veya daha koyu tende (B) hiperpigmente. (C) Mikroskobik görünümü</a:t>
            </a:r>
            <a:br/>
            <a:r>
              <a:t>bir keloid. Dermiste biriken kalın bağ dokusuna dikkat edin. (Bir</a:t>
            </a:r>
            <a:br/>
            <a:r>
              <a:t>Zitelli BJ, Davis HW'den: Pediatrik Fizik Tanı Atlası, ed 5,</a:t>
            </a:r>
            <a:br/>
            <a:r>
              <a:t>Philadelphia, 2007, Mosby; Eming SA'dan B, Martin P, Tomic-Canic M:</a:t>
            </a:r>
            <a:br/>
            <a:r>
              <a:t>Yara onarımı ve rejenerasyonu: mekanizmalar, sinyalizasyon ve translasyon.</a:t>
            </a:r>
            <a:br/>
            <a:r>
              <a:t>Sci Transl Med 6:265, 2014.)</a:t>
            </a:r>
            <a:br/>
            <a:r>
              <a:t>54</a:t>
            </a:r>
            <a:br/>
            <a:r>
              <a:t>BÖLÜM 2 Enflamasyon ve Onarım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