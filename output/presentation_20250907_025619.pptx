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lgn="ctr">
              <a:defRPr sz="4400" b="1">
                <a:solidFill>
                  <a:srgbClr val="000000"/>
                </a:solidFill>
              </a:defRPr>
            </a:pPr>
          </a:p>
        </p:txBody>
      </p:sp>
      <p:sp>
        <p:nvSpPr>
          <p:cNvPr id="3" name="Subtitle 2"/>
          <p:cNvSpPr>
            <a:spLocks noGrp="1"/>
          </p:cNvSpPr>
          <p:nvPr>
            <p:ph type="subTitle" idx="1"/>
          </p:nvPr>
        </p:nvSpPr>
        <p:spPr/>
        <p:txBody>
          <a:bodyPr/>
          <a:lstStyle/>
          <a:p>
            <a:pPr algn="ctr">
              <a:defRPr sz="2400" i="1">
                <a:solidFill>
                  <a:srgbClr val="595959"/>
                </a:solidFill>
              </a:defRPr>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Inflammation and repair are critical processes in the body's response to injury and infection. The acute-phase response consists of the production of plasma proteins, called acute-phase proteins, which are mostly synthesized in the liver. Their levels in the blood may increase up to several hundred-fold as part of the response to inflammatory stimuli. Repair, sometimes called healing, refers to the restoration of tissue architecture and function after an injury. The inflammatory response to microbes and injured tissues not only serves to eliminate these dangers but also sets into motion the process of repair.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The acute-phase response consists of the production of plasma proteins, called acute-phase proteins. They are mostly synthesized in the liver and their levels in the blood may increase up to several hundred-fold as part of the response to inflammatory stimuli.</a:t>
            </a:r>
          </a:p>
          <a:p>
            <a:pPr>
              <a:defRPr sz="1600">
                <a:solidFill>
                  <a:srgbClr val="000000"/>
                </a:solidFill>
              </a:defRPr>
            </a:pPr>
            <a:r>
              <a:t>Other manifestations of the systemic response include increased heart rate and blood pressure; decreased sweating, mainly because of redirection of blood flow from cutaneous to deep vascular beds, to minimize heat loss through the skin; and rigors (shivering), chills, anorexia, somnolence, and malaise, probably because of the actions of cytokines on brain cells.</a:t>
            </a:r>
          </a:p>
          <a:p>
            <a:pPr>
              <a:defRPr sz="1600">
                <a:solidFill>
                  <a:srgbClr val="000000"/>
                </a:solidFill>
              </a:defRPr>
            </a:pPr>
            <a:r>
              <a:t>In severe bacterial infections (sepsis), the abundance of bacteria and their products in the blood stimulate the production of enormous quantities of several cytokines, notably TNF, IL-1, and IL-6.</a:t>
            </a:r>
          </a:p>
          <a:p>
            <a:pPr>
              <a:defRPr sz="1600">
                <a:solidFill>
                  <a:srgbClr val="000000"/>
                </a:solidFill>
              </a:defRPr>
            </a:pPr>
            <a:r>
              <a:t>A syndrome similar to septic shock may occur as a complication of noninfectious disorders, such as severe burns, trauma, and pancreatitis.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Repair, sometimes called healing, refers to the restoration of tissue architecture and function after an injury.</a:t>
            </a:r>
          </a:p>
          <a:p>
            <a:pPr>
              <a:defRPr sz="1600">
                <a:solidFill>
                  <a:srgbClr val="000000"/>
                </a:solidFill>
              </a:defRPr>
            </a:pPr>
            <a:r>
              <a:t>Regeneration occurs by proliferation of cells that survive the injury and retain the capacity to generate the mature cells of that tissue.</a:t>
            </a:r>
          </a:p>
          <a:p>
            <a:pPr>
              <a:defRPr sz="1600">
                <a:solidFill>
                  <a:srgbClr val="000000"/>
                </a:solidFill>
              </a:defRPr>
            </a:pPr>
            <a:r>
              <a:t>Scar formation occurs when the injured tissues are incapable of complete restitution, or when the supporting structures of the tissue are damaged, repair occurs by the laying down of connective (fibrous) tissue, a process known as scarring.</a:t>
            </a:r>
          </a:p>
          <a:p>
            <a:pPr>
              <a:defRPr sz="1600">
                <a:solidFill>
                  <a:srgbClr val="000000"/>
                </a:solidFill>
              </a:defRPr>
            </a:pPr>
            <a:r>
              <a:t>Cell proliferation is driven by signals provided by growth factors and from the extracellular matrix.</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Regeneration occurs by proliferation of cells that survive the injury and retain the capacity to generate the mature cells of that tissue.</a:t>
            </a:r>
          </a:p>
          <a:p>
            <a:pPr>
              <a:defRPr sz="1600">
                <a:solidFill>
                  <a:srgbClr val="000000"/>
                </a:solidFill>
              </a:defRPr>
            </a:pPr>
            <a:r>
              <a:t>In the process of regeneration, proliferation of residual cells is supplemented by development of mature cells from stem cells.</a:t>
            </a:r>
          </a:p>
          <a:p>
            <a:pPr>
              <a:defRPr sz="1600">
                <a:solidFill>
                  <a:srgbClr val="000000"/>
                </a:solidFill>
              </a:defRPr>
            </a:pPr>
            <a:r>
              <a:t>Cell proliferation is driven by signals provided by growth factors and from the extracellular matrix.</a:t>
            </a:r>
          </a:p>
          <a:p>
            <a:pPr>
              <a:defRPr sz="1600">
                <a:solidFill>
                  <a:srgbClr val="000000"/>
                </a:solidFill>
              </a:defRPr>
            </a:pPr>
            <a:r>
              <a:t>The laying down of connective tissue occurs in two steps: migration of fibroblasts into the site of injury, where they proliferate, and production and deposition of ECM proteins.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Scar formation occurs when the injured tissues are incapable of complete restitution, or when the supporting structures of the tissue are damaged, repair occurs by the laying down of connective (fibrous) tissue, a process known as scarring.</a:t>
            </a:r>
          </a:p>
          <a:p>
            <a:pPr>
              <a:defRPr sz="1600">
                <a:solidFill>
                  <a:srgbClr val="000000"/>
                </a:solidFill>
              </a:defRPr>
            </a:pPr>
            <a:r>
              <a:t>The laying down of connective tissue occurs in two steps: migration of fibroblasts into the site of injury, where they proliferate, and production and deposition of ECM proteins.</a:t>
            </a:r>
          </a:p>
          <a:p>
            <a:pPr>
              <a:defRPr sz="1600">
                <a:solidFill>
                  <a:srgbClr val="000000"/>
                </a:solidFill>
              </a:defRPr>
            </a:pPr>
            <a:r>
              <a:t>Fibrosis is induced by persistent injurious stimuli, such as chronic infections and immunologic reactions, and may be responsible for substantial organ dysfunction and even organ failure.</a:t>
            </a:r>
          </a:p>
          <a:p>
            <a:pPr>
              <a:defRPr sz="1600">
                <a:solidFill>
                  <a:srgbClr val="000000"/>
                </a:solidFill>
              </a:defRPr>
            </a:pPr>
            <a:r>
              <a:t>Elevated serum levels of CRP have been proposed as a marker for increased risk of myocardial infarction in patients with coronary artery disease.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Angiogenesis involves the sprouting of new vessels from existing ones.</a:t>
            </a:r>
          </a:p>
          <a:p>
            <a:pPr>
              <a:defRPr sz="1600">
                <a:solidFill>
                  <a:srgbClr val="000000"/>
                </a:solidFill>
              </a:defRPr>
            </a:pPr>
            <a:r>
              <a:t>The process of angiogenesis is crucial for the repair of damaged tissues and is driven by signals provided by growth factors and from the extracellular matrix.</a:t>
            </a:r>
          </a:p>
          <a:p>
            <a:pPr>
              <a:defRPr sz="1600">
                <a:solidFill>
                  <a:srgbClr val="000000"/>
                </a:solidFill>
              </a:defRPr>
            </a:pPr>
            <a:r>
              <a:t>In severe bacterial infections (sepsis), high blood levels of cytokines cause widespread abnormalities such as disseminated intravascular coagulation, hypotension, and metabolic disturbances.</a:t>
            </a:r>
          </a:p>
          <a:p>
            <a:pPr>
              <a:defRPr sz="1600">
                <a:solidFill>
                  <a:srgbClr val="000000"/>
                </a:solidFill>
              </a:defRPr>
            </a:pPr>
            <a:r>
              <a:t>Inflammation is also associated with increased production of the iron-regulating peptide hepcidin, which reduces the availability of iron and is responsible for the anemia associated with chronic inflammation.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