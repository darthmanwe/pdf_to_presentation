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Inflammation is a beneficial host response to foreign invaders and necrotic tissue, but it may also cause tissue damage. The main components of inflammation are a vascular reaction and a cellular response; both are activated by mediators that are derived from plasma proteins and various cells. The steps of the inflammatory response can be remembered as the five R’s: (1) recognition of the injurious agent; (2) recruitment of leukocytes; (3) removal of the agent; (4) regulation (termination) of the response; and (5) repair. The causes of inflammation include infections, tissue necrosis, foreign bodies, trauma, and immune responses. Epithelial cells, tissue macrophages and dendritic cells, leukocytes, and other cell types express receptors that sense the presence of microbes and necrotic cells. Circulating proteins recognize microbes that have entered the blood. The outcome of acute inflammation is either elimination of the noxious stimulus followed by decline of the reaction and repair of the damaged tissue, or persistent injury resulting in chronic inflammation.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Repair, sometimes called healing, refers to the restoration of tissue architecture and function after an injury. The inflammatory response to microbes and injured tissues not only serves to eliminate these dangers but also sets into motion the process of repair. Repair of damaged tissues occurs by two types of reactions, regeneration and scar formation. Regeneration occurs by proliferation of cells that survive the injury and retain the capacity to generate the mature cells of that tissue. Scar formation occurs when the injured tissues are incapable of complete restitution, or when the supporting structures of the tissue are damaged, repair occurs by the laying down of connective (fibrous) tissue. After many common types of injury, both regeneration and scar formation contribute in varying degrees to repair. The ability of tissues to repair themselves is determined, in part, by their intrinsic proliferative capacity. In some tissues, cells are constantly being lost and must be continually replaced by new cells that are derived from tissue stem cells and from the remaining mature tissue cells. Other tissues are made up of cells that are normally in the G0 stage of the cell cycle and hence not proliferating, but which are capable of dividing in response to injury or loss of tissue mass. Cell proliferation is driven by signals provided by growth factors and from the extracellular matrix. In the process of regeneration, proliferation of residual cells is supplemented by development of mature cells from stem cells. The importance of regeneration in the replacement of injured tissues varies in different types of tissues and with the severity of injury. In epithelia of the intestinal tract and skin, provided the underlying basement membrane is intact, injured cells are rapidly replaced by proliferation of residual cells and differentiation of tissue stem cells. Tissue regeneration can occur in parenchymal organs whose mature cells are capable of proliferation, but with the exception of the liver, this is usually a limited process. Restoration of normal tissue architecture can occur only if the residual tissue is structurally intact. If the entire tissue, including the supporting framework, is damaged by infection or inflammation, regeneration is incomplete and is accompanied by scarring.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a:t>
            </a:r>
            <a:br/>
            <a:r>
              <a:t>Regeneration. Some tissues are able to replace the damaged compo-</a:t>
            </a:r>
            <a:br/>
            <a:r>
              <a:t>nents and essentially return to a normal state; this process is called</a:t>
            </a:r>
            <a:br/>
            <a:r>
              <a:t>regeneration. Regeneration occurs by proliferation of cells that sur-</a:t>
            </a:r>
            <a:br/>
            <a:r>
              <a:t>vive the injury and retain the capacity to generate the mature cells</a:t>
            </a:r>
            <a:br/>
            <a:r>
              <a:t>of that tissue. The cells that are responsible for regeneration may be</a:t>
            </a:r>
            <a:br/>
            <a:r>
              <a:t>mature differentiated cells or more commonly tissue stem cells</a:t>
            </a:r>
            <a:br/>
            <a:r>
              <a:t>(discussed later).</a:t>
            </a:r>
            <a:br/>
            <a:r>
              <a:t>•</a:t>
            </a:r>
            <a:br/>
            <a:r>
              <a:t>Scar formation. When the injured tissues are incapable of complete</a:t>
            </a:r>
            <a:br/>
            <a:r>
              <a:t>restitution, or when the supporting structures of the tissue are</a:t>
            </a:r>
            <a:br/>
            <a:r>
              <a:t>damaged, repair occurs by the laying down of connective (ﬁbrous)</a:t>
            </a:r>
            <a:br/>
            <a:r>
              <a:t>tissue, a process known as scarring. The ﬁbrous scar provides</a:t>
            </a:r>
            <a:br/>
            <a:r>
              <a:t>enough structural stability that the injured tissue is usually able</a:t>
            </a:r>
            <a:br/>
            <a:r>
              <a:t>to function. When scarring, resulting from chronic inﬂammation,</a:t>
            </a:r>
            <a:br/>
            <a:r>
              <a:t>occurs in the lungs, liver, kidney, and other parenchymal organs</a:t>
            </a:r>
            <a:br/>
            <a:r>
              <a:t>it is referred to as ﬁbrosis.</a:t>
            </a:r>
            <a:br/>
            <a:r>
              <a:t>After many common types of injury, both regeneration and scar</a:t>
            </a:r>
            <a:br/>
            <a:r>
              <a:t>formation contribute in varying degrees to repair. We ﬁrst discuss the</a:t>
            </a:r>
            <a:br/>
            <a:r>
              <a:t>mechanisms of cellular proliferation and regeneration and then heal-</a:t>
            </a:r>
            <a:br/>
            <a:r>
              <a:t>ing by scar formation.</a:t>
            </a:r>
            <a:br/>
            <a:r>
              <a:t>Cell and Tissue Regeneration</a:t>
            </a:r>
            <a:br/>
            <a:r>
              <a:t>The ability of tissues to repair themselves is determined, in part,</a:t>
            </a:r>
            <a:br/>
            <a:r>
              <a:t>by their intrinsic proliferative capacity. In some tissues, cells are</a:t>
            </a:r>
            <a:br/>
            <a:r>
              <a:t>constantly being lost and must be continually replaced by new cells</a:t>
            </a:r>
            <a:br/>
            <a:r>
              <a:t>that are derived from tissue stem cells and from the remaining</a:t>
            </a:r>
            <a:br/>
            <a:r>
              <a:t>mature tissue cells. These types of tissues include hematopoietic cells</a:t>
            </a:r>
            <a:br/>
            <a:r>
              <a:t>in the bone marrow and many surface epithelia, such as the basal</a:t>
            </a:r>
            <a:br/>
            <a:r>
              <a:t>layers of the squamous epithelia of the skin and the columnar</a:t>
            </a:r>
            <a:br/>
            <a:r>
              <a:t>epithelium of the gastrointestinal tract. These tissues can readily</a:t>
            </a:r>
            <a:br/>
            <a:r>
              <a:t>regenerate after injury as long as the pool of stem cells is preserved.</a:t>
            </a:r>
            <a:br/>
            <a:r>
              <a:t>Other tissues are made up of cells that are normally in the G0 stage</a:t>
            </a:r>
            <a:br/>
            <a:r>
              <a:t>HEALTHY</a:t>
            </a:r>
            <a:br/>
            <a:r>
              <a:t>REGENERATION</a:t>
            </a:r>
            <a:br/>
            <a:r>
              <a:t>SCAR FORMATION</a:t>
            </a:r>
            <a:br/>
            <a:r>
              <a:t>Mild, superficial injury</a:t>
            </a:r>
            <a:br/>
            <a:r>
              <a:t>Severe injury</a:t>
            </a:r>
            <a:br/>
            <a:r>
              <a:t>FIG. 2.20 Mechanisms of tissue repair: regeneration and scar forma-</a:t>
            </a:r>
            <a:br/>
            <a:r>
              <a:t>tion. Following mild injury, which damages the epithelium but not the</a:t>
            </a:r>
            <a:br/>
            <a:r>
              <a:t>underlying tissue, resolution occurs by regeneration, but after more se-</a:t>
            </a:r>
            <a:br/>
            <a:r>
              <a:t>vere injury with damage to the connective tissue framework, repair is by</a:t>
            </a:r>
            <a:br/>
            <a:r>
              <a:t>scar formation.</a:t>
            </a:r>
            <a:br/>
            <a:r>
              <a:t>CHAPTER 2</a:t>
            </a:r>
            <a:br/>
            <a:r>
              <a:t>Inflammation and Repair</a:t>
            </a:r>
            <a:br/>
            <a:r>
              <a:t>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Table: Growth factors are typically</a:t>
            </a:r>
            <a:br/>
            <a:r>
              <a:t>produced by cells near the site of damage. The most important</a:t>
            </a:r>
            <a:br/>
            <a:r>
              <a:t>sources of these growth factors are macrophages that are activated by</a:t>
            </a:r>
            <a:br/>
            <a:r>
              <a:t>the tissue injury, but epithelial and stromal cells also produce some of</a:t>
            </a:r>
            <a:br/>
            <a:r>
              <a:t>these factors. Several growth factors bind to extracellular matrix</a:t>
            </a:r>
            <a:br/>
            <a:r>
              <a:t>(ECM) proteins and are displayed at the site of tissue injury at high</a:t>
            </a:r>
            <a:br/>
            <a:r>
              <a:t>concentrations. All growth factors activate signaling pathways that</a:t>
            </a:r>
            <a:br/>
            <a:r>
              <a:t>stimulate cell division. In addition to responding to growth factors,</a:t>
            </a:r>
            <a:br/>
            <a:r>
              <a:t>cells use integrins to bind to ECM proteins; signals from integrins can</a:t>
            </a:r>
            <a:br/>
            <a:r>
              <a:t>also stimulate cell proliferation.</a:t>
            </a:r>
            <a:br/>
            <a:r>
              <a:t>In the process of regeneration, proliferation of residual cells is</a:t>
            </a:r>
            <a:br/>
            <a:r>
              <a:t>supplemented by development of mature cells from stem cells. Stem</a:t>
            </a:r>
            <a:br/>
            <a:r>
              <a:t>cells were discovered in embryos as self-renewing cells that can give</a:t>
            </a:r>
            <a:br/>
            <a:r>
              <a:t>rise to all mature cell lineages (totipotential) and were called embry-</a:t>
            </a:r>
            <a:br/>
            <a:r>
              <a:t>onal stem cells (ES cells). Stem cells have subsequently been found in</a:t>
            </a:r>
            <a:br/>
            <a:r>
              <a:t>most adult tissues, where they are called tissue stem cells. Unlike ES</a:t>
            </a:r>
            <a:br/>
            <a:r>
              <a:t>cells, tissue stem cells have more limited self-renewal capacity, and</a:t>
            </a:r>
            <a:br/>
            <a:r>
              <a:t>they typically give rise to the tissue in which they reside. All stem cells</a:t>
            </a:r>
            <a:br/>
            <a:r>
              <a:t>have the important ability to undergo asymmetric cell division, deﬁned</a:t>
            </a:r>
            <a:br/>
            <a:r>
              <a:t>as a mitosis in which one daughter cell remains a stem cell (accounting</a:t>
            </a:r>
            <a:br/>
            <a:r>
              <a:t>for self-renewal) and the other daughter cell begins to differentiate</a:t>
            </a:r>
            <a:br/>
            <a:r>
              <a:t>(accounting for the capacity of stem cells to generate mature cell</a:t>
            </a:r>
            <a:br/>
            <a:r>
              <a:t>types). Tissue stem cells live in specialized niches, and injury triggers</a:t>
            </a:r>
            <a:br/>
            <a:r>
              <a:t>signals that stimulate their proliferation and differentiation into</a:t>
            </a:r>
            <a:br/>
            <a:r>
              <a:t>mature cells that repopulate the injured tissue. Thus, they may</a:t>
            </a:r>
            <a:br/>
            <a:r>
              <a:t>contribute to regeneration of injured tissues, especially when the</a:t>
            </a:r>
            <a:br/>
            <a:r>
              <a:t>differentiated cells that survive the injury have limited or no intrinsic</a:t>
            </a:r>
            <a:br/>
            <a:r>
              <a:t>proliferative capacity.</a:t>
            </a:r>
            <a:br/>
            <a:r>
              <a:t>The importance of regeneration in the replacement of injured</a:t>
            </a:r>
            <a:br/>
            <a:r>
              <a:t>tissues varies in different types of tissues and with the severity of</a:t>
            </a:r>
            <a:br/>
            <a:r>
              <a:t>injury.</a:t>
            </a:r>
            <a:br/>
            <a:r>
              <a:t>•</a:t>
            </a:r>
            <a:br/>
            <a:r>
              <a:t>In epithelia of the intestinal tract and skin, provided the underly-</a:t>
            </a:r>
            <a:br/>
            <a:r>
              <a:t>ing basement membrane is intact, injured cells are rapidly</a:t>
            </a:r>
            <a:br/>
            <a:r>
              <a:t>replaced by proliferation of residual cells and differentiation of tis-</a:t>
            </a:r>
            <a:br/>
            <a:r>
              <a:t>sue stem cells.</a:t>
            </a:r>
            <a:br/>
            <a:r>
              <a:t>•</a:t>
            </a:r>
            <a:br/>
            <a:r>
              <a:t>Tissue regeneration can occur in parenchymal organs whose</a:t>
            </a:r>
            <a:br/>
            <a:r>
              <a:t>mature cells are capable of proliferation, but with the exception</a:t>
            </a:r>
            <a:br/>
            <a:r>
              <a:t>of the liver, this is usually a limited process. The pancreas, adrenal,</a:t>
            </a:r>
            <a:br/>
            <a:r>
              <a:t>thyroid, and lung have some regenerative capacity. The surgical</a:t>
            </a:r>
            <a:br/>
            <a:r>
              <a:t>removal of a kidney elicits in the remaining kidney a compensatory</a:t>
            </a:r>
            <a:br/>
            <a:r>
              <a:t>response that consists of both hypertrophy and hyperplasia of</a:t>
            </a:r>
            <a:br/>
            <a:r>
              <a:t>proximal duct cells. The mechanisms underlying this response</a:t>
            </a:r>
            <a:br/>
            <a:r>
              <a:t>are not well deﬁned. The extraordinary capacity of the liver to</a:t>
            </a:r>
            <a:br/>
            <a:r>
              <a:t>regenerate has made it a valuable model for studying this process,</a:t>
            </a:r>
            <a:br/>
            <a:r>
              <a:t>discussed below.</a:t>
            </a:r>
            <a:br/>
            <a:r>
              <a:t>Restoration of normal tissue architecture can occur only if the</a:t>
            </a:r>
            <a:br/>
            <a:r>
              <a:t>residual tissue is structurally intact: for example, after partial surgical</a:t>
            </a:r>
            <a:br/>
            <a:r>
              <a:t>resection of the liver. By contrast, if the entire tissue, including the</a:t>
            </a:r>
            <a:br/>
            <a:r>
              <a:t>supporting framework, is damaged by infection or inﬂammation,</a:t>
            </a:r>
            <a:br/>
            <a:r>
              <a:t>regeneration is incomplete and is accompanied by scarring. For</a:t>
            </a:r>
            <a:br/>
            <a:r>
              <a:t>Table 2.10 Growth Factors</a:t>
            </a:r>
            <a:br/>
            <a:r>
              <a:t>Growth Factor</a:t>
            </a:r>
            <a:br/>
            <a:r>
              <a:t>Sources</a:t>
            </a:r>
            <a:br/>
            <a:r>
              <a:t>Functions</a:t>
            </a:r>
            <a:br/>
            <a:r>
              <a:t>Epidermal growth factor (EGF)</a:t>
            </a:r>
            <a:br/>
            <a:r>
              <a:t>Activated macrophages, salivary glands,</a:t>
            </a:r>
            <a:br/>
            <a:r>
              <a:t>keratinocytes, and many other cells</a:t>
            </a:r>
            <a:br/>
            <a:r>
              <a:t>Mitogenic for keratinocytes and ﬁbroblasts;</a:t>
            </a:r>
            <a:br/>
            <a:r>
              <a:t>stimulates keratinocyte migration; stimulates</a:t>
            </a:r>
            <a:br/>
            <a:r>
              <a:t>formation of granulation tissue</a:t>
            </a:r>
            <a:br/>
            <a:r>
              <a:t>Transforming growth factor-a (TGF-a)</a:t>
            </a:r>
            <a:br/>
            <a:r>
              <a:t>Activated macrophages, keratinocytes, many</a:t>
            </a:r>
            <a:br/>
            <a:r>
              <a:t>other cell types</a:t>
            </a:r>
            <a:br/>
            <a:r>
              <a:t>Stimulates proliferation of hepatocytes and many</a:t>
            </a:r>
            <a:br/>
            <a:r>
              <a:t>other epithelial cells</a:t>
            </a:r>
            <a:br/>
            <a:r>
              <a:t>Hepatocyte growth factor (HGF)</a:t>
            </a:r>
            <a:br/>
            <a:r>
              <a:t>(scatter factor)</a:t>
            </a:r>
            <a:br/>
            <a:r>
              <a:t>Fibroblasts, stromal cells in the liver,</a:t>
            </a:r>
            <a:br/>
            <a:r>
              <a:t>endothelial cells</a:t>
            </a:r>
            <a:br/>
            <a:r>
              <a:t>Enhances proliferation of hepatocytes and other</a:t>
            </a:r>
            <a:br/>
            <a:r>
              <a:t>epithelial cells; increases cell motility</a:t>
            </a:r>
            <a:br/>
            <a:r>
              <a:t>Vascular endothelial growth factor</a:t>
            </a:r>
            <a:br/>
            <a:r>
              <a:t>(VEGF)</a:t>
            </a:r>
            <a:br/>
            <a:r>
              <a:t>Mesenchymal cells</a:t>
            </a:r>
            <a:br/>
            <a:r>
              <a:t>Stimulates proliferation of endothelial cells;</a:t>
            </a:r>
            <a:br/>
            <a:r>
              <a:t>increases vascular permeability</a:t>
            </a:r>
            <a:br/>
            <a:r>
              <a:t>Platelet-derived growth factor</a:t>
            </a:r>
            <a:br/>
            <a:r>
              <a:t>(PDGF)</a:t>
            </a:r>
            <a:br/>
            <a:r>
              <a:t>Platelets, macrophages, endothelial cells,</a:t>
            </a:r>
            <a:br/>
            <a:r>
              <a:t>smooth muscle cells, keratinocytes</a:t>
            </a:r>
            <a:br/>
            <a:r>
              <a:t>Chemotactic for neutrophils, macrophages,</a:t>
            </a:r>
            <a:br/>
            <a:r>
              <a:t>ﬁbroblasts, and smooth muscle cells; activates</a:t>
            </a:r>
            <a:br/>
            <a:r>
              <a:t>and stimulates proliferation of ﬁbroblasts,</a:t>
            </a:r>
            <a:br/>
            <a:r>
              <a:t>endothelial, and other cells; stimulates ECM</a:t>
            </a:r>
            <a:br/>
            <a:r>
              <a:t>protein synthesis</a:t>
            </a:r>
            <a:br/>
            <a:r>
              <a:t>Fibroblast growth factors (FGFs),</a:t>
            </a:r>
            <a:br/>
            <a:r>
              <a:t>including acidic (FGF-1) and basic</a:t>
            </a:r>
            <a:br/>
            <a:r>
              <a:t>(FGF-2)</a:t>
            </a:r>
            <a:br/>
            <a:r>
              <a:t>Macrophages, mast cells, endothelial cells,</a:t>
            </a:r>
            <a:br/>
            <a:r>
              <a:t>many other cell types</a:t>
            </a:r>
            <a:br/>
            <a:r>
              <a:t>Chemotactic and mitogenic for ﬁbroblasts;</a:t>
            </a:r>
            <a:br/>
            <a:r>
              <a:t>stimulates angiogenesis and ECM protein</a:t>
            </a:r>
            <a:br/>
            <a:r>
              <a:t>synthesis</a:t>
            </a:r>
            <a:br/>
            <a:r>
              <a:t>Transforming growth factor-b (TGF-b)</a:t>
            </a:r>
            <a:br/>
            <a:r>
              <a:t>Platelets, T lymphocytes, macrophages,</a:t>
            </a:r>
            <a:br/>
            <a:r>
              <a:t>endothelial cells, keratinocytes, smooth</a:t>
            </a:r>
            <a:br/>
            <a:r>
              <a:t>muscle cells, ﬁbroblasts</a:t>
            </a:r>
            <a:br/>
            <a:r>
              <a:t>Chemotactic for leukocytes and ﬁbroblasts;</a:t>
            </a:r>
            <a:br/>
            <a:r>
              <a:t>stimulates ECM protein synthesis; suppresses</a:t>
            </a:r>
            <a:br/>
            <a:r>
              <a:t>acute inﬂammation</a:t>
            </a:r>
            <a:br/>
            <a:r>
              <a:t>Keratinocyte growth factor (KGF)</a:t>
            </a:r>
            <a:br/>
            <a:r>
              <a:t>(i.e., FGF-7)</a:t>
            </a:r>
            <a:br/>
            <a:r>
              <a:t>Fibroblasts</a:t>
            </a:r>
            <a:br/>
            <a:r>
              <a:t>Stimulates keratinocyte migration, proliferation,</a:t>
            </a:r>
            <a:br/>
            <a:r>
              <a:t>and differentiation</a:t>
            </a:r>
            <a:br/>
            <a:r>
              <a:t>ECM, Extracellular matrix.</a:t>
            </a:r>
            <a:br/>
            <a:r>
              <a:t>48</a:t>
            </a:r>
            <a:br/>
            <a:r>
              <a:t>CHAPTER 2 Inflammation and Repair</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Table: 10). Growth factors are typically</a:t>
            </a:r>
            <a:br/>
            <a:r>
              <a:t>produced by cells near the site of damage. The most important</a:t>
            </a:r>
            <a:br/>
            <a:r>
              <a:t>sources of these growth factors are macrophages that are activated by</a:t>
            </a:r>
            <a:br/>
            <a:r>
              <a:t>the tissue injury, but epithelial and stromal cells also produce some of</a:t>
            </a:r>
            <a:br/>
            <a:r>
              <a:t>these factors. Several growth factors bind to extracellular matrix</a:t>
            </a:r>
            <a:br/>
            <a:r>
              <a:t>(ECM) proteins and are displayed at the site of tissue injury at high</a:t>
            </a:r>
            <a:br/>
            <a:r>
              <a:t>concentrations. All growth factors activate signaling pathways that</a:t>
            </a:r>
            <a:br/>
            <a:r>
              <a:t>stimulate cell division. In addition to responding to growth factors,</a:t>
            </a:r>
            <a:br/>
            <a:r>
              <a:t>cells use integrins to bind to ECM proteins; signals from integrins can</a:t>
            </a:r>
            <a:br/>
            <a:r>
              <a:t>also stimulate cell proliferation.</a:t>
            </a:r>
            <a:br/>
            <a:r>
              <a:t>In the process of regeneration, proliferation of residual cells is</a:t>
            </a:r>
            <a:br/>
            <a:r>
              <a:t>supplemented by development of mature cells from stem cells. Stem</a:t>
            </a:r>
            <a:br/>
            <a:r>
              <a:t>cells were discovered in embryos as self-renewing cells that can give</a:t>
            </a:r>
            <a:br/>
            <a:r>
              <a:t>rise to all mature cell lineages (totipotential) and were called embry-</a:t>
            </a:r>
            <a:br/>
            <a:r>
              <a:t>onal stem cells (ES cells). Stem cells have subsequently been found in</a:t>
            </a:r>
            <a:br/>
            <a:r>
              <a:t>most adult tissues, where they are called tissue stem cells. Unlike ES</a:t>
            </a:r>
            <a:br/>
            <a:r>
              <a:t>cells, tissue stem cells have more limited self-renewal capacity, and</a:t>
            </a:r>
            <a:br/>
            <a:r>
              <a:t>they typically give rise to the tissue in which they reside. All stem cells</a:t>
            </a:r>
            <a:br/>
            <a:r>
              <a:t>have the important ability to undergo asymmetric cell division, deﬁned</a:t>
            </a:r>
            <a:br/>
            <a:r>
              <a:t>as a mitosis in which one daughter cell remains a stem cell (accounting</a:t>
            </a:r>
            <a:br/>
            <a:r>
              <a:t>for self-renewal) and the other daughter cell begins to differentiate</a:t>
            </a:r>
            <a:br/>
            <a:r>
              <a:t>(accounting for the capacity of stem cells to generate mature cell</a:t>
            </a:r>
            <a:br/>
            <a:r>
              <a:t>types). Tissue stem cells live in specialized niches, and injury triggers</a:t>
            </a:r>
            <a:br/>
            <a:r>
              <a:t>signals that stimulate their proliferation and differentiation into</a:t>
            </a:r>
            <a:br/>
            <a:r>
              <a:t>mature cells that repopulate the injured tissue. Thus, they may</a:t>
            </a:r>
            <a:br/>
            <a:r>
              <a:t>contribute to regeneration of injured tissues, especially when the</a:t>
            </a:r>
            <a:br/>
            <a:r>
              <a:t>differentiated cells that survive the injury have limited or no intrinsic</a:t>
            </a:r>
            <a:br/>
            <a:r>
              <a:t>proliferative capacity.</a:t>
            </a:r>
            <a:br/>
            <a:r>
              <a:t>The importance of regeneration in the replacement of injured</a:t>
            </a:r>
            <a:br/>
            <a:r>
              <a:t>tissues varies in different types of tissues and with the severity of</a:t>
            </a:r>
            <a:br/>
            <a:r>
              <a:t>injury.</a:t>
            </a:r>
            <a:br/>
            <a:r>
              <a:t>•</a:t>
            </a:r>
            <a:br/>
            <a:r>
              <a:t>In epithelia of the intestinal tract and skin, provided the underly-</a:t>
            </a:r>
            <a:br/>
            <a:r>
              <a:t>ing basement membrane is intact, injured cells are rapidly</a:t>
            </a:r>
            <a:br/>
            <a:r>
              <a:t>replaced by proliferation of residual cells and differentiation of tis-</a:t>
            </a:r>
            <a:br/>
            <a:r>
              <a:t>sue stem cells.</a:t>
            </a:r>
            <a:br/>
            <a:r>
              <a:t>•</a:t>
            </a:r>
            <a:br/>
            <a:r>
              <a:t>Tissue regeneration can occur in parenchymal organs whose</a:t>
            </a:r>
            <a:br/>
            <a:r>
              <a:t>mature cells are capable of proliferation, but with the exception</a:t>
            </a:r>
            <a:br/>
            <a:r>
              <a:t>of the liver, this is usually a limited process. The pancreas, adrenal,</a:t>
            </a:r>
            <a:br/>
            <a:r>
              <a:t>thyroid, and lung have some regenerative capacity. The surgical</a:t>
            </a:r>
            <a:br/>
            <a:r>
              <a:t>removal of a kidney elicits in the remaining kidney a compensatory</a:t>
            </a:r>
            <a:br/>
            <a:r>
              <a:t>response that consists of both hypertrophy and hyperplasia of</a:t>
            </a:r>
            <a:br/>
            <a:r>
              <a:t>proximal duct cells. The mechanisms underlying this response</a:t>
            </a:r>
            <a:br/>
            <a:r>
              <a:t>are not well deﬁned. The extraordinary capacity of the liver to</a:t>
            </a:r>
            <a:br/>
            <a:r>
              <a:t>regenerate has made it a valuable model for studying this process,</a:t>
            </a:r>
            <a:br/>
            <a:r>
              <a:t>discussed below.</a:t>
            </a:r>
            <a:br/>
            <a:r>
              <a:t>Restoration of normal tissue architecture can occur only if the</a:t>
            </a:r>
            <a:br/>
            <a:r>
              <a:t>residual tissue is structurally intact: for example, after partial surgical</a:t>
            </a:r>
            <a:br/>
            <a:r>
              <a:t>resection of the liver. By contrast, if the entire tissue, including the</a:t>
            </a:r>
            <a:br/>
            <a:r>
              <a:t>supporting framework, is damaged by infection or inﬂammation,</a:t>
            </a:r>
            <a:br/>
            <a:r>
              <a:t>regeneration is incomplete and is accompanied by scarring. For</a:t>
            </a:r>
            <a:br/>
            <a:r>
              <a:t>Table 2.10 Growth Factors</a:t>
            </a:r>
            <a:br/>
            <a:r>
              <a:t>Growth Factor</a:t>
            </a:r>
            <a:br/>
            <a:r>
              <a:t>Sources</a:t>
            </a:r>
            <a:br/>
            <a:r>
              <a:t>Functions</a:t>
            </a:r>
            <a:br/>
            <a:r>
              <a:t>Epidermal growth factor (EGF)</a:t>
            </a:r>
            <a:br/>
            <a:r>
              <a:t>Activated macrophages, salivary glands,</a:t>
            </a:r>
            <a:br/>
            <a:r>
              <a:t>keratinocytes, and many other cells</a:t>
            </a:r>
            <a:br/>
            <a:r>
              <a:t>Mitogenic for keratinocytes and ﬁbroblasts;</a:t>
            </a:r>
            <a:br/>
            <a:r>
              <a:t>stimulates keratinocyte migration; stimulates</a:t>
            </a:r>
            <a:br/>
            <a:r>
              <a:t>formation of granulation tissue</a:t>
            </a:r>
            <a:br/>
            <a:r>
              <a:t>Transforming growth factor-a (TGF-a)</a:t>
            </a:r>
            <a:br/>
            <a:r>
              <a:t>Activated macrophages, keratinocytes, many</a:t>
            </a:r>
            <a:br/>
            <a:r>
              <a:t>other cell types</a:t>
            </a:r>
            <a:br/>
            <a:r>
              <a:t>Stimulates proliferation of hepatocytes and many</a:t>
            </a:r>
            <a:br/>
            <a:r>
              <a:t>other epithelial cells</a:t>
            </a:r>
            <a:br/>
            <a:r>
              <a:t>Hepatocyte growth factor (HGF)</a:t>
            </a:r>
            <a:br/>
            <a:r>
              <a:t>(scatter factor)</a:t>
            </a:r>
            <a:br/>
            <a:r>
              <a:t>Fibroblasts, stromal cells in the liver,</a:t>
            </a:r>
            <a:br/>
            <a:r>
              <a:t>endothelial cells</a:t>
            </a:r>
            <a:br/>
            <a:r>
              <a:t>Enhances proliferation of hepatocytes and other</a:t>
            </a:r>
            <a:br/>
            <a:r>
              <a:t>epithelial cells; increases cell motility</a:t>
            </a:r>
            <a:br/>
            <a:r>
              <a:t>Vascular endothelial growth factor</a:t>
            </a:r>
            <a:br/>
            <a:r>
              <a:t>(VEGF)</a:t>
            </a:r>
            <a:br/>
            <a:r>
              <a:t>Mesenchymal cells</a:t>
            </a:r>
            <a:br/>
            <a:r>
              <a:t>Stimulates proliferation of endothelial cells;</a:t>
            </a:r>
            <a:br/>
            <a:r>
              <a:t>increases vascular permeability</a:t>
            </a:r>
            <a:br/>
            <a:r>
              <a:t>Platelet-derived growth factor</a:t>
            </a:r>
            <a:br/>
            <a:r>
              <a:t>(PDGF)</a:t>
            </a:r>
            <a:br/>
            <a:r>
              <a:t>Platelets, macrophages, endothelial cells,</a:t>
            </a:r>
            <a:br/>
            <a:r>
              <a:t>smooth muscle cells, keratinocytes</a:t>
            </a:r>
            <a:br/>
            <a:r>
              <a:t>Chemotactic for neutrophils, macrophages,</a:t>
            </a:r>
            <a:br/>
            <a:r>
              <a:t>ﬁbroblasts, and smooth muscle cells; activates</a:t>
            </a:r>
            <a:br/>
            <a:r>
              <a:t>and stimulates proliferation of ﬁbroblasts,</a:t>
            </a:r>
            <a:br/>
            <a:r>
              <a:t>endothelial, and other cells; stimulates ECM</a:t>
            </a:r>
            <a:br/>
            <a:r>
              <a:t>protein synthesis</a:t>
            </a:r>
            <a:br/>
            <a:r>
              <a:t>Fibroblast growth factors (FGFs),</a:t>
            </a:r>
            <a:br/>
            <a:r>
              <a:t>including acidic (FGF-1) and basic</a:t>
            </a:r>
            <a:br/>
            <a:r>
              <a:t>(FGF-2)</a:t>
            </a:r>
            <a:br/>
            <a:r>
              <a:t>Macrophages, mast cells, endothelial cells,</a:t>
            </a:r>
            <a:br/>
            <a:r>
              <a:t>many other cell types</a:t>
            </a:r>
            <a:br/>
            <a:r>
              <a:t>Chemotactic and mitogenic for ﬁbroblasts;</a:t>
            </a:r>
            <a:br/>
            <a:r>
              <a:t>stimulates angiogenesis and ECM protein</a:t>
            </a:r>
            <a:br/>
            <a:r>
              <a:t>synthesis</a:t>
            </a:r>
            <a:br/>
            <a:r>
              <a:t>Transforming growth factor-b (TGF-b)</a:t>
            </a:r>
            <a:br/>
            <a:r>
              <a:t>Platelets, T lymphocytes, macrophages,</a:t>
            </a:r>
            <a:br/>
            <a:r>
              <a:t>endothelial cells, keratinocytes, smooth</a:t>
            </a:r>
            <a:br/>
            <a:r>
              <a:t>muscle cells, ﬁbroblasts</a:t>
            </a:r>
            <a:br/>
            <a:r>
              <a:t>Chemotactic for leukocytes and ﬁbroblasts;</a:t>
            </a:r>
            <a:br/>
            <a:r>
              <a:t>stimulates ECM protein synthesis; suppresses</a:t>
            </a:r>
            <a:br/>
            <a:r>
              <a:t>acute inﬂammation</a:t>
            </a:r>
            <a:br/>
            <a:r>
              <a:t>Keratinocyte growth factor (KGF)</a:t>
            </a:r>
            <a:br/>
            <a:r>
              <a:t>(i.e., FGF-7)</a:t>
            </a:r>
            <a:br/>
            <a:r>
              <a:t>Fibroblasts</a:t>
            </a:r>
            <a:br/>
            <a:r>
              <a:t>Stimulates keratinocyte migration, proliferation,</a:t>
            </a:r>
            <a:br/>
            <a:r>
              <a:t>and differentiation</a:t>
            </a:r>
            <a:br/>
            <a:r>
              <a:t>ECM, Extracellular matrix.</a:t>
            </a:r>
            <a:br/>
            <a:r>
              <a:t>48</a:t>
            </a:r>
            <a:br/>
            <a:r>
              <a:t>CHAPTER 2 Inflammation and Repair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Table: Growth factors are typically</a:t>
            </a:r>
            <a:br/>
            <a:r>
              <a:t>produced by cells near the site of damage. The most important</a:t>
            </a:r>
            <a:br/>
            <a:r>
              <a:t>sources of these growth factors are macrophages that are activated by</a:t>
            </a:r>
            <a:br/>
            <a:r>
              <a:t>the tissue injury, but epithelial and stromal cells also produce some of</a:t>
            </a:r>
            <a:br/>
            <a:r>
              <a:t>these factors. Several growth factors bind to extracellular matrix</a:t>
            </a:r>
            <a:br/>
            <a:r>
              <a:t>(ECM) proteins and are displayed at the site of tissue injury at high</a:t>
            </a:r>
            <a:br/>
            <a:r>
              <a:t>concentrations. All growth factors activate signaling pathways that</a:t>
            </a:r>
            <a:br/>
            <a:r>
              <a:t>stimulate cell division. In addition to responding to growth factors,</a:t>
            </a:r>
            <a:br/>
            <a:r>
              <a:t>cells use integrins to bind to ECM proteins; signals from integrins can</a:t>
            </a:r>
            <a:br/>
            <a:r>
              <a:t>also stimulate cell proliferation.</a:t>
            </a:r>
            <a:br/>
            <a:r>
              <a:t>In the process of regeneration, proliferation of residual cells is</a:t>
            </a:r>
            <a:br/>
            <a:r>
              <a:t>supplemented by development of mature cells from stem cells. Stem</a:t>
            </a:r>
            <a:br/>
            <a:r>
              <a:t>cells were discovered in embryos as self-renewing cells that can give</a:t>
            </a:r>
            <a:br/>
            <a:r>
              <a:t>rise to all mature cell lineages (totipotential) and were called embry-</a:t>
            </a:r>
            <a:br/>
            <a:r>
              <a:t>onal stem cells (ES cells). Stem cells have subsequently been found in</a:t>
            </a:r>
            <a:br/>
            <a:r>
              <a:t>most adult tissues, where they are called tissue stem cells. Unlike ES</a:t>
            </a:r>
            <a:br/>
            <a:r>
              <a:t>cells, tissue stem cells have more limited self-renewal capacity, and</a:t>
            </a:r>
            <a:br/>
            <a:r>
              <a:t>they typically give rise to the tissue in which they reside. All stem cells</a:t>
            </a:r>
            <a:br/>
            <a:r>
              <a:t>have the important ability to undergo asymmetric cell division, deﬁned</a:t>
            </a:r>
            <a:br/>
            <a:r>
              <a:t>as a mitosis in which one daughter cell remains a stem cell (accounting</a:t>
            </a:r>
            <a:br/>
            <a:r>
              <a:t>for self-renewal) and the other daughter cell begins to differentiate</a:t>
            </a:r>
            <a:br/>
            <a:r>
              <a:t>(accounting for the capacity of stem cells to generate mature cell</a:t>
            </a:r>
            <a:br/>
            <a:r>
              <a:t>types). Tissue stem cells live in specialized niches, and injury triggers</a:t>
            </a:r>
            <a:br/>
            <a:r>
              <a:t>signals that stimulate their proliferation and differentiation into</a:t>
            </a:r>
            <a:br/>
            <a:r>
              <a:t>mature cells that repopulate the injured tissue. Thus, they may</a:t>
            </a:r>
            <a:br/>
            <a:r>
              <a:t>contribute to regeneration of injured tissues, especially when the</a:t>
            </a:r>
            <a:br/>
            <a:r>
              <a:t>differentiated cells that survive the injury have limited or no intrinsic</a:t>
            </a:r>
            <a:br/>
            <a:r>
              <a:t>proliferative capacity.</a:t>
            </a:r>
            <a:br/>
            <a:r>
              <a:t>The importance of regeneration in the replacement of injured</a:t>
            </a:r>
            <a:br/>
            <a:r>
              <a:t>tissues varies in different types of tissues and with the severity of</a:t>
            </a:r>
            <a:br/>
            <a:r>
              <a:t>injury.</a:t>
            </a:r>
            <a:br/>
            <a:r>
              <a:t>•</a:t>
            </a:r>
            <a:br/>
            <a:r>
              <a:t>In epithelia of the intestinal tract and skin, provided the underly-</a:t>
            </a:r>
            <a:br/>
            <a:r>
              <a:t>ing basement membrane is intact, injured cells are rapidly</a:t>
            </a:r>
            <a:br/>
            <a:r>
              <a:t>replaced by proliferation of residual cells and differentiation of tis-</a:t>
            </a:r>
            <a:br/>
            <a:r>
              <a:t>sue stem cells.</a:t>
            </a:r>
            <a:br/>
            <a:r>
              <a:t>•</a:t>
            </a:r>
            <a:br/>
            <a:r>
              <a:t>Tissue regeneration can occur in parenchymal organs whose</a:t>
            </a:r>
            <a:br/>
            <a:r>
              <a:t>mature cells are capable of proliferation, but with the exception</a:t>
            </a:r>
            <a:br/>
            <a:r>
              <a:t>of the liver, this is usually a limited process. The pancreas, adrenal,</a:t>
            </a:r>
            <a:br/>
            <a:r>
              <a:t>thyroid, and lung have some regenerative capacity. The surgical</a:t>
            </a:r>
            <a:br/>
            <a:r>
              <a:t>removal of a kidney elicits in the remaining kidney a compensatory</a:t>
            </a:r>
            <a:br/>
            <a:r>
              <a:t>response that consists of both hypertrophy and hyperplasia of</a:t>
            </a:r>
            <a:br/>
            <a:r>
              <a:t>proximal duct cells. The mechanisms underlying this response</a:t>
            </a:r>
            <a:br/>
            <a:r>
              <a:t>are not well deﬁned. The extraordinary capacity of the liver to</a:t>
            </a:r>
            <a:br/>
            <a:r>
              <a:t>regenerate has made it a valuable model for studying this process,</a:t>
            </a:r>
            <a:br/>
            <a:r>
              <a:t>discussed below.</a:t>
            </a:r>
            <a:br/>
            <a:r>
              <a:t>Restoration of normal tissue architecture can occur only if the</a:t>
            </a:r>
            <a:br/>
            <a:r>
              <a:t>residual tissue is structurally intact: for example, after partial surgical</a:t>
            </a:r>
            <a:br/>
            <a:r>
              <a:t>resection of the liver. By contrast, if the entire tissue, including the</a:t>
            </a:r>
            <a:br/>
            <a:r>
              <a:t>supporting framework, is damaged by infection or inﬂammation,</a:t>
            </a:r>
            <a:br/>
            <a:r>
              <a:t>regeneration is incomplete and is accompanied by scarring. For</a:t>
            </a:r>
            <a:br/>
            <a:r>
              <a:t>Table 2.10 Growth Factors</a:t>
            </a:r>
            <a:br/>
            <a:r>
              <a:t>Growth Factor</a:t>
            </a:r>
            <a:br/>
            <a:r>
              <a:t>Sources</a:t>
            </a:r>
            <a:br/>
            <a:r>
              <a:t>Functions</a:t>
            </a:r>
            <a:br/>
            <a:r>
              <a:t>Epidermal growth factor (EGF)</a:t>
            </a:r>
            <a:br/>
            <a:r>
              <a:t>Activated macrophages, salivary glands,</a:t>
            </a:r>
            <a:br/>
            <a:r>
              <a:t>keratinocytes, and many other cells</a:t>
            </a:r>
            <a:br/>
            <a:r>
              <a:t>Mitogenic for keratinocytes and ﬁbroblasts;</a:t>
            </a:r>
            <a:br/>
            <a:r>
              <a:t>stimulates keratinocyte migration; stimulates</a:t>
            </a:r>
            <a:br/>
            <a:r>
              <a:t>formation of granulation tissue</a:t>
            </a:r>
            <a:br/>
            <a:r>
              <a:t>Transforming growth factor-a (TGF-a)</a:t>
            </a:r>
            <a:br/>
            <a:r>
              <a:t>Activated macrophages, keratinocytes, many</a:t>
            </a:r>
            <a:br/>
            <a:r>
              <a:t>other cell types</a:t>
            </a:r>
            <a:br/>
            <a:r>
              <a:t>Stimulates proliferation of hepatocytes and many</a:t>
            </a:r>
            <a:br/>
            <a:r>
              <a:t>other epithelial cells</a:t>
            </a:r>
            <a:br/>
            <a:r>
              <a:t>Hepatocyte growth factor (HGF)</a:t>
            </a:r>
            <a:br/>
            <a:r>
              <a:t>(scatter factor)</a:t>
            </a:r>
            <a:br/>
            <a:r>
              <a:t>Fibroblasts, stromal cells in the liver,</a:t>
            </a:r>
            <a:br/>
            <a:r>
              <a:t>endothelial cells</a:t>
            </a:r>
            <a:br/>
            <a:r>
              <a:t>Enhances proliferation of hepatocytes and other</a:t>
            </a:r>
            <a:br/>
            <a:r>
              <a:t>epithelial cells; increases cell motility</a:t>
            </a:r>
            <a:br/>
            <a:r>
              <a:t>Vascular endothelial growth factor</a:t>
            </a:r>
            <a:br/>
            <a:r>
              <a:t>(VEGF)</a:t>
            </a:r>
            <a:br/>
            <a:r>
              <a:t>Mesenchymal cells</a:t>
            </a:r>
            <a:br/>
            <a:r>
              <a:t>Stimulates proliferation of endothelial cells;</a:t>
            </a:r>
            <a:br/>
            <a:r>
              <a:t>increases vascular permeability</a:t>
            </a:r>
            <a:br/>
            <a:r>
              <a:t>Platelet-derived growth factor</a:t>
            </a:r>
            <a:br/>
            <a:r>
              <a:t>(PDGF)</a:t>
            </a:r>
            <a:br/>
            <a:r>
              <a:t>Platelets, macrophages, endothelial cells,</a:t>
            </a:r>
            <a:br/>
            <a:r>
              <a:t>smooth muscle cells, keratinocytes</a:t>
            </a:r>
            <a:br/>
            <a:r>
              <a:t>Chemotactic for neutrophils, macrophages,</a:t>
            </a:r>
            <a:br/>
            <a:r>
              <a:t>ﬁbroblasts, and smooth muscle cells; activates</a:t>
            </a:r>
            <a:br/>
            <a:r>
              <a:t>and stimulates proliferation of ﬁbroblasts,</a:t>
            </a:r>
            <a:br/>
            <a:r>
              <a:t>endothelial, and other cells; stimulates ECM</a:t>
            </a:r>
            <a:br/>
            <a:r>
              <a:t>protein synthesis</a:t>
            </a:r>
            <a:br/>
            <a:r>
              <a:t>Fibroblast growth factors (FGFs),</a:t>
            </a:r>
            <a:br/>
            <a:r>
              <a:t>including acidic (FGF-1) and basic</a:t>
            </a:r>
            <a:br/>
            <a:r>
              <a:t>(FGF-2)</a:t>
            </a:r>
            <a:br/>
            <a:r>
              <a:t>Macrophages, mast cells, endothelial cells,</a:t>
            </a:r>
            <a:br/>
            <a:r>
              <a:t>many other cell types</a:t>
            </a:r>
            <a:br/>
            <a:r>
              <a:t>Chemotactic and mitogenic for ﬁbroblasts;</a:t>
            </a:r>
            <a:br/>
            <a:r>
              <a:t>stimulates angiogenesis and ECM protein</a:t>
            </a:r>
            <a:br/>
            <a:r>
              <a:t>synthesis</a:t>
            </a:r>
            <a:br/>
            <a:r>
              <a:t>Transforming growth factor-b (TGF-b)</a:t>
            </a:r>
            <a:br/>
            <a:r>
              <a:t>Platelets, T lymphocytes, macrophages,</a:t>
            </a:r>
            <a:br/>
            <a:r>
              <a:t>endothelial cells, keratinocytes, smooth</a:t>
            </a:r>
            <a:br/>
            <a:r>
              <a:t>muscle cells, ﬁbroblasts</a:t>
            </a:r>
            <a:br/>
            <a:r>
              <a:t>Chemotactic for leukocytes and ﬁbroblasts;</a:t>
            </a:r>
            <a:br/>
            <a:r>
              <a:t>stimulates ECM protein synthesis; suppresses</a:t>
            </a:r>
            <a:br/>
            <a:r>
              <a:t>acute inﬂammation</a:t>
            </a:r>
            <a:br/>
            <a:r>
              <a:t>Keratinocyte growth factor (KGF)</a:t>
            </a:r>
            <a:br/>
            <a:r>
              <a:t>(i.e., FGF-7)</a:t>
            </a:r>
            <a:br/>
            <a:r>
              <a:t>Fibroblasts</a:t>
            </a:r>
            <a:br/>
            <a:r>
              <a:t>Stimulates keratinocyte migration, proliferation,</a:t>
            </a:r>
            <a:br/>
            <a:r>
              <a:t>and differentiation</a:t>
            </a:r>
            <a:br/>
            <a:r>
              <a:t>ECM, Extracellular matrix.</a:t>
            </a:r>
            <a:br/>
            <a:r>
              <a:t>48</a:t>
            </a:r>
            <a:br/>
            <a:r>
              <a:t>CHAPTER 2 Inflammation and Repair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Over the next 6 to 48 hours, neutrophils and then</a:t>
            </a:r>
            <a:br/>
            <a:r>
              <a:t>monocytes are recruited to the site to eliminate the offending</a:t>
            </a:r>
            <a:br/>
            <a:r>
              <a:t>agents and clear the debris. Macrophages are the central cellular</a:t>
            </a:r>
            <a:br/>
            <a:r>
              <a:t>players in the repair process. As discussed earlier, different macro-</a:t>
            </a:r>
            <a:br/>
            <a:r>
              <a:t>phage populations clear microbes and necrotic tissue, promote</a:t>
            </a:r>
            <a:br/>
            <a:r>
              <a:t>inﬂammation, and produce growth factors that stimulate the prolif-</a:t>
            </a:r>
            <a:br/>
            <a:r>
              <a:t>eration of many cell types in the next stage of repair. As the inju-</a:t>
            </a:r>
            <a:br/>
            <a:r>
              <a:t>rious agents and necrotic cells are cleared, the inﬂammation</a:t>
            </a:r>
            <a:br/>
            <a:r>
              <a:t>resolves.</a:t>
            </a:r>
            <a:br/>
            <a:r>
              <a:t>•</a:t>
            </a:r>
            <a:br/>
            <a:r>
              <a:t>Cell proliferation. In the next stage, which takes up to 10 days,</a:t>
            </a:r>
            <a:br/>
            <a:r>
              <a:t>several cell types, including epithelial cells, endothelial cells, and</a:t>
            </a:r>
            <a:br/>
            <a:r>
              <a:t>other vascular cells and ﬁbroblasts, proliferate and migrate to close</a:t>
            </a:r>
            <a:br/>
            <a:r>
              <a:t>the now-clean wound. Each cell type serves unique functions:</a:t>
            </a:r>
            <a:br/>
            <a:r>
              <a:t>•</a:t>
            </a:r>
            <a:br/>
            <a:r>
              <a:t>Epithelial cells respond to locally produced growth factors and</a:t>
            </a:r>
            <a:br/>
            <a:r>
              <a:t>migrate to cover the wound.</a:t>
            </a:r>
            <a:br/>
            <a:r>
              <a:t>•</a:t>
            </a:r>
            <a:br/>
            <a:r>
              <a:t>Endothelial and other vascular cells proliferate to form new</a:t>
            </a:r>
            <a:br/>
            <a:r>
              <a:t>blood vessels, a process known as angiogenesis, described in</a:t>
            </a:r>
            <a:br/>
            <a:r>
              <a:t>more detail later.</a:t>
            </a:r>
            <a:br/>
            <a:r>
              <a:t>•</a:t>
            </a:r>
            <a:br/>
            <a:r>
              <a:t>Fibroblasts proliferate and migrate into the site of injury and lay</a:t>
            </a:r>
            <a:br/>
            <a:r>
              <a:t>down collagen ﬁbers that form the scar.</a:t>
            </a:r>
            <a:br/>
            <a:r>
              <a:t>•</a:t>
            </a:r>
            <a:br/>
            <a:r>
              <a:t>The combination of proliferating ﬁbroblasts, ECM, and new</a:t>
            </a:r>
            <a:br/>
            <a:r>
              <a:t>blood vessels forms a type of tissue unique to healing wounds</a:t>
            </a:r>
            <a:br/>
            <a:r>
              <a:t>that is called granulation tissue. This term derives from its</a:t>
            </a:r>
            <a:br/>
            <a:r>
              <a:t>pink, soft, granular gross appearance.</a:t>
            </a:r>
            <a:br/>
            <a:r>
              <a:t>Macrophage</a:t>
            </a:r>
            <a:br/>
            <a:r>
              <a:t>Neutrophil</a:t>
            </a:r>
            <a:br/>
            <a:r>
              <a:t>Capillary</a:t>
            </a:r>
            <a:br/>
            <a:r>
              <a:t>B</a:t>
            </a:r>
            <a:br/>
            <a:r>
              <a:t>A</a:t>
            </a:r>
            <a:br/>
            <a:r>
              <a:t>C</a:t>
            </a:r>
            <a:br/>
            <a:r>
              <a:t>Fibroblast</a:t>
            </a:r>
            <a:br/>
            <a:r>
              <a:t>Platelet</a:t>
            </a:r>
            <a:br/>
            <a:r>
              <a:t>Granulation</a:t>
            </a:r>
            <a:br/>
            <a:r>
              <a:t>tissue</a:t>
            </a:r>
            <a:br/>
            <a:r>
              <a:t>New blood vessels</a:t>
            </a:r>
            <a:br/>
            <a:r>
              <a:t>Epithelial cells</a:t>
            </a:r>
            <a:br/>
            <a:r>
              <a:t>Eschar</a:t>
            </a:r>
            <a:br/>
            <a:r>
              <a:t>Collagen scar</a:t>
            </a:r>
            <a:br/>
            <a:r>
              <a:t>FIG. 2.21 Steps in healing of a wound in the skin. (A) Hemostatic clot and inﬂammation. (B) Proliferation of</a:t>
            </a:r>
            <a:br/>
            <a:r>
              <a:t>epithelial cells; formation of granulation tissue by vessel growth and proliferating ﬁbroblasts. An eschar is the</a:t>
            </a:r>
            <a:br/>
            <a:r>
              <a:t>scab that forms over the damaged skin. (C) Remodeling to produce the ﬁbrous scar. This is an example of</a:t>
            </a:r>
            <a:br/>
            <a:r>
              <a:t>healing by second intention.</a:t>
            </a:r>
            <a:br/>
            <a:r>
              <a:t>CHAPTER 2</a:t>
            </a:r>
            <a:br/>
            <a:r>
              <a:t>Inflammation and Repair</a:t>
            </a:r>
            <a:br/>
            <a:r>
              <a:t>49</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Table: •</a:t>
            </a:r>
            <a:br/>
            <a:r>
              <a:t>Liver regeneration from stem cells. In situations in which the prolif-</a:t>
            </a:r>
            <a:br/>
            <a:r>
              <a:t>erative capacity of hepatocytes is impaired, such as after chronic</a:t>
            </a:r>
            <a:br/>
            <a:r>
              <a:t>liver injury or inﬂammation, stem cells in the liver contribute to</a:t>
            </a:r>
            <a:br/>
            <a:r>
              <a:t>repopulation. Some of these stem cells reside in specialized niches</a:t>
            </a:r>
            <a:br/>
            <a:r>
              <a:t>called canals of Hering, where bile canaliculi connect with larger</a:t>
            </a:r>
            <a:br/>
            <a:r>
              <a:t>bile ducts.</a:t>
            </a:r>
            <a:br/>
            <a:r>
              <a:t>Repair by Scarring</a:t>
            </a:r>
            <a:br/>
            <a:r>
              <a:t>If repair cannot be accomplished by regeneration alone, there is</a:t>
            </a:r>
            <a:br/>
            <a:r>
              <a:t>replacement of the injured cells with connective tissue, leading to the</a:t>
            </a:r>
            <a:br/>
            <a:r>
              <a:t>formation of a scar. As discussed earlier, scarring may happen when</a:t>
            </a:r>
            <a:br/>
            <a:r>
              <a:t>the tissue injury is severe or chronic with damage to parenchymal cells</a:t>
            </a:r>
            <a:br/>
            <a:r>
              <a:t>and epithelia as well as to the connective tissue framework, or when</a:t>
            </a:r>
            <a:br/>
            <a:r>
              <a:t>nondividing cells are injured. In contrast to regeneration, which in-</a:t>
            </a:r>
            <a:br/>
            <a:r>
              <a:t>volves the restitution of tissue components, scar formation is a response</a:t>
            </a:r>
            <a:br/>
            <a:r>
              <a:t>that “patches” rather than restores the tissue. The term scar is most</a:t>
            </a:r>
            <a:br/>
            <a:r>
              <a:t>often used in connection to wound healing in the skin but may also be</a:t>
            </a:r>
            <a:br/>
            <a:r>
              <a:t>used to describe the replacement of parenchymal cells in any tissue by</a:t>
            </a:r>
            <a:br/>
            <a:r>
              <a:t>collagen, as in the heart after myocardial infarction.</a:t>
            </a:r>
            <a:br/>
            <a:r>
              <a:t>Steps in Scar Formation</a:t>
            </a:r>
            <a:br/>
            <a:r>
              <a:t>Scar formation is best illustrated by healing of skin wounds. Within</a:t>
            </a:r>
            <a:br/>
            <a:r>
              <a:t>minutes after a traumatic injury, a hemostatic plug comprising</a:t>
            </a:r>
            <a:br/>
            <a:r>
              <a:t>platelets (Chapter 3) is formed, which stops bleeding and provides a</a:t>
            </a:r>
            <a:br/>
            <a:r>
              <a:t>scaffold for inﬁltrating inﬂammatory cells and the formation of a</a:t>
            </a:r>
            <a:br/>
            <a:r>
              <a:t>stable clot. The subsequent steps are summarized below (Fig. 2.21):</a:t>
            </a:r>
            <a:br/>
            <a:r>
              <a:t>•</a:t>
            </a:r>
            <a:br/>
            <a:r>
              <a:t>Inﬂammation. Over the next 6 to 48 hours, neutrophils and then</a:t>
            </a:r>
            <a:br/>
            <a:r>
              <a:t>monocytes are recruited to the site to eliminate the offending</a:t>
            </a:r>
            <a:br/>
            <a:r>
              <a:t>agents and clear the debris. Macrophages are the central cellular</a:t>
            </a:r>
            <a:br/>
            <a:r>
              <a:t>players in the repair process. As discussed earlier, different macro-</a:t>
            </a:r>
            <a:br/>
            <a:r>
              <a:t>phage populations clear microbes and necrotic tissue, promote</a:t>
            </a:r>
            <a:br/>
            <a:r>
              <a:t>inﬂammation, and produce growth factors that stimulate the prolif-</a:t>
            </a:r>
            <a:br/>
            <a:r>
              <a:t>eration of many cell types in the next stage of repair. As the inju-</a:t>
            </a:r>
            <a:br/>
            <a:r>
              <a:t>rious agents and necrotic cells are cleared, the inﬂammation</a:t>
            </a:r>
            <a:br/>
            <a:r>
              <a:t>resolves.</a:t>
            </a:r>
            <a:br/>
            <a:r>
              <a:t>•</a:t>
            </a:r>
            <a:br/>
            <a:r>
              <a:t>Cell proliferation. In the next stage, which takes up to 10 days,</a:t>
            </a:r>
            <a:br/>
            <a:r>
              <a:t>several cell types, including epithelial cells, endothelial cells, and</a:t>
            </a:r>
            <a:br/>
            <a:r>
              <a:t>other vascular cells and ﬁbroblasts, proliferate and migrate to close</a:t>
            </a:r>
            <a:br/>
            <a:r>
              <a:t>the now-clean wound. Each cell type serves unique functions:</a:t>
            </a:r>
            <a:br/>
            <a:r>
              <a:t>•</a:t>
            </a:r>
            <a:br/>
            <a:r>
              <a:t>Epithelial cells respond to locally produced growth factors and</a:t>
            </a:r>
            <a:br/>
            <a:r>
              <a:t>migrate to cover the wound.</a:t>
            </a:r>
            <a:br/>
            <a:r>
              <a:t>•</a:t>
            </a:r>
            <a:br/>
            <a:r>
              <a:t>Endothelial and other vascular cells proliferate to form new</a:t>
            </a:r>
            <a:br/>
            <a:r>
              <a:t>blood vessels, a process known as angiogenesis, described in</a:t>
            </a:r>
            <a:br/>
            <a:r>
              <a:t>more detail later.</a:t>
            </a:r>
            <a:br/>
            <a:r>
              <a:t>•</a:t>
            </a:r>
            <a:br/>
            <a:r>
              <a:t>Fibroblasts proliferate and migrate into the site of injury and lay</a:t>
            </a:r>
            <a:br/>
            <a:r>
              <a:t>down collagen ﬁbers that form the scar.</a:t>
            </a:r>
            <a:br/>
            <a:r>
              <a:t>•</a:t>
            </a:r>
            <a:br/>
            <a:r>
              <a:t>The combination of proliferating ﬁbroblasts, ECM, and new</a:t>
            </a:r>
            <a:br/>
            <a:r>
              <a:t>blood vessels forms a type of tissue unique to healing wounds</a:t>
            </a:r>
            <a:br/>
            <a:r>
              <a:t>that is called granulation tissue. This term derives from its</a:t>
            </a:r>
            <a:br/>
            <a:r>
              <a:t>pink, soft, granular gross appearance.</a:t>
            </a:r>
            <a:br/>
            <a:r>
              <a:t>Macrophage</a:t>
            </a:r>
            <a:br/>
            <a:r>
              <a:t>Neutrophil</a:t>
            </a:r>
            <a:br/>
            <a:r>
              <a:t>Capillary</a:t>
            </a:r>
            <a:br/>
            <a:r>
              <a:t>B</a:t>
            </a:r>
            <a:br/>
            <a:r>
              <a:t>A</a:t>
            </a:r>
            <a:br/>
            <a:r>
              <a:t>C</a:t>
            </a:r>
            <a:br/>
            <a:r>
              <a:t>Fibroblast</a:t>
            </a:r>
            <a:br/>
            <a:r>
              <a:t>Platelet</a:t>
            </a:r>
            <a:br/>
            <a:r>
              <a:t>Granulation</a:t>
            </a:r>
            <a:br/>
            <a:r>
              <a:t>tissue</a:t>
            </a:r>
            <a:br/>
            <a:r>
              <a:t>New blood vessels</a:t>
            </a:r>
            <a:br/>
            <a:r>
              <a:t>Epithelial cells</a:t>
            </a:r>
            <a:br/>
            <a:r>
              <a:t>Eschar</a:t>
            </a:r>
            <a:br/>
            <a:r>
              <a:t>Collagen scar</a:t>
            </a:r>
            <a:br/>
            <a:r>
              <a:t>FIG. 2.21 Steps in healing of a wound in the skin. (A) Hemostatic clot and inﬂammation. (B) Proliferation of</a:t>
            </a:r>
            <a:br/>
            <a:r>
              <a:t>epithelial cells; formation of granulation tissue by vessel growth and proliferating ﬁbroblasts. An eschar is the</a:t>
            </a:r>
            <a:br/>
            <a:r>
              <a:t>scab that forms over the damaged skin. (C) Remodeling to produce the ﬁbrous scar. This is an example of</a:t>
            </a:r>
            <a:br/>
            <a:r>
              <a:t>healing by second intention.</a:t>
            </a:r>
            <a:br/>
            <a:r>
              <a:t>CHAPTER 2</a:t>
            </a:r>
            <a:br/>
            <a:r>
              <a:t>Inflammation and Repair</a:t>
            </a:r>
            <a:br/>
            <a:r>
              <a:t>49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Table: 10), act on the</a:t>
            </a:r>
            <a:br/>
            <a:r>
              <a:t>primed hepatocytes to stimulate their proliferation.</a:t>
            </a:r>
            <a:br/>
            <a:r>
              <a:t>•</a:t>
            </a:r>
            <a:br/>
            <a:r>
              <a:t>Liver regeneration from stem cells. In situations in which the prolif-</a:t>
            </a:r>
            <a:br/>
            <a:r>
              <a:t>erative capacity of hepatocytes is impaired, such as after chronic</a:t>
            </a:r>
            <a:br/>
            <a:r>
              <a:t>liver injury or inﬂammation, stem cells in the liver contribute to</a:t>
            </a:r>
            <a:br/>
            <a:r>
              <a:t>repopulation. Some of these stem cells reside in specialized niches</a:t>
            </a:r>
            <a:br/>
            <a:r>
              <a:t>called canals of Hering, where bile canaliculi connect with larger</a:t>
            </a:r>
            <a:br/>
            <a:r>
              <a:t>bile ducts.</a:t>
            </a:r>
            <a:br/>
            <a:r>
              <a:t>Repair by Scarring</a:t>
            </a:r>
            <a:br/>
            <a:r>
              <a:t>If repair cannot be accomplished by regeneration alone, there is</a:t>
            </a:r>
            <a:br/>
            <a:r>
              <a:t>replacement of the injured cells with connective tissue, leading to the</a:t>
            </a:r>
            <a:br/>
            <a:r>
              <a:t>formation of a scar. As discussed earlier, scarring may happen when</a:t>
            </a:r>
            <a:br/>
            <a:r>
              <a:t>the tissue injury is severe or chronic with damage to parenchymal cells</a:t>
            </a:r>
            <a:br/>
            <a:r>
              <a:t>and epithelia as well as to the connective tissue framework, or when</a:t>
            </a:r>
            <a:br/>
            <a:r>
              <a:t>nondividing cells are injured. In contrast to regeneration, which in-</a:t>
            </a:r>
            <a:br/>
            <a:r>
              <a:t>volves the restitution of tissue components, scar formation is a response</a:t>
            </a:r>
            <a:br/>
            <a:r>
              <a:t>that “patches” rather than restores the tissue. The term scar is most</a:t>
            </a:r>
            <a:br/>
            <a:r>
              <a:t>often used in connection to wound healing in the skin but may also be</a:t>
            </a:r>
            <a:br/>
            <a:r>
              <a:t>used to describe the replacement of parenchymal cells in any tissue by</a:t>
            </a:r>
            <a:br/>
            <a:r>
              <a:t>collagen, as in the heart after myocardial infarction.</a:t>
            </a:r>
            <a:br/>
            <a:r>
              <a:t>Steps in Scar Formation</a:t>
            </a:r>
            <a:br/>
            <a:r>
              <a:t>Scar formation is best illustrated by healing of skin wounds. Within</a:t>
            </a:r>
            <a:br/>
            <a:r>
              <a:t>minutes after a traumatic injury, a hemostatic plug comprising</a:t>
            </a:r>
            <a:br/>
            <a:r>
              <a:t>platelets (Chapter 3) is formed, which stops bleeding and provides a</a:t>
            </a:r>
            <a:br/>
            <a:r>
              <a:t>scaffold for inﬁltrating inﬂammatory cells and the formation of a</a:t>
            </a:r>
            <a:br/>
            <a:r>
              <a:t>stable clot. The subsequent steps are summarized below (Fig. 2.21):</a:t>
            </a:r>
            <a:br/>
            <a:r>
              <a:t>•</a:t>
            </a:r>
            <a:br/>
            <a:r>
              <a:t>Inﬂammation. Over the next 6 to 48 hours, neutrophils and then</a:t>
            </a:r>
            <a:br/>
            <a:r>
              <a:t>monocytes are recruited to the site to eliminate the offending</a:t>
            </a:r>
            <a:br/>
            <a:r>
              <a:t>agents and clear the debris. Macrophages are the central cellular</a:t>
            </a:r>
            <a:br/>
            <a:r>
              <a:t>players in the repair process. As discussed earlier, different macro-</a:t>
            </a:r>
            <a:br/>
            <a:r>
              <a:t>phage populations clear microbes and necrotic tissue, promote</a:t>
            </a:r>
            <a:br/>
            <a:r>
              <a:t>inﬂammation, and produce growth factors that stimulate the prolif-</a:t>
            </a:r>
            <a:br/>
            <a:r>
              <a:t>eration of many cell types in the next stage of repair. As the inju-</a:t>
            </a:r>
            <a:br/>
            <a:r>
              <a:t>rious agents and necrotic cells are cleared, the inﬂammation</a:t>
            </a:r>
            <a:br/>
            <a:r>
              <a:t>resolves.</a:t>
            </a:r>
            <a:br/>
            <a:r>
              <a:t>•</a:t>
            </a:r>
            <a:br/>
            <a:r>
              <a:t>Cell proliferation. In the next stage, which takes up to 10 days,</a:t>
            </a:r>
            <a:br/>
            <a:r>
              <a:t>several cell types, including epithelial cells, endothelial cells, and</a:t>
            </a:r>
            <a:br/>
            <a:r>
              <a:t>other vascular cells and ﬁbroblasts, proliferate and migrate to close</a:t>
            </a:r>
            <a:br/>
            <a:r>
              <a:t>the now-clean wound. Each cell type serves unique functions:</a:t>
            </a:r>
            <a:br/>
            <a:r>
              <a:t>•</a:t>
            </a:r>
            <a:br/>
            <a:r>
              <a:t>Epithelial cells respond to locally produced growth factors and</a:t>
            </a:r>
            <a:br/>
            <a:r>
              <a:t>migrate to cover the wound.</a:t>
            </a:r>
            <a:br/>
            <a:r>
              <a:t>•</a:t>
            </a:r>
            <a:br/>
            <a:r>
              <a:t>Endothelial and other vascular cells proliferate to form new</a:t>
            </a:r>
            <a:br/>
            <a:r>
              <a:t>blood vessels, a process known as angiogenesis, described in</a:t>
            </a:r>
            <a:br/>
            <a:r>
              <a:t>more detail later.</a:t>
            </a:r>
            <a:br/>
            <a:r>
              <a:t>•</a:t>
            </a:r>
            <a:br/>
            <a:r>
              <a:t>Fibroblasts proliferate and migrate into the site of injury and lay</a:t>
            </a:r>
            <a:br/>
            <a:r>
              <a:t>down collagen ﬁbers that form the scar.</a:t>
            </a:r>
            <a:br/>
            <a:r>
              <a:t>•</a:t>
            </a:r>
            <a:br/>
            <a:r>
              <a:t>The combination of proliferating ﬁbroblasts, ECM, and new</a:t>
            </a:r>
            <a:br/>
            <a:r>
              <a:t>blood vessels forms a type of tissue unique to healing wounds</a:t>
            </a:r>
            <a:br/>
            <a:r>
              <a:t>that is called granulation tissue. This term derives from its</a:t>
            </a:r>
            <a:br/>
            <a:r>
              <a:t>pink, soft, granular gross appearance.</a:t>
            </a:r>
            <a:br/>
            <a:r>
              <a:t>Macrophage</a:t>
            </a:r>
            <a:br/>
            <a:r>
              <a:t>Neutrophil</a:t>
            </a:r>
            <a:br/>
            <a:r>
              <a:t>Capillary</a:t>
            </a:r>
            <a:br/>
            <a:r>
              <a:t>B</a:t>
            </a:r>
            <a:br/>
            <a:r>
              <a:t>A</a:t>
            </a:r>
            <a:br/>
            <a:r>
              <a:t>C</a:t>
            </a:r>
            <a:br/>
            <a:r>
              <a:t>Fibroblast</a:t>
            </a:r>
            <a:br/>
            <a:r>
              <a:t>Platelet</a:t>
            </a:r>
            <a:br/>
            <a:r>
              <a:t>Granulation</a:t>
            </a:r>
            <a:br/>
            <a:r>
              <a:t>tissue</a:t>
            </a:r>
            <a:br/>
            <a:r>
              <a:t>New blood vessels</a:t>
            </a:r>
            <a:br/>
            <a:r>
              <a:t>Epithelial cells</a:t>
            </a:r>
            <a:br/>
            <a:r>
              <a:t>Eschar</a:t>
            </a:r>
            <a:br/>
            <a:r>
              <a:t>Collagen scar</a:t>
            </a:r>
            <a:br/>
            <a:r>
              <a:t>FIG. 2.21 Steps in healing of a wound in the skin. (A) Hemostatic clot and inﬂammation. (B) Proliferation of</a:t>
            </a:r>
            <a:br/>
            <a:r>
              <a:t>epithelial cells; formation of granulation tissue by vessel growth and proliferating ﬁbroblasts. An eschar is the</a:t>
            </a:r>
            <a:br/>
            <a:r>
              <a:t>scab that forms over the damaged skin. (C) Remodeling to produce the ﬁbrous scar. This is an example of</a:t>
            </a:r>
            <a:br/>
            <a:r>
              <a:t>healing by second intention.</a:t>
            </a:r>
            <a:br/>
            <a:r>
              <a:t>CHAPTER 2</a:t>
            </a:r>
            <a:br/>
            <a:r>
              <a:t>Inflammation and Repair</a:t>
            </a:r>
            <a:br/>
            <a:r>
              <a:t>49</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Table: •</a:t>
            </a:r>
            <a:br/>
            <a:r>
              <a:t>Liver regeneration from stem cells. In situations in which the prolif-</a:t>
            </a:r>
            <a:br/>
            <a:r>
              <a:t>erative capacity of hepatocytes is impaired, such as after chronic</a:t>
            </a:r>
            <a:br/>
            <a:r>
              <a:t>liver injury or inﬂammation, stem cells in the liver contribute to</a:t>
            </a:r>
            <a:br/>
            <a:r>
              <a:t>repopulation. Some of these stem cells reside in specialized niches</a:t>
            </a:r>
            <a:br/>
            <a:r>
              <a:t>called canals of Hering, where bile canaliculi connect with larger</a:t>
            </a:r>
            <a:br/>
            <a:r>
              <a:t>bile ducts.</a:t>
            </a:r>
            <a:br/>
            <a:r>
              <a:t>Repair by Scarring</a:t>
            </a:r>
            <a:br/>
            <a:r>
              <a:t>If repair cannot be accomplished by regeneration alone, there is</a:t>
            </a:r>
            <a:br/>
            <a:r>
              <a:t>replacement of the injured cells with connective tissue, leading to the</a:t>
            </a:r>
            <a:br/>
            <a:r>
              <a:t>formation of a scar. As discussed earlier, scarring may happen when</a:t>
            </a:r>
            <a:br/>
            <a:r>
              <a:t>the tissue injury is severe or chronic with damage to parenchymal cells</a:t>
            </a:r>
            <a:br/>
            <a:r>
              <a:t>and epithelia as well as to the connective tissue framework, or when</a:t>
            </a:r>
            <a:br/>
            <a:r>
              <a:t>nondividing cells are injured. In contrast to regeneration, which in-</a:t>
            </a:r>
            <a:br/>
            <a:r>
              <a:t>volves the restitution of tissue components, scar formation is a response</a:t>
            </a:r>
            <a:br/>
            <a:r>
              <a:t>that “patches” rather than restores the tissue. The term scar is most</a:t>
            </a:r>
            <a:br/>
            <a:r>
              <a:t>often used in connection to wound healing in the skin but may also be</a:t>
            </a:r>
            <a:br/>
            <a:r>
              <a:t>used to describe the replacement of parenchymal cells in any tissue by</a:t>
            </a:r>
            <a:br/>
            <a:r>
              <a:t>collagen, as in the heart after myocardial infarction.</a:t>
            </a:r>
            <a:br/>
            <a:r>
              <a:t>Steps in Scar Formation</a:t>
            </a:r>
            <a:br/>
            <a:r>
              <a:t>Scar formation is best illustrated by healing of skin wounds. Within</a:t>
            </a:r>
            <a:br/>
            <a:r>
              <a:t>minutes after a traumatic injury, a hemostatic plug comprising</a:t>
            </a:r>
            <a:br/>
            <a:r>
              <a:t>platelets (Chapter 3) is formed, which stops bleeding and provides a</a:t>
            </a:r>
            <a:br/>
            <a:r>
              <a:t>scaffold for inﬁltrating inﬂammatory cells and the formation of a</a:t>
            </a:r>
            <a:br/>
            <a:r>
              <a:t>stable clot. The subsequent steps are summarized below (Fig. 2.21):</a:t>
            </a:r>
            <a:br/>
            <a:r>
              <a:t>•</a:t>
            </a:r>
            <a:br/>
            <a:r>
              <a:t>Inﬂammation. Over the next 6 to 48 hours, neutrophils and then</a:t>
            </a:r>
            <a:br/>
            <a:r>
              <a:t>monocytes are recruited to the site to eliminate the offending</a:t>
            </a:r>
            <a:br/>
            <a:r>
              <a:t>agents and clear the debris. Macrophages are the central cellular</a:t>
            </a:r>
            <a:br/>
            <a:r>
              <a:t>players in the repair process. As discussed earlier, different macro-</a:t>
            </a:r>
            <a:br/>
            <a:r>
              <a:t>phage populations clear microbes and necrotic tissue, promote</a:t>
            </a:r>
            <a:br/>
            <a:r>
              <a:t>inﬂammation, and produce growth factors that stimulate the prolif-</a:t>
            </a:r>
            <a:br/>
            <a:r>
              <a:t>eration of many cell types in the next stage of repair. As the inju-</a:t>
            </a:r>
            <a:br/>
            <a:r>
              <a:t>rious agents and necrotic cells are cleared, the inﬂammation</a:t>
            </a:r>
            <a:br/>
            <a:r>
              <a:t>resolves.</a:t>
            </a:r>
            <a:br/>
            <a:r>
              <a:t>•</a:t>
            </a:r>
            <a:br/>
            <a:r>
              <a:t>Cell proliferation. In the next stage, which takes up to 10 days,</a:t>
            </a:r>
            <a:br/>
            <a:r>
              <a:t>several cell types, including epithelial cells, endothelial cells, and</a:t>
            </a:r>
            <a:br/>
            <a:r>
              <a:t>other vascular cells and ﬁbroblasts, proliferate and migrate to close</a:t>
            </a:r>
            <a:br/>
            <a:r>
              <a:t>the now-clean wound. Each cell type serves unique functions:</a:t>
            </a:r>
            <a:br/>
            <a:r>
              <a:t>•</a:t>
            </a:r>
            <a:br/>
            <a:r>
              <a:t>Epithelial cells respond to locally produced growth factors and</a:t>
            </a:r>
            <a:br/>
            <a:r>
              <a:t>migrate to cover the wound.</a:t>
            </a:r>
            <a:br/>
            <a:r>
              <a:t>•</a:t>
            </a:r>
            <a:br/>
            <a:r>
              <a:t>Endothelial and other vascular cells proliferate to form new</a:t>
            </a:r>
            <a:br/>
            <a:r>
              <a:t>blood vessels, a process known as angiogenesis, described in</a:t>
            </a:r>
            <a:br/>
            <a:r>
              <a:t>more detail later.</a:t>
            </a:r>
            <a:br/>
            <a:r>
              <a:t>•</a:t>
            </a:r>
            <a:br/>
            <a:r>
              <a:t>Fibroblasts proliferate and migrate into the site of injury and lay</a:t>
            </a:r>
            <a:br/>
            <a:r>
              <a:t>down collagen ﬁbers that form the scar.</a:t>
            </a:r>
            <a:br/>
            <a:r>
              <a:t>•</a:t>
            </a:r>
            <a:br/>
            <a:r>
              <a:t>The combination of proliferating ﬁbroblasts, ECM, and new</a:t>
            </a:r>
            <a:br/>
            <a:r>
              <a:t>blood vessels forms a type of tissue unique to healing wounds</a:t>
            </a:r>
            <a:br/>
            <a:r>
              <a:t>that is called granulation tissue. This term derives from its</a:t>
            </a:r>
            <a:br/>
            <a:r>
              <a:t>pink, soft, granular gross appearance.</a:t>
            </a:r>
            <a:br/>
            <a:r>
              <a:t>Macrophage</a:t>
            </a:r>
            <a:br/>
            <a:r>
              <a:t>Neutrophil</a:t>
            </a:r>
            <a:br/>
            <a:r>
              <a:t>Capillary</a:t>
            </a:r>
            <a:br/>
            <a:r>
              <a:t>B</a:t>
            </a:r>
            <a:br/>
            <a:r>
              <a:t>A</a:t>
            </a:r>
            <a:br/>
            <a:r>
              <a:t>C</a:t>
            </a:r>
            <a:br/>
            <a:r>
              <a:t>Fibroblast</a:t>
            </a:r>
            <a:br/>
            <a:r>
              <a:t>Platelet</a:t>
            </a:r>
            <a:br/>
            <a:r>
              <a:t>Granulation</a:t>
            </a:r>
            <a:br/>
            <a:r>
              <a:t>tissue</a:t>
            </a:r>
            <a:br/>
            <a:r>
              <a:t>New blood vessels</a:t>
            </a:r>
            <a:br/>
            <a:r>
              <a:t>Epithelial cells</a:t>
            </a:r>
            <a:br/>
            <a:r>
              <a:t>Eschar</a:t>
            </a:r>
            <a:br/>
            <a:r>
              <a:t>Collagen scar</a:t>
            </a:r>
            <a:br/>
            <a:r>
              <a:t>FIG. 2.21 Steps in healing of a wound in the skin. (A) Hemostatic clot and inﬂammation. (B) Proliferation of</a:t>
            </a:r>
            <a:br/>
            <a:r>
              <a:t>epithelial cells; formation of granulation tissue by vessel growth and proliferating ﬁbroblasts. An eschar is the</a:t>
            </a:r>
            <a:br/>
            <a:r>
              <a:t>scab that forms over the damaged skin. (C) Remodeling to produce the ﬁbrous scar. This is an example of</a:t>
            </a:r>
            <a:br/>
            <a:r>
              <a:t>healing by second intention.</a:t>
            </a:r>
            <a:br/>
            <a:r>
              <a:t>CHAPTER 2</a:t>
            </a:r>
            <a:br/>
            <a:r>
              <a:t>Inflammation and Repair</a:t>
            </a:r>
            <a:br/>
            <a:r>
              <a:t>49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These processes are orchestrated by locally produced cy-</a:t>
            </a:r>
            <a:br/>
            <a:r>
              <a:t>tokines and growth factors, including PDGF, FGF-2, and TGF-b. The</a:t>
            </a:r>
            <a:br/>
            <a:r>
              <a:t>major sources of these factors are inﬂammatory cells, particularly</a:t>
            </a:r>
            <a:br/>
            <a:r>
              <a:t>macrophages that inﬁltrate sites of injury. Since the major component</a:t>
            </a:r>
            <a:br/>
            <a:r>
              <a:t>of scar is connective tissue, we next brieﬂy summarize its composition</a:t>
            </a:r>
            <a:br/>
            <a:r>
              <a:t>and properties.</a:t>
            </a:r>
            <a:br/>
            <a:r>
              <a:t>Connective tissue consists of ﬁbroblasts and an acellular compo-</a:t>
            </a:r>
            <a:br/>
            <a:r>
              <a:t>nent, the ECM, which is composed of collagen and other glycopro-</a:t>
            </a:r>
            <a:br/>
            <a:r>
              <a:t>teins. The interactions of cells with the ECM are critical for healing,</a:t>
            </a:r>
            <a:br/>
            <a:r>
              <a:t>as well as for development and maintenance of normal tissue ar-</a:t>
            </a:r>
            <a:br/>
            <a:r>
              <a:t>chitecture (Fig. 2.23). The ECM serves several key functions:</a:t>
            </a:r>
            <a:br/>
            <a:r>
              <a:t>•</a:t>
            </a:r>
            <a:br/>
            <a:r>
              <a:t>Mechanical support for cell anchorage and cell migration, and</a:t>
            </a:r>
            <a:br/>
            <a:r>
              <a:t>maintenance of cell polarity.</a:t>
            </a:r>
            <a:br/>
            <a:r>
              <a:t>•</a:t>
            </a:r>
            <a:br/>
            <a:r>
              <a:t>Control of cell proliferation, by binding and displaying growth fac-</a:t>
            </a:r>
            <a:br/>
            <a:r>
              <a:t>tors and by signaling through cellular receptors of the integrin</a:t>
            </a:r>
            <a:br/>
            <a:r>
              <a:t>family. The ECM provides a depot for a variety of latent growth</a:t>
            </a:r>
            <a:br/>
            <a:r>
              <a:t>factors that can be activated within a focus of injury or</a:t>
            </a:r>
            <a:br/>
            <a:r>
              <a:t>inﬂammation.</a:t>
            </a:r>
            <a:br/>
            <a:r>
              <a:t>•</a:t>
            </a:r>
            <a:br/>
            <a:r>
              <a:t>Scaffold for tissue renewal. Because maintenance of normal tissue</a:t>
            </a:r>
            <a:br/>
            <a:r>
              <a:t>structure requires a basement membrane or stromal scaffold on</a:t>
            </a:r>
            <a:br/>
            <a:r>
              <a:t>which tissue cells can rest, the integrity of the basement membrane</a:t>
            </a:r>
            <a:br/>
            <a:r>
              <a:t>(in epithelia) or the stroma (in parenchymal organs) is critical for</a:t>
            </a:r>
            <a:br/>
            <a:r>
              <a:t>the regeneration of tissues.</a:t>
            </a:r>
            <a:br/>
            <a:r>
              <a:t>ECM occurs in two basic forms, interstitial matrix and basement</a:t>
            </a:r>
            <a:br/>
            <a:r>
              <a:t>membrane (see Fig. 2.23).</a:t>
            </a:r>
            <a:br/>
            <a:r>
              <a:t>•</a:t>
            </a:r>
            <a:br/>
            <a:r>
              <a:t>Interstitial matrix is present in the spaces between cells in connec-</a:t>
            </a:r>
            <a:br/>
            <a:r>
              <a:t>tive tissue, and between the epithelium and the underlying support-</a:t>
            </a:r>
            <a:br/>
            <a:r>
              <a:t>ive vascular and smooth muscle structures in parenchymal organs.</a:t>
            </a:r>
            <a:br/>
            <a:r>
              <a:t>Its major constituents are ﬁbrillar and nonﬁbrillar collagens, as well</a:t>
            </a:r>
            <a:br/>
            <a:r>
              <a:t>as ﬁbronectin, elastin, proteoglycans, hyaluronate, and other con-</a:t>
            </a:r>
            <a:br/>
            <a:r>
              <a:t>stituents (see later).</a:t>
            </a:r>
            <a:br/>
            <a:r>
              <a:t>•</a:t>
            </a:r>
            <a:br/>
            <a:r>
              <a:t>Basement membrane. The seemingly random array of interstitial</a:t>
            </a:r>
            <a:br/>
            <a:r>
              <a:t>matrix in connective tissues becomes highly organized around</a:t>
            </a:r>
            <a:br/>
            <a:r>
              <a:t>epithelial cells, endothelial cells, and smooth muscle cells, forming</a:t>
            </a:r>
            <a:br/>
            <a:r>
              <a:t>the specialized basement membrane. Its major constituents are</a:t>
            </a:r>
            <a:br/>
            <a:r>
              <a:t>amorphous nonﬁbrillar type IV collagen and laminin.</a:t>
            </a:r>
            <a:br/>
            <a:r>
              <a:t>The properties of the principal ECM proteins are summarized</a:t>
            </a:r>
            <a:br/>
            <a:r>
              <a:t>next.</a:t>
            </a:r>
            <a:br/>
            <a:r>
              <a:t>•</a:t>
            </a:r>
            <a:br/>
            <a:r>
              <a:t>Collagen. This is the major ECM component of the interstitial ma-</a:t>
            </a:r>
            <a:br/>
            <a:r>
              <a:t>trix and scar tissue. There are over 30 different types of collagen, all</a:t>
            </a:r>
            <a:br/>
            <a:r>
              <a:t>Inflammation</a:t>
            </a:r>
            <a:br/>
            <a:r>
              <a:t>Persistent tissue injury</a:t>
            </a:r>
            <a:br/>
            <a:r>
              <a:t>SCARRING / FIBROSIS</a:t>
            </a:r>
            <a:br/>
            <a:r>
              <a:t>Myofibroblasts</a:t>
            </a:r>
            <a:br/>
            <a:r>
              <a:t>Extracellular matrix</a:t>
            </a:r>
            <a:br/>
            <a:r>
              <a:t>Cytokines</a:t>
            </a:r>
            <a:br/>
            <a:r>
              <a:t>(e.g., IL-13)</a:t>
            </a:r>
            <a:br/>
            <a:r>
              <a:t>TGF-</a:t>
            </a:r>
            <a:br/>
            <a:r>
              <a:t>MMPs</a:t>
            </a:r>
            <a:br/>
            <a:r>
              <a:t>T lymphocytes</a:t>
            </a:r>
            <a:br/>
            <a:r>
              <a:t>and other</a:t>
            </a:r>
            <a:br/>
            <a:r>
              <a:t>lymphoid cells</a:t>
            </a:r>
            <a:br/>
            <a:r>
              <a:t>Fibroblast recruitment</a:t>
            </a:r>
            <a:br/>
            <a:r>
              <a:t>and differentiation</a:t>
            </a:r>
            <a:br/>
            <a:r>
              <a:t>Macrophages</a:t>
            </a:r>
            <a:br/>
            <a:r>
              <a:t>FIG. 2.22 Mechanisms of connective tissue deposition. Persistent</a:t>
            </a:r>
            <a:br/>
            <a:r>
              <a:t>tissue injury leads to chronic inﬂammation and loss of tissue architec-</a:t>
            </a:r>
            <a:br/>
            <a:r>
              <a:t>ture. Cytokines produced by macrophages and other leukocytes stimu-</a:t>
            </a:r>
            <a:br/>
            <a:r>
              <a:t>late the migration and proliferation of ﬁbroblasts and myoﬁbroblasts and</a:t>
            </a:r>
            <a:br/>
            <a:r>
              <a:t>the deposition of collagen and other extracellular matrix proteins. The net</a:t>
            </a:r>
            <a:br/>
            <a:r>
              <a:t>result is replacement of normal tissue by connective tissue.</a:t>
            </a:r>
            <a:br/>
            <a:r>
              <a:t>50</a:t>
            </a:r>
            <a:br/>
            <a:r>
              <a:t>CHAPTER 2 Inflammation and Repair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In response to cytokines and growth factors, ﬁbroblasts</a:t>
            </a:r>
            <a:br/>
            <a:r>
              <a:t>enter the wound from the edges and migrate toward the center. Some</a:t>
            </a:r>
            <a:br/>
            <a:r>
              <a:t>of these cells may differentiate into cells called myoﬁbroblasts, which</a:t>
            </a:r>
            <a:br/>
            <a:r>
              <a:t>contain smooth muscle actin and have increased contractile activity;</a:t>
            </a:r>
            <a:br/>
            <a:r>
              <a:t>they help close the wound by pulling its margins toward the center.</a:t>
            </a:r>
            <a:br/>
            <a:r>
              <a:t>When ﬁbroblasts and myoﬁbroblasts are activated, they increase their</a:t>
            </a:r>
            <a:br/>
            <a:r>
              <a:t>synthetic activity and produce connective tissue proteins, mainly</a:t>
            </a:r>
            <a:br/>
            <a:r>
              <a:t>collagen and also other ECM proteins.</a:t>
            </a:r>
            <a:br/>
            <a:r>
              <a:t>Transforming growth factor-b (TGF-b) is the most important</a:t>
            </a:r>
            <a:br/>
            <a:r>
              <a:t>cytokine for the synthesis and deposition of connective tissue</a:t>
            </a:r>
            <a:br/>
            <a:r>
              <a:t>proteins. It is produced by most of the cells in granulation tissue,</a:t>
            </a:r>
            <a:br/>
            <a:r>
              <a:t>including activated macrophages. TGF-b stimulates ﬁbroblast migra-</a:t>
            </a:r>
            <a:br/>
            <a:r>
              <a:t>tion and proliferation, increased synthesis of collagen and ﬁbronectin,</a:t>
            </a:r>
            <a:br/>
            <a:r>
              <a:t>Epithelium</a:t>
            </a:r>
            <a:br/>
            <a:r>
              <a:t>Integrins</a:t>
            </a:r>
            <a:br/>
            <a:r>
              <a:t>Capillary</a:t>
            </a:r>
            <a:br/>
            <a:r>
              <a:t>BASEMENT MEMBRANE</a:t>
            </a:r>
            <a:br/>
            <a:r>
              <a:t>   • Type IV collagen</a:t>
            </a:r>
            <a:br/>
            <a:r>
              <a:t>   • Laminin</a:t>
            </a:r>
            <a:br/>
            <a:r>
              <a:t>   • Proteoglycan</a:t>
            </a:r>
            <a:br/>
            <a:r>
              <a:t>INTERSTITIAL MATRIX</a:t>
            </a:r>
            <a:br/>
            <a:r>
              <a:t>   • Fibrillar collagens</a:t>
            </a:r>
            <a:br/>
            <a:r>
              <a:t>   • Elastin</a:t>
            </a:r>
            <a:br/>
            <a:r>
              <a:t>   • Proteoglycan and</a:t>
            </a:r>
            <a:br/>
            <a:r>
              <a:t>     hyaluronan</a:t>
            </a:r>
            <a:br/>
            <a:r>
              <a:t>Fibroblast</a:t>
            </a:r>
            <a:br/>
            <a:r>
              <a:t>Integrins</a:t>
            </a:r>
            <a:br/>
            <a:r>
              <a:t>Endothelial cells</a:t>
            </a:r>
            <a:br/>
            <a:r>
              <a:t>Proteoglycan</a:t>
            </a:r>
            <a:br/>
            <a:r>
              <a:t>Type IV collagen</a:t>
            </a:r>
            <a:br/>
            <a:r>
              <a:t>Laminin</a:t>
            </a:r>
            <a:br/>
            <a:r>
              <a:t>Fibroblast</a:t>
            </a:r>
            <a:br/>
            <a:r>
              <a:t>Crosslinked</a:t>
            </a:r>
            <a:br/>
            <a:r>
              <a:t>collagen triple helices</a:t>
            </a:r>
            <a:br/>
            <a:r>
              <a:t>Proteoglycan</a:t>
            </a:r>
            <a:br/>
            <a:r>
              <a:t>Adhesive</a:t>
            </a:r>
            <a:br/>
            <a:r>
              <a:t>glycoproteins</a:t>
            </a:r>
            <a:br/>
            <a:r>
              <a:t>Integrins</a:t>
            </a:r>
            <a:br/>
            <a:r>
              <a:t>FIG. 2.23 The extracellular matrix (ECM). Main components of the ECM include collagens, proteoglycans,</a:t>
            </a:r>
            <a:br/>
            <a:r>
              <a:t>and adhesive glycoproteins. Both epithelial and mesenchymal cells (e.g., ﬁbroblasts) interact with ECM via</a:t>
            </a:r>
            <a:br/>
            <a:r>
              <a:t>integrins. Basement membranes and interstitial ECM have different architecture and general composition,</a:t>
            </a:r>
            <a:br/>
            <a:r>
              <a:t>although certain components are present in both. Many ECM components (e.g., elastin, ﬁbrillin, hyaluronan,</a:t>
            </a:r>
            <a:br/>
            <a:r>
              <a:t>and syndecan) are not shown.</a:t>
            </a:r>
            <a:br/>
            <a:r>
              <a:t>CHAPTER 2</a:t>
            </a:r>
            <a:br/>
            <a:r>
              <a:t>Inflammation and Repair</a:t>
            </a:r>
            <a:br/>
            <a:r>
              <a:t>51</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Table: Thus,</a:t>
            </a:r>
            <a:br/>
            <a:r>
              <a:t>integrins functionally and structurally link the intracellular cytoskeleton</a:t>
            </a:r>
            <a:br/>
            <a:r>
              <a:t>with the outside world. Integrins also mediate cell-cell adhesive in-</a:t>
            </a:r>
            <a:br/>
            <a:r>
              <a:t>teractions. In addition to providing focal attachment to underlying sub-</a:t>
            </a:r>
            <a:br/>
            <a:r>
              <a:t>strates, binding through integrins can also trigger signaling cascades that</a:t>
            </a:r>
            <a:br/>
            <a:r>
              <a:t>inﬂuence cell locomotion, proliferation, shape, and differentiation.</a:t>
            </a:r>
            <a:br/>
            <a:r>
              <a:t>With this background of ECM structure and functions, we return</a:t>
            </a:r>
            <a:br/>
            <a:r>
              <a:t>to the deposition of connective tissue during scar formation (see</a:t>
            </a:r>
            <a:br/>
            <a:r>
              <a:t>Fig. 2.22). In response to cytokines and growth factors, ﬁbroblasts</a:t>
            </a:r>
            <a:br/>
            <a:r>
              <a:t>enter the wound from the edges and migrate toward the center. Some</a:t>
            </a:r>
            <a:br/>
            <a:r>
              <a:t>of these cells may differentiate into cells called myoﬁbroblasts, which</a:t>
            </a:r>
            <a:br/>
            <a:r>
              <a:t>contain smooth muscle actin and have increased contractile activity;</a:t>
            </a:r>
            <a:br/>
            <a:r>
              <a:t>they help close the wound by pulling its margins toward the center.</a:t>
            </a:r>
            <a:br/>
            <a:r>
              <a:t>When ﬁbroblasts and myoﬁbroblasts are activated, they increase their</a:t>
            </a:r>
            <a:br/>
            <a:r>
              <a:t>synthetic activity and produce connective tissue proteins, mainly</a:t>
            </a:r>
            <a:br/>
            <a:r>
              <a:t>collagen and also other ECM proteins.</a:t>
            </a:r>
            <a:br/>
            <a:r>
              <a:t>Transforming growth factor-b (TGF-b) is the most important</a:t>
            </a:r>
            <a:br/>
            <a:r>
              <a:t>cytokine for the synthesis and deposition of connective tissue</a:t>
            </a:r>
            <a:br/>
            <a:r>
              <a:t>proteins. It is produced by most of the cells in granulation tissue,</a:t>
            </a:r>
            <a:br/>
            <a:r>
              <a:t>including activated macrophages. TGF-b stimulates ﬁbroblast migra-</a:t>
            </a:r>
            <a:br/>
            <a:r>
              <a:t>tion and proliferation, increased synthesis of collagen and ﬁbronectin,</a:t>
            </a:r>
            <a:br/>
            <a:r>
              <a:t>Epithelium</a:t>
            </a:r>
            <a:br/>
            <a:r>
              <a:t>Integrins</a:t>
            </a:r>
            <a:br/>
            <a:r>
              <a:t>Capillary</a:t>
            </a:r>
            <a:br/>
            <a:r>
              <a:t>BASEMENT MEMBRANE</a:t>
            </a:r>
            <a:br/>
            <a:r>
              <a:t>   • Type IV collagen</a:t>
            </a:r>
            <a:br/>
            <a:r>
              <a:t>   • Laminin</a:t>
            </a:r>
            <a:br/>
            <a:r>
              <a:t>   • Proteoglycan</a:t>
            </a:r>
            <a:br/>
            <a:r>
              <a:t>INTERSTITIAL MATRIX</a:t>
            </a:r>
            <a:br/>
            <a:r>
              <a:t>   • Fibrillar collagens</a:t>
            </a:r>
            <a:br/>
            <a:r>
              <a:t>   • Elastin</a:t>
            </a:r>
            <a:br/>
            <a:r>
              <a:t>   • Proteoglycan and</a:t>
            </a:r>
            <a:br/>
            <a:r>
              <a:t>     hyaluronan</a:t>
            </a:r>
            <a:br/>
            <a:r>
              <a:t>Fibroblast</a:t>
            </a:r>
            <a:br/>
            <a:r>
              <a:t>Integrins</a:t>
            </a:r>
            <a:br/>
            <a:r>
              <a:t>Endothelial cells</a:t>
            </a:r>
            <a:br/>
            <a:r>
              <a:t>Proteoglycan</a:t>
            </a:r>
            <a:br/>
            <a:r>
              <a:t>Type IV collagen</a:t>
            </a:r>
            <a:br/>
            <a:r>
              <a:t>Laminin</a:t>
            </a:r>
            <a:br/>
            <a:r>
              <a:t>Fibroblast</a:t>
            </a:r>
            <a:br/>
            <a:r>
              <a:t>Crosslinked</a:t>
            </a:r>
            <a:br/>
            <a:r>
              <a:t>collagen triple helices</a:t>
            </a:r>
            <a:br/>
            <a:r>
              <a:t>Proteoglycan</a:t>
            </a:r>
            <a:br/>
            <a:r>
              <a:t>Adhesive</a:t>
            </a:r>
            <a:br/>
            <a:r>
              <a:t>glycoproteins</a:t>
            </a:r>
            <a:br/>
            <a:r>
              <a:t>Integrins</a:t>
            </a:r>
            <a:br/>
            <a:r>
              <a:t>FIG. 2.23 The extracellular matrix (ECM). Main components of the ECM include collagens, proteoglycans,</a:t>
            </a:r>
            <a:br/>
            <a:r>
              <a:t>and adhesive glycoproteins. Both epithelial and mesenchymal cells (e.g., ﬁbroblasts) interact with ECM via</a:t>
            </a:r>
            <a:br/>
            <a:r>
              <a:t>integrins. Basement membranes and interstitial ECM have different architecture and general composition,</a:t>
            </a:r>
            <a:br/>
            <a:r>
              <a:t>although certain components are present in both. Many ECM components (e.g., elastin, ﬁbrillin, hyaluronan,</a:t>
            </a:r>
            <a:br/>
            <a:r>
              <a:t>and syndecan) are not shown.</a:t>
            </a:r>
            <a:br/>
            <a:r>
              <a:t>CHAPTER 2</a:t>
            </a:r>
            <a:br/>
            <a:r>
              <a:t>Inflammation and Repair</a:t>
            </a:r>
            <a:br/>
            <a:r>
              <a:t>51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Table: 3). Thus,</a:t>
            </a:r>
            <a:br/>
            <a:r>
              <a:t>integrins functionally and structurally link the intracellular cytoskeleton</a:t>
            </a:r>
            <a:br/>
            <a:r>
              <a:t>with the outside world. Integrins also mediate cell-cell adhesive in-</a:t>
            </a:r>
            <a:br/>
            <a:r>
              <a:t>teractions. In addition to providing focal attachment to underlying sub-</a:t>
            </a:r>
            <a:br/>
            <a:r>
              <a:t>strates, binding through integrins can also trigger signaling cascades that</a:t>
            </a:r>
            <a:br/>
            <a:r>
              <a:t>inﬂuence cell locomotion, proliferation, shape, and differentiation.</a:t>
            </a:r>
            <a:br/>
            <a:r>
              <a:t>With this background of ECM structure and functions, we return</a:t>
            </a:r>
            <a:br/>
            <a:r>
              <a:t>to the deposition of connective tissue during scar formation (see</a:t>
            </a:r>
            <a:br/>
            <a:r>
              <a:t>Fig. 2.22). In response to cytokines and growth factors, ﬁbroblasts</a:t>
            </a:r>
            <a:br/>
            <a:r>
              <a:t>enter the wound from the edges and migrate toward the center. Some</a:t>
            </a:r>
            <a:br/>
            <a:r>
              <a:t>of these cells may differentiate into cells called myoﬁbroblasts, which</a:t>
            </a:r>
            <a:br/>
            <a:r>
              <a:t>contain smooth muscle actin and have increased contractile activity;</a:t>
            </a:r>
            <a:br/>
            <a:r>
              <a:t>they help close the wound by pulling its margins toward the center.</a:t>
            </a:r>
            <a:br/>
            <a:r>
              <a:t>When ﬁbroblasts and myoﬁbroblasts are activated, they increase their</a:t>
            </a:r>
            <a:br/>
            <a:r>
              <a:t>synthetic activity and produce connective tissue proteins, mainly</a:t>
            </a:r>
            <a:br/>
            <a:r>
              <a:t>collagen and also other ECM proteins.</a:t>
            </a:r>
            <a:br/>
            <a:r>
              <a:t>Transforming growth factor-b (TGF-b) is the most important</a:t>
            </a:r>
            <a:br/>
            <a:r>
              <a:t>cytokine for the synthesis and deposition of connective tissue</a:t>
            </a:r>
            <a:br/>
            <a:r>
              <a:t>proteins. It is produced by most of the cells in granulation tissue,</a:t>
            </a:r>
            <a:br/>
            <a:r>
              <a:t>including activated macrophages. TGF-b stimulates ﬁbroblast migra-</a:t>
            </a:r>
            <a:br/>
            <a:r>
              <a:t>tion and proliferation, increased synthesis of collagen and ﬁbronectin,</a:t>
            </a:r>
            <a:br/>
            <a:r>
              <a:t>Epithelium</a:t>
            </a:r>
            <a:br/>
            <a:r>
              <a:t>Integrins</a:t>
            </a:r>
            <a:br/>
            <a:r>
              <a:t>Capillary</a:t>
            </a:r>
            <a:br/>
            <a:r>
              <a:t>BASEMENT MEMBRANE</a:t>
            </a:r>
            <a:br/>
            <a:r>
              <a:t>   • Type IV collagen</a:t>
            </a:r>
            <a:br/>
            <a:r>
              <a:t>   • Laminin</a:t>
            </a:r>
            <a:br/>
            <a:r>
              <a:t>   • Proteoglycan</a:t>
            </a:r>
            <a:br/>
            <a:r>
              <a:t>INTERSTITIAL MATRIX</a:t>
            </a:r>
            <a:br/>
            <a:r>
              <a:t>   • Fibrillar collagens</a:t>
            </a:r>
            <a:br/>
            <a:r>
              <a:t>   • Elastin</a:t>
            </a:r>
            <a:br/>
            <a:r>
              <a:t>   • Proteoglycan and</a:t>
            </a:r>
            <a:br/>
            <a:r>
              <a:t>     hyaluronan</a:t>
            </a:r>
            <a:br/>
            <a:r>
              <a:t>Fibroblast</a:t>
            </a:r>
            <a:br/>
            <a:r>
              <a:t>Integrins</a:t>
            </a:r>
            <a:br/>
            <a:r>
              <a:t>Endothelial cells</a:t>
            </a:r>
            <a:br/>
            <a:r>
              <a:t>Proteoglycan</a:t>
            </a:r>
            <a:br/>
            <a:r>
              <a:t>Type IV collagen</a:t>
            </a:r>
            <a:br/>
            <a:r>
              <a:t>Laminin</a:t>
            </a:r>
            <a:br/>
            <a:r>
              <a:t>Fibroblast</a:t>
            </a:r>
            <a:br/>
            <a:r>
              <a:t>Crosslinked</a:t>
            </a:r>
            <a:br/>
            <a:r>
              <a:t>collagen triple helices</a:t>
            </a:r>
            <a:br/>
            <a:r>
              <a:t>Proteoglycan</a:t>
            </a:r>
            <a:br/>
            <a:r>
              <a:t>Adhesive</a:t>
            </a:r>
            <a:br/>
            <a:r>
              <a:t>glycoproteins</a:t>
            </a:r>
            <a:br/>
            <a:r>
              <a:t>Integrins</a:t>
            </a:r>
            <a:br/>
            <a:r>
              <a:t>FIG. 2.23 The extracellular matrix (ECM). Main components of the ECM include collagens, proteoglycans,</a:t>
            </a:r>
            <a:br/>
            <a:r>
              <a:t>and adhesive glycoproteins. Both epithelial and mesenchymal cells (e.g., ﬁbroblasts) interact with ECM via</a:t>
            </a:r>
            <a:br/>
            <a:r>
              <a:t>integrins. Basement membranes and interstitial ECM have different architecture and general composition,</a:t>
            </a:r>
            <a:br/>
            <a:r>
              <a:t>although certain components are present in both. Many ECM components (e.g., elastin, ﬁbrillin, hyaluronan,</a:t>
            </a:r>
            <a:br/>
            <a:r>
              <a:t>and syndecan) are not shown.</a:t>
            </a:r>
            <a:br/>
            <a:r>
              <a:t>CHAPTER 2</a:t>
            </a:r>
            <a:br/>
            <a:r>
              <a:t>Inflammation and Repair</a:t>
            </a:r>
            <a:br/>
            <a:r>
              <a:t>51</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Table: Thus,</a:t>
            </a:r>
            <a:br/>
            <a:r>
              <a:t>integrins functionally and structurally link the intracellular cytoskeleton</a:t>
            </a:r>
            <a:br/>
            <a:r>
              <a:t>with the outside world. Integrins also mediate cell-cell adhesive in-</a:t>
            </a:r>
            <a:br/>
            <a:r>
              <a:t>teractions. In addition to providing focal attachment to underlying sub-</a:t>
            </a:r>
            <a:br/>
            <a:r>
              <a:t>strates, binding through integrins can also trigger signaling cascades that</a:t>
            </a:r>
            <a:br/>
            <a:r>
              <a:t>inﬂuence cell locomotion, proliferation, shape, and differentiation.</a:t>
            </a:r>
            <a:br/>
            <a:r>
              <a:t>With this background of ECM structure and functions, we return</a:t>
            </a:r>
            <a:br/>
            <a:r>
              <a:t>to the deposition of connective tissue during scar formation (see</a:t>
            </a:r>
            <a:br/>
            <a:r>
              <a:t>Fig. 2.22). In response to cytokines and growth factors, ﬁbroblasts</a:t>
            </a:r>
            <a:br/>
            <a:r>
              <a:t>enter the wound from the edges and migrate toward the center. Some</a:t>
            </a:r>
            <a:br/>
            <a:r>
              <a:t>of these cells may differentiate into cells called myoﬁbroblasts, which</a:t>
            </a:r>
            <a:br/>
            <a:r>
              <a:t>contain smooth muscle actin and have increased contractile activity;</a:t>
            </a:r>
            <a:br/>
            <a:r>
              <a:t>they help close the wound by pulling its margins toward the center.</a:t>
            </a:r>
            <a:br/>
            <a:r>
              <a:t>When ﬁbroblasts and myoﬁbroblasts are activated, they increase their</a:t>
            </a:r>
            <a:br/>
            <a:r>
              <a:t>synthetic activity and produce connective tissue proteins, mainly</a:t>
            </a:r>
            <a:br/>
            <a:r>
              <a:t>collagen and also other ECM proteins.</a:t>
            </a:r>
            <a:br/>
            <a:r>
              <a:t>Transforming growth factor-b (TGF-b) is the most important</a:t>
            </a:r>
            <a:br/>
            <a:r>
              <a:t>cytokine for the synthesis and deposition of connective tissue</a:t>
            </a:r>
            <a:br/>
            <a:r>
              <a:t>proteins. It is produced by most of the cells in granulation tissue,</a:t>
            </a:r>
            <a:br/>
            <a:r>
              <a:t>including activated macrophages. TGF-b stimulates ﬁbroblast migra-</a:t>
            </a:r>
            <a:br/>
            <a:r>
              <a:t>tion and proliferation, increased synthesis of collagen and ﬁbronectin,</a:t>
            </a:r>
            <a:br/>
            <a:r>
              <a:t>Epithelium</a:t>
            </a:r>
            <a:br/>
            <a:r>
              <a:t>Integrins</a:t>
            </a:r>
            <a:br/>
            <a:r>
              <a:t>Capillary</a:t>
            </a:r>
            <a:br/>
            <a:r>
              <a:t>BASEMENT MEMBRANE</a:t>
            </a:r>
            <a:br/>
            <a:r>
              <a:t>   • Type IV collagen</a:t>
            </a:r>
            <a:br/>
            <a:r>
              <a:t>   • Laminin</a:t>
            </a:r>
            <a:br/>
            <a:r>
              <a:t>   • Proteoglycan</a:t>
            </a:r>
            <a:br/>
            <a:r>
              <a:t>INTERSTITIAL MATRIX</a:t>
            </a:r>
            <a:br/>
            <a:r>
              <a:t>   • Fibrillar collagens</a:t>
            </a:r>
            <a:br/>
            <a:r>
              <a:t>   • Elastin</a:t>
            </a:r>
            <a:br/>
            <a:r>
              <a:t>   • Proteoglycan and</a:t>
            </a:r>
            <a:br/>
            <a:r>
              <a:t>     hyaluronan</a:t>
            </a:r>
            <a:br/>
            <a:r>
              <a:t>Fibroblast</a:t>
            </a:r>
            <a:br/>
            <a:r>
              <a:t>Integrins</a:t>
            </a:r>
            <a:br/>
            <a:r>
              <a:t>Endothelial cells</a:t>
            </a:r>
            <a:br/>
            <a:r>
              <a:t>Proteoglycan</a:t>
            </a:r>
            <a:br/>
            <a:r>
              <a:t>Type IV collagen</a:t>
            </a:r>
            <a:br/>
            <a:r>
              <a:t>Laminin</a:t>
            </a:r>
            <a:br/>
            <a:r>
              <a:t>Fibroblast</a:t>
            </a:r>
            <a:br/>
            <a:r>
              <a:t>Crosslinked</a:t>
            </a:r>
            <a:br/>
            <a:r>
              <a:t>collagen triple helices</a:t>
            </a:r>
            <a:br/>
            <a:r>
              <a:t>Proteoglycan</a:t>
            </a:r>
            <a:br/>
            <a:r>
              <a:t>Adhesive</a:t>
            </a:r>
            <a:br/>
            <a:r>
              <a:t>glycoproteins</a:t>
            </a:r>
            <a:br/>
            <a:r>
              <a:t>Integrins</a:t>
            </a:r>
            <a:br/>
            <a:r>
              <a:t>FIG. 2.23 The extracellular matrix (ECM). Main components of the ECM include collagens, proteoglycans,</a:t>
            </a:r>
            <a:br/>
            <a:r>
              <a:t>and adhesive glycoproteins. Both epithelial and mesenchymal cells (e.g., ﬁbroblasts) interact with ECM via</a:t>
            </a:r>
            <a:br/>
            <a:r>
              <a:t>integrins. Basement membranes and interstitial ECM have different architecture and general composition,</a:t>
            </a:r>
            <a:br/>
            <a:r>
              <a:t>although certain components are present in both. Many ECM components (e.g., elastin, ﬁbrillin, hyaluronan,</a:t>
            </a:r>
            <a:br/>
            <a:r>
              <a:t>and syndecan) are not shown.</a:t>
            </a:r>
            <a:br/>
            <a:r>
              <a:t>CHAPTER 2</a:t>
            </a:r>
            <a:br/>
            <a:r>
              <a:t>Inflammation and Repair</a:t>
            </a:r>
            <a:br/>
            <a:r>
              <a:t>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This tissue</a:t>
            </a:r>
            <a:br/>
            <a:r>
              <a:t>gets progressively deposited at the site of injury; the amount of granulation</a:t>
            </a:r>
            <a:br/>
            <a:r>
              <a:t>tissue that is formed depends on the size of the tissue deﬁcit created by</a:t>
            </a:r>
            <a:br/>
            <a:r>
              <a:t>the wound and the intensity of inﬂammation.</a:t>
            </a:r>
            <a:br/>
            <a:r>
              <a:t>• A scar or ﬁbrosis in tissues is composed of inactive, spindle-shaped</a:t>
            </a:r>
            <a:br/>
            <a:r>
              <a:t>ﬁbroblasts, dense bundles of collagen, and other ECM components</a:t>
            </a:r>
            <a:br/>
            <a:r>
              <a:t>(Fig. 2.24B). Pathologists often use special stains to identify different</a:t>
            </a:r>
            <a:br/>
            <a:r>
              <a:t>protein constituents of scars and ﬁbrotic tissues. The trichrome stain de-</a:t>
            </a:r>
            <a:br/>
            <a:r>
              <a:t>tects collagen ﬁbers, and the elastin stain identiﬁes delicate ﬁbers of</a:t>
            </a:r>
            <a:br/>
            <a:r>
              <a:t>elastin, the major component of pliable elastic tissue. (The trichrome</a:t>
            </a:r>
            <a:br/>
            <a:r>
              <a:t>actually contains three stainsdhence its namedthat color red blood cells</a:t>
            </a:r>
            <a:br/>
            <a:r>
              <a:t>orange, muscle red, and collagen blue.) Another extracellular matrix protein</a:t>
            </a:r>
            <a:br/>
            <a:r>
              <a:t>that makes up the connective tissue stroma of normal organs and is</a:t>
            </a:r>
            <a:br/>
            <a:r>
              <a:t>present in early scars is reticulin, which is composed of type III collagen,</a:t>
            </a:r>
            <a:br/>
            <a:r>
              <a:t>and it too can be identiﬁed with a special stain.</a:t>
            </a:r>
            <a:br/>
            <a:r>
              <a:t>Factors That Interfere With Tissue Repair</a:t>
            </a:r>
            <a:br/>
            <a:r>
              <a:t>Variables that prevent healing may be extrinsic (e.g., infection) or</a:t>
            </a:r>
            <a:br/>
            <a:r>
              <a:t>intrinsic to the injured tissue, and systemic or local:</a:t>
            </a:r>
            <a:br/>
            <a:r>
              <a:t>•</a:t>
            </a:r>
            <a:br/>
            <a:r>
              <a:t>Infection is clinically one of the most important causes of delay in</a:t>
            </a:r>
            <a:br/>
            <a:r>
              <a:t>healing; it prolongs inﬂammation and may increase local tissue</a:t>
            </a:r>
            <a:br/>
            <a:r>
              <a:t>injury.</a:t>
            </a:r>
            <a:br/>
            <a:r>
              <a:t>•</a:t>
            </a:r>
            <a:br/>
            <a:r>
              <a:t>Diabetes is a metabolic disease that compromises tissue repair for</a:t>
            </a:r>
            <a:br/>
            <a:r>
              <a:t>many reasons (Chapter 18) and is an important systemic cause</a:t>
            </a:r>
            <a:br/>
            <a:r>
              <a:t>of delayed wound healing.</a:t>
            </a:r>
            <a:br/>
            <a:r>
              <a:t>•</a:t>
            </a:r>
            <a:br/>
            <a:r>
              <a:t>Nutritional</a:t>
            </a:r>
            <a:br/>
            <a:r>
              <a:t>status</a:t>
            </a:r>
            <a:br/>
            <a:r>
              <a:t>has</a:t>
            </a:r>
            <a:br/>
            <a:r>
              <a:t>profound</a:t>
            </a:r>
            <a:br/>
            <a:r>
              <a:t>effects</a:t>
            </a:r>
            <a:br/>
            <a:r>
              <a:t>on</a:t>
            </a:r>
            <a:br/>
            <a:r>
              <a:t>repair;</a:t>
            </a:r>
            <a:br/>
            <a:r>
              <a:t>protein</a:t>
            </a:r>
            <a:br/>
            <a:r>
              <a:t>and vitamin C deﬁciencies inhibit collagen synthesis and retard</a:t>
            </a:r>
            <a:br/>
            <a:r>
              <a:t>healing.</a:t>
            </a:r>
            <a:br/>
            <a:r>
              <a:t>•</a:t>
            </a:r>
            <a:br/>
            <a:r>
              <a:t>Glucocorticoids (steroids) are antiinﬂammatory agents that inhibit</a:t>
            </a:r>
            <a:br/>
            <a:r>
              <a:t>production of TGF-b, already mentioned as a cytokine that pro-</a:t>
            </a:r>
            <a:br/>
            <a:r>
              <a:t>motes collagen deposition. Thus, in the postsurgical setting the</a:t>
            </a:r>
            <a:br/>
            <a:r>
              <a:t>administration of glucocorticoids may prevent adequate wound</a:t>
            </a:r>
            <a:br/>
            <a:r>
              <a:t>healing. On the other hand, glucocorticoids are sometimes</a:t>
            </a:r>
            <a:br/>
            <a:r>
              <a:t>B</a:t>
            </a:r>
            <a:br/>
            <a:r>
              <a:t>A</a:t>
            </a:r>
            <a:br/>
            <a:r>
              <a:t>B</a:t>
            </a:r>
            <a:br/>
            <a:r>
              <a:t>FIG. 2.24 Healing wound. (A) Granulation tissue showing numerous blood vessels, edema, and a loose</a:t>
            </a:r>
            <a:br/>
            <a:r>
              <a:t>extracellular matrix containing occasional inﬂammatory cells. Collagen is stained blue by the trichrome stain;</a:t>
            </a:r>
            <a:br/>
            <a:r>
              <a:t>minimal mature collagen can be seen at this point. (B) Mature scar, showing dense collagen (blue, trichrome</a:t>
            </a:r>
            <a:br/>
            <a:r>
              <a:t>stain) and scattered vascular channels.</a:t>
            </a:r>
            <a:br/>
            <a:r>
              <a:t>52</a:t>
            </a:r>
            <a:br/>
            <a:r>
              <a:t>CHAPTER 2 Inflammation and Repair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a:t>
            </a:r>
            <a:br/>
            <a:r>
              <a:t>Arterial ulcers (Fig. 2.25B) develop in individuals with atheroscle-</a:t>
            </a:r>
            <a:br/>
            <a:r>
              <a:t>rosis of peripheral arteries, especially associated with diabetes.</a:t>
            </a:r>
            <a:br/>
            <a:r>
              <a:t>Ischemia resulting from the vascular compromise interferes with</a:t>
            </a:r>
            <a:br/>
            <a:r>
              <a:t>repair and may cause necrosis of the skin and underlying tissues,</a:t>
            </a:r>
            <a:br/>
            <a:r>
              <a:t>producing painful lesions.</a:t>
            </a:r>
            <a:br/>
            <a:r>
              <a:t>•</a:t>
            </a:r>
            <a:br/>
            <a:r>
              <a:t>Diabetic ulcers (Fig. 2.25C) affect the lower extremities, particularly</a:t>
            </a:r>
            <a:br/>
            <a:r>
              <a:t>the feet. The necrosis and failure to heal are the result of small</a:t>
            </a:r>
            <a:br/>
            <a:r>
              <a:t>vessel disease causing ischemia and neuropathy, as well as second-</a:t>
            </a:r>
            <a:br/>
            <a:r>
              <a:t>ary infections. Histologically, these lesions are characterized by</a:t>
            </a:r>
            <a:br/>
            <a:r>
              <a:t>epidermal ulceration (Fig. 2.25E) and extensive granulation tissue</a:t>
            </a:r>
            <a:br/>
            <a:r>
              <a:t>in the underlying dermis (Fig. 2.25F).</a:t>
            </a:r>
            <a:br/>
            <a:r>
              <a:t>•</a:t>
            </a:r>
            <a:br/>
            <a:r>
              <a:t>Pressure sores (Fig. 2.25D) are areas of skin ulceration and necrosis</a:t>
            </a:r>
            <a:br/>
            <a:r>
              <a:t>of underlying tissues caused by prolonged compression of tissues</a:t>
            </a:r>
            <a:br/>
            <a:r>
              <a:t>against a bone, e.g., in bedridden individuals. The lesions are</a:t>
            </a:r>
            <a:br/>
            <a:r>
              <a:t>caused by mechanical pressure and local ischemia.</a:t>
            </a:r>
            <a:br/>
            <a:r>
              <a:t>In some situations, failure of healing may lead to dehiscence or</a:t>
            </a:r>
            <a:br/>
            <a:r>
              <a:t>rupture of a wound. Although not common, this occurs most</a:t>
            </a:r>
            <a:br/>
            <a:r>
              <a:t>frequently after abdominal surgery and is due to vomiting, coughing,</a:t>
            </a:r>
            <a:br/>
            <a:r>
              <a:t>or ileus, which can generate mechanical stress on the abdominal</a:t>
            </a:r>
            <a:br/>
            <a:r>
              <a:t>wound, leading to its rupture.</a:t>
            </a:r>
            <a:br/>
            <a:r>
              <a:t>A</a:t>
            </a:r>
            <a:br/>
            <a:r>
              <a:t>E</a:t>
            </a:r>
            <a:br/>
            <a:r>
              <a:t>F</a:t>
            </a:r>
            <a:br/>
            <a:r>
              <a:t>B</a:t>
            </a:r>
            <a:br/>
            <a:r>
              <a:t>C</a:t>
            </a:r>
            <a:br/>
            <a:r>
              <a:t>D</a:t>
            </a:r>
            <a:br/>
            <a:r>
              <a:t>FIG. 2.25 Chronic wounds illustrating defects in wound healing. (AeD) External appearance of skin ulcers. (A)</a:t>
            </a:r>
            <a:br/>
            <a:r>
              <a:t>Venous leg ulcer; (B) arterial ulcer, with more extensive tissue necrosis; (C) diabetic ulcer; and (D) pressure</a:t>
            </a:r>
            <a:br/>
            <a:r>
              <a:t>sore. (EeF) Histologic appearance of a diabetic ulcer. (E) Ulcer crater; (F) chronic inﬂammation and granulation</a:t>
            </a:r>
            <a:br/>
            <a:r>
              <a:t>tissue. (From Eming SA, Martin P, Tomic-Canic M: Wound repair and regeneration: mechanisms, signaling,</a:t>
            </a:r>
            <a:br/>
            <a:r>
              <a:t>and translation. Sci Transl Med 6:265, 2014.)</a:t>
            </a:r>
            <a:br/>
            <a:r>
              <a:t>CHAPTER 2</a:t>
            </a:r>
            <a:br/>
            <a:r>
              <a:t>Inflammation and Repair</a:t>
            </a:r>
            <a:br/>
            <a:r>
              <a:t>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Keloid formation seems to be an individual predisposition.</a:t>
            </a:r>
            <a:br/>
            <a:r>
              <a:t>Contraction in the size of a wound is an important part of the</a:t>
            </a:r>
            <a:br/>
            <a:r>
              <a:t>normal healing process. An exaggeration of this process gives rise to</a:t>
            </a:r>
            <a:br/>
            <a:r>
              <a:t>contracture and results in deformities of the wound and the sur-</a:t>
            </a:r>
            <a:br/>
            <a:r>
              <a:t>rounding tissues. Contractures are particularly prone to develop on the</a:t>
            </a:r>
            <a:br/>
            <a:r>
              <a:t>palms, the soles, and the anterior aspect of the thorax. Contractures</a:t>
            </a:r>
            <a:br/>
            <a:r>
              <a:t>are commonly seen after serious burns and can compromise the</a:t>
            </a:r>
            <a:br/>
            <a:r>
              <a:t>movement of joints.</a:t>
            </a:r>
            <a:br/>
            <a:r>
              <a:t>Fibrosis in Parenchymal Organs</a:t>
            </a:r>
            <a:br/>
            <a:r>
              <a:t>The term ﬁbrosis is used to denote the excessive deposition of collagen</a:t>
            </a:r>
            <a:br/>
            <a:r>
              <a:t>and other ECM components in a tissue. The terms scar and ﬁbrosis are</a:t>
            </a:r>
            <a:br/>
            <a:r>
              <a:t>often used interchangeably, but ﬁbrosis usually refers to the abnormal</a:t>
            </a:r>
            <a:br/>
            <a:r>
              <a:t>deposition of collagen in internal organs in chronic diseases. The basic</a:t>
            </a:r>
            <a:br/>
            <a:r>
              <a:t>mechanisms of ﬁbrosis are the same as those of scar formation in the</a:t>
            </a:r>
            <a:br/>
            <a:r>
              <a:t>skin during tissue repair. Fibrosis is induced by persistent injurious</a:t>
            </a:r>
            <a:br/>
            <a:r>
              <a:t>stimuli, such as chronic infections and immunologic reactions, and</a:t>
            </a:r>
            <a:br/>
            <a:r>
              <a:t>may be responsible for substantial organ dysfunction and even organ</a:t>
            </a:r>
            <a:br/>
            <a:r>
              <a:t>failure. As discussed earlier, the major cytokine involved in ﬁbrosis is</a:t>
            </a:r>
            <a:br/>
            <a:r>
              <a:t>TGF-b, but cytokines such as IL-13 produced by T lymphocytes may</a:t>
            </a:r>
            <a:br/>
            <a:r>
              <a:t>also contribute (see Fig. 2.22).</a:t>
            </a:r>
            <a:br/>
            <a:r>
              <a:t>Fibrotic disorders include diverse chronic and debilitating dis-</a:t>
            </a:r>
            <a:br/>
            <a:r>
              <a:t>eases such as liver cirrhosis, systemic sclerosis (scleroderma),</a:t>
            </a:r>
            <a:br/>
            <a:r>
              <a:t>ﬁbrosing diseases of the lung (idiopathic pulmonary ﬁbrosis,</a:t>
            </a:r>
            <a:br/>
            <a:r>
              <a:t>pneumoconioses,</a:t>
            </a:r>
            <a:br/>
            <a:r>
              <a:t>and drug-</a:t>
            </a:r>
            <a:br/>
            <a:r>
              <a:t>and</a:t>
            </a:r>
            <a:br/>
            <a:r>
              <a:t>radiation-induced</a:t>
            </a:r>
            <a:br/>
            <a:r>
              <a:t>pulmonary</a:t>
            </a:r>
            <a:br/>
            <a:r>
              <a:t>ﬁbrosis), end-stage kidney disease, and constrictive pericarditis.</a:t>
            </a:r>
            <a:br/>
            <a:r>
              <a:t>These conditions are discussed in the relevant chapters in the book.</a:t>
            </a:r>
            <a:br/>
            <a:r>
              <a:t>Because of the tremendous functional impairment caused by ﬁbrosis</a:t>
            </a:r>
            <a:br/>
            <a:r>
              <a:t>in these conditions, there is great interest in the development of</a:t>
            </a:r>
            <a:br/>
            <a:r>
              <a:t>antiﬁbrotic drugs.</a:t>
            </a:r>
            <a:br/>
            <a:r>
              <a:t>n RAPID REVIEW</a:t>
            </a:r>
            <a:br/>
            <a:r>
              <a:t>General Features and Causes of Inflammation</a:t>
            </a:r>
            <a:br/>
            <a:r>
              <a:t>•</a:t>
            </a:r>
            <a:br/>
            <a:r>
              <a:t>Inﬂammation is a beneﬁcial host response to foreign invaders and</a:t>
            </a:r>
            <a:br/>
            <a:r>
              <a:t>necrotic tissue, but it may also cause tissue damage.</a:t>
            </a:r>
            <a:br/>
            <a:r>
              <a:t>•</a:t>
            </a:r>
            <a:br/>
            <a:r>
              <a:t>The main components of inﬂammation are a vascular reaction and</a:t>
            </a:r>
            <a:br/>
            <a:r>
              <a:t>a cellular response; both are activated by mediators that are derived</a:t>
            </a:r>
            <a:br/>
            <a:r>
              <a:t>from plasma proteins and various cells.</a:t>
            </a:r>
            <a:br/>
            <a:r>
              <a:t>•</a:t>
            </a:r>
            <a:br/>
            <a:r>
              <a:t>The steps of the inﬂammatory response can be remembered as the</a:t>
            </a:r>
            <a:br/>
            <a:r>
              <a:t>ﬁve R’s: (1) recognition of the injurious agent; (2) recruitment of</a:t>
            </a:r>
            <a:br/>
            <a:r>
              <a:t>leukocytes; (3) removal of the agent; (4) regulation (termination)</a:t>
            </a:r>
            <a:br/>
            <a:r>
              <a:t>of the response; and (5) repair.</a:t>
            </a:r>
            <a:br/>
            <a:r>
              <a:t>•</a:t>
            </a:r>
            <a:br/>
            <a:r>
              <a:t>The causes of inﬂammation include infections, tissue necrosis,</a:t>
            </a:r>
            <a:br/>
            <a:r>
              <a:t>foreign bodies, trauma, and immune responses.</a:t>
            </a:r>
            <a:br/>
            <a:r>
              <a:t>•</a:t>
            </a:r>
            <a:br/>
            <a:r>
              <a:t>Epithelial cells, tissue macrophages and dendritic cells, leukocytes,</a:t>
            </a:r>
            <a:br/>
            <a:r>
              <a:t>and other cell types express receptors that sense the presence of mi-</a:t>
            </a:r>
            <a:br/>
            <a:r>
              <a:t>crobes and necrotic cells. Circulating proteins recognize microbes</a:t>
            </a:r>
            <a:br/>
            <a:r>
              <a:t>that have entered the blood.</a:t>
            </a:r>
            <a:br/>
            <a:r>
              <a:t>•</a:t>
            </a:r>
            <a:br/>
            <a:r>
              <a:t>The outcome of acute inﬂammation is either elimination of the</a:t>
            </a:r>
            <a:br/>
            <a:r>
              <a:t>noxious stimulus followed by decline of the reaction and repair</a:t>
            </a:r>
            <a:br/>
            <a:r>
              <a:t>of the damaged tissue, or persistent injury resulting in chronic</a:t>
            </a:r>
            <a:br/>
            <a:r>
              <a:t>inﬂammation.</a:t>
            </a:r>
            <a:br/>
            <a:r>
              <a:t>Vascular Reactions in Acute Inflammation</a:t>
            </a:r>
            <a:br/>
            <a:r>
              <a:t>•</a:t>
            </a:r>
            <a:br/>
            <a:r>
              <a:t>Vasodilation is induced by chemical mediators and is the cause of</a:t>
            </a:r>
            <a:br/>
            <a:r>
              <a:t>erythema and stasis of blood ﬂow.</a:t>
            </a:r>
            <a:br/>
            <a:r>
              <a:t>•</a:t>
            </a:r>
            <a:br/>
            <a:r>
              <a:t>Increased vascular permeability is induced by histamine, kinins,</a:t>
            </a:r>
            <a:br/>
            <a:r>
              <a:t>and other mediators that produce gaps between endothelial cells,</a:t>
            </a:r>
            <a:br/>
            <a:r>
              <a:t>or by direct or leukocyte-induced endothelial injury.</a:t>
            </a:r>
            <a:br/>
            <a:r>
              <a:t>•</a:t>
            </a:r>
            <a:br/>
            <a:r>
              <a:t>Increased vascular permeability allows plasma proteins and leuko-</a:t>
            </a:r>
            <a:br/>
            <a:r>
              <a:t>cytes, the mediators of host defense, to enter sites of infection or</a:t>
            </a:r>
            <a:br/>
            <a:r>
              <a:t>tissue damage. Fluid leak from blood vessels (exudation) results</a:t>
            </a:r>
            <a:br/>
            <a:r>
              <a:t>in edema.</a:t>
            </a:r>
            <a:br/>
            <a:r>
              <a:t>•</a:t>
            </a:r>
            <a:br/>
            <a:r>
              <a:t>Lymphatic vessels and lymph nodes are also involved in inﬂamma-</a:t>
            </a:r>
            <a:br/>
            <a:r>
              <a:t>tion and often show redness (the vessels) and swelling (lymph</a:t>
            </a:r>
            <a:br/>
            <a:r>
              <a:t>nodes).</a:t>
            </a:r>
            <a:br/>
            <a:r>
              <a:t>Leukocyte Recruitment to Sites of Inflammation</a:t>
            </a:r>
            <a:br/>
            <a:r>
              <a:t>•</a:t>
            </a:r>
            <a:br/>
            <a:r>
              <a:t>Leukocytes are recruited from the blood into the extravascular tis-</a:t>
            </a:r>
            <a:br/>
            <a:r>
              <a:t>sue where infectious pathogens or damaged tissues may be located</a:t>
            </a:r>
            <a:br/>
            <a:r>
              <a:t>and are activated to perform their defensive functions.</a:t>
            </a:r>
            <a:br/>
            <a:r>
              <a:t>B</a:t>
            </a:r>
            <a:br/>
            <a:r>
              <a:t>A</a:t>
            </a:r>
            <a:br/>
            <a:r>
              <a:t>C</a:t>
            </a:r>
            <a:br/>
            <a:r>
              <a:t>FIG. 2.26 Keloid. Keloids may appear erythematous in light skin tones</a:t>
            </a:r>
            <a:br/>
            <a:r>
              <a:t>(A) or hyperpigmented in darker skin (B). (C) Microscopic appearance of</a:t>
            </a:r>
            <a:br/>
            <a:r>
              <a:t>a keloid. Note the thick connective tissue deposited in the dermis. (A</a:t>
            </a:r>
            <a:br/>
            <a:r>
              <a:t>from Zitelli BJ, Davis HW: Atlas of Pediatric Physical Diagnosis, ed 5,</a:t>
            </a:r>
            <a:br/>
            <a:r>
              <a:t>Philadelphia, 2007, Mosby; B from Eming SA, Martin P, Tomic-Canic M:</a:t>
            </a:r>
            <a:br/>
            <a:r>
              <a:t>Wound repair and regeneration: mechanisms, signaling, and translation.</a:t>
            </a:r>
            <a:br/>
            <a:r>
              <a:t>Sci Transl Med 6:265, 2014.)</a:t>
            </a:r>
            <a:br/>
            <a:r>
              <a:t>54</a:t>
            </a:r>
            <a:br/>
            <a:r>
              <a:t>CHAPTER 2 Inflammation and Repair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